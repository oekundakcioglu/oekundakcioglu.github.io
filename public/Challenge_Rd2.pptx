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0" r:id="rId2"/>
    <p:sldId id="261" r:id="rId3"/>
    <p:sldId id="262" r:id="rId4"/>
    <p:sldId id="264" r:id="rId5"/>
    <p:sldId id="259" r:id="rId6"/>
    <p:sldId id="266" r:id="rId7"/>
    <p:sldId id="267" r:id="rId8"/>
    <p:sldId id="257" r:id="rId9"/>
    <p:sldId id="265" r:id="rId10"/>
  </p:sldIdLst>
  <p:sldSz cx="24384000" cy="13716000"/>
  <p:notesSz cx="13716000" cy="24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96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3562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8745D-9A68-5343-9F5A-06D636B8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320DC-8250-983F-4DAD-CAF56D05E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8C905-014F-E576-3789-5F555D5B5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92765-0715-4211-1CAA-635DA958B6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77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CC099-A999-C4E5-A878-F45528CEE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B0A417-01CD-7B8B-DA80-9CFA0A806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C41F3-8A23-7889-99C5-C308CB17A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89A9B-41B2-18CE-E1FA-4F162C589C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67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F2B07-62A3-791E-4350-624ABE26C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343D64-0CFF-17B3-C606-BA2665F82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8C911A-28A2-87C2-0417-5412A109D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E79DE-8F07-2150-543B-3794781A5A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92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843C6-83A0-3801-8434-7579A0A86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2C023-6686-3FD1-32C5-2508572C34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0D713-B063-CD42-A241-E29CC72DA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44EC0-CF82-025E-F0CF-9C190519F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03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ogo &amp; Fotoğraflar - Sabancı Üniversitesi, EDU">
            <a:extLst>
              <a:ext uri="{FF2B5EF4-FFF2-40B4-BE49-F238E27FC236}">
                <a16:creationId xmlns:a16="http://schemas.microsoft.com/office/drawing/2014/main" id="{DC81D71B-DC33-25ED-80CF-B411DBA62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8311" y="295662"/>
            <a:ext cx="3916711" cy="168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FCE3CD-72BB-C150-35CF-C3639CC9F1CB}"/>
              </a:ext>
            </a:extLst>
          </p:cNvPr>
          <p:cNvSpPr txBox="1"/>
          <p:nvPr/>
        </p:nvSpPr>
        <p:spPr>
          <a:xfrm>
            <a:off x="1394776" y="5514589"/>
            <a:ext cx="20286663" cy="174201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lang="tr-TR" sz="11200" b="1" dirty="0" err="1">
                <a:solidFill>
                  <a:srgbClr val="004C80"/>
                </a:solidFill>
                <a:latin typeface="Arial"/>
              </a:rPr>
              <a:t>Optimization</a:t>
            </a:r>
            <a:r>
              <a:rPr lang="tr-TR" sz="11200" b="1" dirty="0">
                <a:solidFill>
                  <a:srgbClr val="004C80"/>
                </a:solidFill>
                <a:latin typeface="Arial"/>
              </a:rPr>
              <a:t> Challenge</a:t>
            </a:r>
            <a:endParaRPr sz="11200" b="1" dirty="0">
              <a:solidFill>
                <a:srgbClr val="004C8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ABB8E-A0CC-E0CD-5513-FD89AA4E5D08}"/>
              </a:ext>
            </a:extLst>
          </p:cNvPr>
          <p:cNvSpPr txBox="1"/>
          <p:nvPr/>
        </p:nvSpPr>
        <p:spPr>
          <a:xfrm>
            <a:off x="1394777" y="7453181"/>
            <a:ext cx="12306864" cy="91101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lang="tr-TR" sz="5800" b="1" dirty="0">
                <a:solidFill>
                  <a:srgbClr val="004C80"/>
                </a:solidFill>
                <a:latin typeface="Arial"/>
              </a:rPr>
              <a:t>Final </a:t>
            </a:r>
            <a:r>
              <a:rPr lang="tr-TR" sz="5800" b="1" dirty="0" err="1">
                <a:solidFill>
                  <a:srgbClr val="004C80"/>
                </a:solidFill>
                <a:latin typeface="Arial"/>
              </a:rPr>
              <a:t>Round</a:t>
            </a:r>
            <a:endParaRPr sz="5800" b="1" dirty="0">
              <a:solidFill>
                <a:srgbClr val="004C8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801FE-E684-A97A-8E02-87A9D9FCE9DF}"/>
              </a:ext>
            </a:extLst>
          </p:cNvPr>
          <p:cNvSpPr txBox="1"/>
          <p:nvPr/>
        </p:nvSpPr>
        <p:spPr>
          <a:xfrm>
            <a:off x="1394777" y="11881336"/>
            <a:ext cx="9845491" cy="54168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lang="tr-TR" sz="3400" b="1" dirty="0">
                <a:solidFill>
                  <a:srgbClr val="004C80"/>
                </a:solidFill>
                <a:latin typeface="Arial"/>
              </a:rPr>
              <a:t>May 2, 2026</a:t>
            </a:r>
            <a:endParaRPr sz="3400" b="1" dirty="0">
              <a:solidFill>
                <a:srgbClr val="004C8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0637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288F7-6C5D-3105-5312-EE97BD67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3C9DE5-6F98-20E3-883D-D406A76C0614}"/>
              </a:ext>
            </a:extLst>
          </p:cNvPr>
          <p:cNvSpPr txBox="1"/>
          <p:nvPr/>
        </p:nvSpPr>
        <p:spPr>
          <a:xfrm>
            <a:off x="1051560" y="868680"/>
            <a:ext cx="18745200" cy="9144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200" b="1" dirty="0">
                <a:solidFill>
                  <a:srgbClr val="004A7C"/>
                </a:solidFill>
                <a:latin typeface="Arial"/>
              </a:rPr>
              <a:t>What changes from Round 1?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A66B78-5342-ACEC-A584-85D1DF23F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576" y="7000240"/>
            <a:ext cx="20906847" cy="299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93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8CDB3-9013-03E0-B21F-F1D4DB4FD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D56491-7ED7-C003-366E-8541822119E7}"/>
              </a:ext>
            </a:extLst>
          </p:cNvPr>
          <p:cNvSpPr txBox="1"/>
          <p:nvPr/>
        </p:nvSpPr>
        <p:spPr>
          <a:xfrm>
            <a:off x="1051560" y="868680"/>
            <a:ext cx="18745200" cy="91440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sz="8200" b="1" dirty="0">
                <a:solidFill>
                  <a:srgbClr val="004A7C"/>
                </a:solidFill>
                <a:latin typeface="Arial"/>
              </a:rPr>
              <a:t>What changes from Round 1?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239400-F2D9-F139-D102-FF3F7C8DA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290" y="3769112"/>
            <a:ext cx="20895419" cy="617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9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CE616-40B7-55F2-3285-0DFEAEB6C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05BA933-9107-6CA1-F96C-E9366D5459BF}"/>
              </a:ext>
            </a:extLst>
          </p:cNvPr>
          <p:cNvSpPr/>
          <p:nvPr/>
        </p:nvSpPr>
        <p:spPr>
          <a:xfrm>
            <a:off x="1307592" y="786384"/>
            <a:ext cx="21971203" cy="143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>
              <a:buNone/>
            </a:pPr>
            <a:r>
              <a:rPr lang="en-US" sz="8200" b="1" dirty="0">
                <a:solidFill>
                  <a:srgbClr val="004A7C"/>
                </a:solidFill>
                <a:latin typeface="Arial"/>
              </a:rPr>
              <a:t>Probabilistic Failure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B3704-78AC-F09F-2BE7-5C2014146F73}"/>
              </a:ext>
            </a:extLst>
          </p:cNvPr>
          <p:cNvSpPr txBox="1"/>
          <p:nvPr/>
        </p:nvSpPr>
        <p:spPr>
          <a:xfrm>
            <a:off x="775252" y="2755557"/>
            <a:ext cx="11666130" cy="9368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dirty="0">
                <a:solidFill>
                  <a:srgbClr val="004C80"/>
                </a:solidFill>
              </a:rPr>
              <a:t>What the provided probability means?</a:t>
            </a:r>
          </a:p>
          <a:p>
            <a:pPr marL="571500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dirty="0" err="1">
                <a:solidFill>
                  <a:srgbClr val="004C80"/>
                </a:solidFill>
              </a:rPr>
              <a:t>failure_probability</a:t>
            </a:r>
            <a:r>
              <a:rPr lang="en-US" sz="4800" dirty="0">
                <a:solidFill>
                  <a:srgbClr val="004C80"/>
                </a:solidFill>
              </a:rPr>
              <a:t> = 0.23 </a:t>
            </a:r>
            <a:r>
              <a:rPr lang="en-US" sz="4800" dirty="0"/>
              <a:t>means there is 23% chance the machine fails by noon.</a:t>
            </a:r>
          </a:p>
          <a:p>
            <a:pPr marL="571500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dirty="0"/>
              <a:t>Time of failure is uniformly distributed for all machines. </a:t>
            </a:r>
          </a:p>
          <a:p>
            <a:pPr marL="571500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b="1" u="sng" dirty="0"/>
              <a:t>Note that, these failures cannot be repaired in the morning plan.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15CD16-9674-4983-799A-CCDD2E15891A}"/>
              </a:ext>
            </a:extLst>
          </p:cNvPr>
          <p:cNvSpPr txBox="1"/>
          <p:nvPr/>
        </p:nvSpPr>
        <p:spPr>
          <a:xfrm>
            <a:off x="12293193" y="3845863"/>
            <a:ext cx="12192000" cy="909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b="1" dirty="0"/>
              <a:t>Example: </a:t>
            </a:r>
          </a:p>
          <a:p>
            <a:pPr marL="1028700" lvl="1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dirty="0"/>
              <a:t>The machine failed at 10:00am</a:t>
            </a:r>
          </a:p>
          <a:p>
            <a:pPr marL="1028700" lvl="1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dirty="0"/>
              <a:t>You might have stopped by that location for replenishment at 11am</a:t>
            </a:r>
          </a:p>
          <a:p>
            <a:pPr marL="1028700" lvl="1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b="1" u="sng" dirty="0"/>
              <a:t>We only find out failures by mid-day and report in the mid-day snapshot</a:t>
            </a:r>
          </a:p>
          <a:p>
            <a:pPr marL="1028700" lvl="1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dirty="0"/>
              <a:t>Still need to revisit in the afternoon plan for repair</a:t>
            </a:r>
            <a:endParaRPr lang="en-TR" sz="4800" dirty="0"/>
          </a:p>
        </p:txBody>
      </p:sp>
    </p:spTree>
    <p:extLst>
      <p:ext uri="{BB962C8B-B14F-4D97-AF65-F5344CB8AC3E}">
        <p14:creationId xmlns:p14="http://schemas.microsoft.com/office/powerpoint/2010/main" val="1231282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7592" y="786384"/>
            <a:ext cx="21971203" cy="143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8200" b="1" dirty="0">
                <a:solidFill>
                  <a:srgbClr val="004A7C"/>
                </a:solidFill>
                <a:latin typeface="Arial"/>
              </a:rPr>
              <a:t>Probabilistic Failure – Update Your Inputs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C8B49A-C21C-5EF0-8846-80EE89433D42}"/>
              </a:ext>
            </a:extLst>
          </p:cNvPr>
          <p:cNvSpPr txBox="1"/>
          <p:nvPr/>
        </p:nvSpPr>
        <p:spPr>
          <a:xfrm>
            <a:off x="775252" y="2755557"/>
            <a:ext cx="11666130" cy="9368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0" dirty="0">
                <a:solidFill>
                  <a:srgbClr val="004C80"/>
                </a:solidFill>
              </a:rPr>
              <a:t>What the provided probability means?</a:t>
            </a:r>
          </a:p>
          <a:p>
            <a:pPr marL="571500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dirty="0" err="1">
                <a:solidFill>
                  <a:srgbClr val="004C80"/>
                </a:solidFill>
              </a:rPr>
              <a:t>failure_probability</a:t>
            </a:r>
            <a:r>
              <a:rPr lang="en-US" sz="4800" dirty="0">
                <a:solidFill>
                  <a:srgbClr val="004C80"/>
                </a:solidFill>
              </a:rPr>
              <a:t> = 0.23 </a:t>
            </a:r>
            <a:r>
              <a:rPr lang="en-US" sz="4800" dirty="0"/>
              <a:t>means there is 23% chance the machine fails by noon.</a:t>
            </a:r>
          </a:p>
          <a:p>
            <a:pPr marL="571500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dirty="0"/>
              <a:t>Time of failure is uniformly distributed for all machines. </a:t>
            </a:r>
          </a:p>
          <a:p>
            <a:pPr marL="571500" indent="-5715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800" b="1" u="sng" dirty="0"/>
              <a:t>Note that, these failures cannot be repaired in the morning plan.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7872EC-E953-F7C6-891B-4F5165063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1872" y="4074123"/>
            <a:ext cx="9076923" cy="6731201"/>
          </a:xfrm>
          <a:prstGeom prst="rect">
            <a:avLst/>
          </a:prstGeom>
        </p:spPr>
      </p:pic>
      <p:sp>
        <p:nvSpPr>
          <p:cNvPr id="4" name="Shape 58">
            <a:extLst>
              <a:ext uri="{FF2B5EF4-FFF2-40B4-BE49-F238E27FC236}">
                <a16:creationId xmlns:a16="http://schemas.microsoft.com/office/drawing/2014/main" id="{361D5C0C-53C9-9DF4-6DE1-EAAA705105C8}"/>
              </a:ext>
            </a:extLst>
          </p:cNvPr>
          <p:cNvSpPr/>
          <p:nvPr/>
        </p:nvSpPr>
        <p:spPr>
          <a:xfrm>
            <a:off x="14970035" y="9614263"/>
            <a:ext cx="6217920" cy="574766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E220B"/>
            </a:solidFill>
            <a:prstDash val="solid"/>
          </a:ln>
        </p:spPr>
        <p:txBody>
          <a:bodyPr/>
          <a:lstStyle/>
          <a:p>
            <a:endParaRPr lang="en-T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2CA022-957D-D8AD-DAC8-A95F88754203}"/>
              </a:ext>
            </a:extLst>
          </p:cNvPr>
          <p:cNvSpPr/>
          <p:nvPr/>
        </p:nvSpPr>
        <p:spPr>
          <a:xfrm>
            <a:off x="1307592" y="786384"/>
            <a:ext cx="21971203" cy="143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8200" b="1" dirty="0">
                <a:solidFill>
                  <a:srgbClr val="004A7C"/>
                </a:solidFill>
                <a:latin typeface="Arial"/>
              </a:rPr>
              <a:t>Round 2 – Submission I (Due Saturday 21:00)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B186E-2250-9782-E124-2C6BB7160332}"/>
              </a:ext>
            </a:extLst>
          </p:cNvPr>
          <p:cNvSpPr txBox="1"/>
          <p:nvPr/>
        </p:nvSpPr>
        <p:spPr>
          <a:xfrm>
            <a:off x="966651" y="3108961"/>
            <a:ext cx="22312144" cy="4382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lnSpc>
                <a:spcPct val="150000"/>
              </a:lnSpc>
              <a:buFont typeface="Wingdings" pitchFamily="2" charset="2"/>
              <a:buChar char="Ø"/>
            </a:pPr>
            <a:r>
              <a:rPr lang="en-TR" sz="4800" dirty="0"/>
              <a:t>We expect you to provide a morning plan for 10 instances from the scratch</a:t>
            </a:r>
          </a:p>
          <a:p>
            <a:pPr marL="1143000" lvl="1" indent="-685800">
              <a:lnSpc>
                <a:spcPct val="150000"/>
              </a:lnSpc>
              <a:buFont typeface="Wingdings" pitchFamily="2" charset="2"/>
              <a:buChar char="Ø"/>
            </a:pPr>
            <a:r>
              <a:rPr lang="en-TR" sz="4800" dirty="0"/>
              <a:t>Only include routes for replenishment for entire day </a:t>
            </a:r>
          </a:p>
          <a:p>
            <a:pPr marL="1143000" lvl="1" indent="-685800">
              <a:lnSpc>
                <a:spcPct val="150000"/>
              </a:lnSpc>
              <a:buFont typeface="Wingdings" pitchFamily="2" charset="2"/>
              <a:buChar char="Ø"/>
            </a:pPr>
            <a:r>
              <a:rPr lang="en-TR" sz="4800" dirty="0"/>
              <a:t>Similar to your input data for round 1* (do not update mid_day_time=0)</a:t>
            </a:r>
          </a:p>
          <a:p>
            <a:pPr marL="1143000" lvl="1" indent="-685800">
              <a:lnSpc>
                <a:spcPct val="150000"/>
              </a:lnSpc>
              <a:buFont typeface="Wingdings" pitchFamily="2" charset="2"/>
              <a:buChar char="Ø"/>
            </a:pPr>
            <a:endParaRPr lang="en-TR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2129B-344A-A351-0EA1-ABD7D7A9E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290" y="7113203"/>
            <a:ext cx="20895419" cy="61777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AD24BD4-583A-03C1-6100-2F3A33F55E91}"/>
              </a:ext>
            </a:extLst>
          </p:cNvPr>
          <p:cNvSpPr/>
          <p:nvPr/>
        </p:nvSpPr>
        <p:spPr>
          <a:xfrm>
            <a:off x="15518674" y="7733211"/>
            <a:ext cx="6400800" cy="23251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7531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16CB4-14E8-D16A-3D9F-9D359B42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A50153-5DE9-7210-BC19-5BE2B15B1043}"/>
              </a:ext>
            </a:extLst>
          </p:cNvPr>
          <p:cNvSpPr/>
          <p:nvPr/>
        </p:nvSpPr>
        <p:spPr>
          <a:xfrm>
            <a:off x="1307592" y="786384"/>
            <a:ext cx="21971203" cy="14328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8200" b="1" dirty="0">
                <a:solidFill>
                  <a:srgbClr val="004A7C"/>
                </a:solidFill>
                <a:latin typeface="Arial"/>
              </a:rPr>
              <a:t>Round 2 – Submission II (Due Sunday 10:00)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11C15-F27A-C6F9-EB26-0A813F6272B1}"/>
              </a:ext>
            </a:extLst>
          </p:cNvPr>
          <p:cNvSpPr txBox="1"/>
          <p:nvPr/>
        </p:nvSpPr>
        <p:spPr>
          <a:xfrm>
            <a:off x="209006" y="2365176"/>
            <a:ext cx="24174994" cy="605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lnSpc>
                <a:spcPct val="150000"/>
              </a:lnSpc>
              <a:buFont typeface="Wingdings" pitchFamily="2" charset="2"/>
              <a:buChar char="Ø"/>
            </a:pPr>
            <a:r>
              <a:rPr lang="en-TR" sz="4400" dirty="0"/>
              <a:t>We will provide you a set of scenarios aligned with the probabilities for each instance</a:t>
            </a:r>
          </a:p>
          <a:p>
            <a:pPr marL="685800" indent="-685800">
              <a:lnSpc>
                <a:spcPct val="150000"/>
              </a:lnSpc>
              <a:buFont typeface="Wingdings" pitchFamily="2" charset="2"/>
              <a:buChar char="Ø"/>
            </a:pPr>
            <a:r>
              <a:rPr lang="en-TR" sz="4400" dirty="0"/>
              <a:t>We will push mid_day_time to middle of the day and include failures</a:t>
            </a:r>
          </a:p>
          <a:p>
            <a:pPr marL="685800" indent="-685800">
              <a:lnSpc>
                <a:spcPct val="150000"/>
              </a:lnSpc>
              <a:buFont typeface="Wingdings" pitchFamily="2" charset="2"/>
              <a:buChar char="Ø"/>
            </a:pPr>
            <a:r>
              <a:rPr lang="en-TR" sz="4400" dirty="0"/>
              <a:t>We expect you to provide an afternoon plan for given inputs similar to round 1</a:t>
            </a:r>
          </a:p>
          <a:p>
            <a:pPr marL="1143000" lvl="1" indent="-685800">
              <a:lnSpc>
                <a:spcPct val="150000"/>
              </a:lnSpc>
              <a:buFont typeface="Wingdings" pitchFamily="2" charset="2"/>
              <a:buChar char="Ø"/>
            </a:pPr>
            <a:r>
              <a:rPr lang="en-TR" sz="4400" dirty="0"/>
              <a:t>You can improve your round 1 algorithms</a:t>
            </a:r>
          </a:p>
          <a:p>
            <a:pPr marL="1143000" lvl="1" indent="-685800">
              <a:lnSpc>
                <a:spcPct val="150000"/>
              </a:lnSpc>
              <a:buFont typeface="Wingdings" pitchFamily="2" charset="2"/>
              <a:buChar char="Ø"/>
            </a:pPr>
            <a:r>
              <a:rPr lang="en-TR" sz="4400" dirty="0"/>
              <a:t>Submit your final 50 afternoon plans (10 instances x 5 scenarios each)</a:t>
            </a:r>
          </a:p>
          <a:p>
            <a:pPr marL="1143000" lvl="1" indent="-685800">
              <a:lnSpc>
                <a:spcPct val="150000"/>
              </a:lnSpc>
              <a:buFont typeface="Wingdings" pitchFamily="2" charset="2"/>
              <a:buChar char="Ø"/>
            </a:pPr>
            <a:endParaRPr lang="en-TR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3F3512-C240-5254-5979-3C3F175F5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416" y="7531213"/>
            <a:ext cx="20895419" cy="61777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A02763A-099B-853C-8BC2-DD18CD99839E}"/>
              </a:ext>
            </a:extLst>
          </p:cNvPr>
          <p:cNvSpPr/>
          <p:nvPr/>
        </p:nvSpPr>
        <p:spPr>
          <a:xfrm>
            <a:off x="15492549" y="11077303"/>
            <a:ext cx="6400800" cy="232518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6910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E640A696-AFE8-0986-3F43-C9E0D5589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6121" y="4223863"/>
            <a:ext cx="8041158" cy="7612796"/>
          </a:xfrm>
          <a:prstGeom prst="rect">
            <a:avLst/>
          </a:prstGeom>
        </p:spPr>
      </p:pic>
      <p:sp>
        <p:nvSpPr>
          <p:cNvPr id="6" name="Shape 4"/>
          <p:cNvSpPr/>
          <p:nvPr/>
        </p:nvSpPr>
        <p:spPr>
          <a:xfrm>
            <a:off x="223520" y="2756002"/>
            <a:ext cx="15426595" cy="4979822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13654253" y="2803947"/>
            <a:ext cx="1585746" cy="108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0" b="1" dirty="0">
                <a:solidFill>
                  <a:srgbClr val="1E4B7C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DO</a:t>
            </a:r>
            <a:endParaRPr lang="en-US" sz="3200" b="1" dirty="0"/>
          </a:p>
        </p:txBody>
      </p:sp>
      <p:sp>
        <p:nvSpPr>
          <p:cNvPr id="8" name="Text 6"/>
          <p:cNvSpPr/>
          <p:nvPr/>
        </p:nvSpPr>
        <p:spPr>
          <a:xfrm>
            <a:off x="426721" y="3012818"/>
            <a:ext cx="14813279" cy="462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Keep the same snapshot-style JSON structure.</a:t>
            </a:r>
            <a:endParaRPr lang="en-US" sz="4000" dirty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Edit only trucks[*].route.machine_visits.</a:t>
            </a:r>
            <a:endParaRPr lang="en-US" sz="4000" dirty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Keep route timing consistent: arrival, service start, departure.</a:t>
            </a:r>
            <a:endParaRPr lang="en-US" sz="4000" dirty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Optimize/reoptimize only the editable route.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223520" y="8030261"/>
            <a:ext cx="15426595" cy="5436357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288175" y="9207869"/>
            <a:ext cx="15866225" cy="4258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Change network, machines, truck IDs, root fields, or probabilities.</a:t>
            </a:r>
            <a:endParaRPr lang="en-US" sz="4000" dirty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Schedule Repair operations in Morning Plan.</a:t>
            </a:r>
            <a:endParaRPr lang="en-US" sz="4000" dirty="0"/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Submit infeasible plans.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4000" dirty="0">
                <a:solidFill>
                  <a:srgbClr val="000000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Wait idle after any operation completion (can only wait before)</a:t>
            </a:r>
          </a:p>
        </p:txBody>
      </p:sp>
      <p:sp>
        <p:nvSpPr>
          <p:cNvPr id="60" name="Shape 58"/>
          <p:cNvSpPr/>
          <p:nvPr/>
        </p:nvSpPr>
        <p:spPr>
          <a:xfrm>
            <a:off x="18053395" y="9207869"/>
            <a:ext cx="5637878" cy="1352836"/>
          </a:xfrm>
          <a:prstGeom prst="round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EE220B"/>
            </a:solidFill>
            <a:prstDash val="solid"/>
          </a:ln>
        </p:spPr>
        <p:txBody>
          <a:bodyPr/>
          <a:lstStyle/>
          <a:p>
            <a:endParaRPr lang="en-TR" dirty="0"/>
          </a:p>
        </p:txBody>
      </p:sp>
      <p:sp>
        <p:nvSpPr>
          <p:cNvPr id="61" name="Text 59"/>
          <p:cNvSpPr/>
          <p:nvPr/>
        </p:nvSpPr>
        <p:spPr>
          <a:xfrm>
            <a:off x="21827444" y="8528542"/>
            <a:ext cx="2058314" cy="756209"/>
          </a:xfrm>
          <a:prstGeom prst="roundRect">
            <a:avLst/>
          </a:prstGeom>
          <a:solidFill>
            <a:srgbClr val="00A1FF"/>
          </a:solidFill>
          <a:ln w="25400">
            <a:solidFill>
              <a:srgbClr val="0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Editable</a:t>
            </a:r>
            <a:endParaRPr lang="en-US" sz="32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B3FEC3-EF0E-240E-3D4F-8E88300AC52E}"/>
              </a:ext>
            </a:extLst>
          </p:cNvPr>
          <p:cNvSpPr txBox="1"/>
          <p:nvPr/>
        </p:nvSpPr>
        <p:spPr>
          <a:xfrm>
            <a:off x="1051559" y="685705"/>
            <a:ext cx="20683975" cy="128035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/>
            <a:r>
              <a:rPr lang="en-US" sz="8200" b="1" dirty="0">
                <a:solidFill>
                  <a:srgbClr val="004A7C"/>
                </a:solidFill>
                <a:latin typeface="Arial"/>
              </a:rPr>
              <a:t>Formatting and input/output expectations</a:t>
            </a:r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22112A4B-813C-F0B2-D1DB-D982ADEAA310}"/>
              </a:ext>
            </a:extLst>
          </p:cNvPr>
          <p:cNvSpPr/>
          <p:nvPr/>
        </p:nvSpPr>
        <p:spPr>
          <a:xfrm>
            <a:off x="11876097" y="8239534"/>
            <a:ext cx="3363902" cy="108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0" b="1" dirty="0">
                <a:solidFill>
                  <a:srgbClr val="1E4B7C"/>
                </a:solidFill>
                <a:latin typeface="HelveticaNeue" pitchFamily="34" charset="0"/>
                <a:ea typeface="HelveticaNeue" pitchFamily="34" charset="-122"/>
                <a:cs typeface="HelveticaNeue" pitchFamily="34" charset="-120"/>
              </a:rPr>
              <a:t>DO NOT</a:t>
            </a:r>
            <a:endParaRPr lang="en-US" sz="3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687A1-003A-EB75-14C0-D9FFD6AF6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C18079F-B63C-151B-AE64-511FB53872F7}"/>
              </a:ext>
            </a:extLst>
          </p:cNvPr>
          <p:cNvSpPr/>
          <p:nvPr/>
        </p:nvSpPr>
        <p:spPr>
          <a:xfrm>
            <a:off x="6274525" y="4245428"/>
            <a:ext cx="11834949" cy="522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700" b="1" dirty="0">
                <a:solidFill>
                  <a:srgbClr val="004A7C"/>
                </a:solidFill>
                <a:latin typeface="Arial"/>
              </a:rPr>
              <a:t>Good luck!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2C8D6B-AEAF-B825-314D-CD3D5876F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9474" y="7637780"/>
            <a:ext cx="5600700" cy="549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934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lvetica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384</Words>
  <Application>Microsoft Macintosh PowerPoint</Application>
  <PresentationFormat>Custom</PresentationFormat>
  <Paragraphs>49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HelveticaNeue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component rebuild</dc:title>
  <dc:subject>Editable component rebuild</dc:subject>
  <dc:creator>OpenAI</dc:creator>
  <cp:lastModifiedBy>Erhun Kundakcıoğlu</cp:lastModifiedBy>
  <cp:revision>13</cp:revision>
  <dcterms:created xsi:type="dcterms:W3CDTF">2026-05-01T07:37:23Z</dcterms:created>
  <dcterms:modified xsi:type="dcterms:W3CDTF">2026-05-01T18:30:18Z</dcterms:modified>
</cp:coreProperties>
</file>