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04"/>
  </p:notesMasterIdLst>
  <p:sldIdLst>
    <p:sldId id="262" r:id="rId2"/>
    <p:sldId id="745" r:id="rId3"/>
    <p:sldId id="970" r:id="rId4"/>
    <p:sldId id="1662" r:id="rId5"/>
    <p:sldId id="972" r:id="rId6"/>
    <p:sldId id="1648" r:id="rId7"/>
    <p:sldId id="1649" r:id="rId8"/>
    <p:sldId id="878" r:id="rId9"/>
    <p:sldId id="1650" r:id="rId10"/>
    <p:sldId id="973" r:id="rId11"/>
    <p:sldId id="974" r:id="rId12"/>
    <p:sldId id="1663" r:id="rId13"/>
    <p:sldId id="880" r:id="rId14"/>
    <p:sldId id="881" r:id="rId15"/>
    <p:sldId id="882" r:id="rId16"/>
    <p:sldId id="883" r:id="rId17"/>
    <p:sldId id="1664" r:id="rId18"/>
    <p:sldId id="975" r:id="rId19"/>
    <p:sldId id="1651" r:id="rId20"/>
    <p:sldId id="976" r:id="rId21"/>
    <p:sldId id="977" r:id="rId22"/>
    <p:sldId id="979" r:id="rId23"/>
    <p:sldId id="980" r:id="rId24"/>
    <p:sldId id="981" r:id="rId25"/>
    <p:sldId id="978" r:id="rId26"/>
    <p:sldId id="885" r:id="rId27"/>
    <p:sldId id="984" r:id="rId28"/>
    <p:sldId id="983" r:id="rId29"/>
    <p:sldId id="985" r:id="rId30"/>
    <p:sldId id="1665" r:id="rId31"/>
    <p:sldId id="967" r:id="rId32"/>
    <p:sldId id="993" r:id="rId33"/>
    <p:sldId id="1670" r:id="rId34"/>
    <p:sldId id="1672" r:id="rId35"/>
    <p:sldId id="1671" r:id="rId36"/>
    <p:sldId id="992" r:id="rId37"/>
    <p:sldId id="994" r:id="rId38"/>
    <p:sldId id="995" r:id="rId39"/>
    <p:sldId id="996" r:id="rId40"/>
    <p:sldId id="991" r:id="rId41"/>
    <p:sldId id="990" r:id="rId42"/>
    <p:sldId id="1666" r:id="rId43"/>
    <p:sldId id="1667" r:id="rId44"/>
    <p:sldId id="988" r:id="rId45"/>
    <p:sldId id="989" r:id="rId46"/>
    <p:sldId id="997" r:id="rId47"/>
    <p:sldId id="998" r:id="rId48"/>
    <p:sldId id="999" r:id="rId49"/>
    <p:sldId id="1668" r:id="rId50"/>
    <p:sldId id="1000" r:id="rId51"/>
    <p:sldId id="1001" r:id="rId52"/>
    <p:sldId id="1002" r:id="rId53"/>
    <p:sldId id="1003" r:id="rId54"/>
    <p:sldId id="1004" r:id="rId55"/>
    <p:sldId id="1652" r:id="rId56"/>
    <p:sldId id="1653" r:id="rId57"/>
    <p:sldId id="1654" r:id="rId58"/>
    <p:sldId id="1655" r:id="rId59"/>
    <p:sldId id="925" r:id="rId60"/>
    <p:sldId id="1071" r:id="rId61"/>
    <p:sldId id="1068" r:id="rId62"/>
    <p:sldId id="1069" r:id="rId63"/>
    <p:sldId id="1070" r:id="rId64"/>
    <p:sldId id="1034" r:id="rId65"/>
    <p:sldId id="1019" r:id="rId66"/>
    <p:sldId id="1018" r:id="rId67"/>
    <p:sldId id="1656" r:id="rId68"/>
    <p:sldId id="1035" r:id="rId69"/>
    <p:sldId id="1028" r:id="rId70"/>
    <p:sldId id="1029" r:id="rId71"/>
    <p:sldId id="1030" r:id="rId72"/>
    <p:sldId id="1031" r:id="rId73"/>
    <p:sldId id="1032" r:id="rId74"/>
    <p:sldId id="1037" r:id="rId75"/>
    <p:sldId id="1060" r:id="rId76"/>
    <p:sldId id="1669" r:id="rId77"/>
    <p:sldId id="1657" r:id="rId78"/>
    <p:sldId id="1057" r:id="rId79"/>
    <p:sldId id="1058" r:id="rId80"/>
    <p:sldId id="1061" r:id="rId81"/>
    <p:sldId id="1045" r:id="rId82"/>
    <p:sldId id="1046" r:id="rId83"/>
    <p:sldId id="1047" r:id="rId84"/>
    <p:sldId id="1658" r:id="rId85"/>
    <p:sldId id="1659" r:id="rId86"/>
    <p:sldId id="1660" r:id="rId87"/>
    <p:sldId id="1036" r:id="rId88"/>
    <p:sldId id="1062" r:id="rId89"/>
    <p:sldId id="1063" r:id="rId90"/>
    <p:sldId id="944" r:id="rId91"/>
    <p:sldId id="1064" r:id="rId92"/>
    <p:sldId id="1065" r:id="rId93"/>
    <p:sldId id="1661" r:id="rId94"/>
    <p:sldId id="949" r:id="rId95"/>
    <p:sldId id="1072" r:id="rId96"/>
    <p:sldId id="1073" r:id="rId97"/>
    <p:sldId id="1074" r:id="rId98"/>
    <p:sldId id="1066" r:id="rId99"/>
    <p:sldId id="1067" r:id="rId100"/>
    <p:sldId id="1013" r:id="rId101"/>
    <p:sldId id="1014" r:id="rId102"/>
    <p:sldId id="1015" r:id="rId103"/>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02"/>
    <p:restoredTop sz="94694"/>
  </p:normalViewPr>
  <p:slideViewPr>
    <p:cSldViewPr snapToGrid="0">
      <p:cViewPr varScale="1">
        <p:scale>
          <a:sx n="110" d="100"/>
          <a:sy n="110" d="100"/>
        </p:scale>
        <p:origin x="176" y="416"/>
      </p:cViewPr>
      <p:guideLst/>
    </p:cSldViewPr>
  </p:slideViewPr>
  <p:notesTextViewPr>
    <p:cViewPr>
      <p:scale>
        <a:sx n="1" d="1"/>
        <a:sy n="1" d="1"/>
      </p:scale>
      <p:origin x="0" y="0"/>
    </p:cViewPr>
  </p:notesTextViewPr>
  <p:notesViewPr>
    <p:cSldViewPr snapToGrid="0">
      <p:cViewPr varScale="1">
        <p:scale>
          <a:sx n="97" d="100"/>
          <a:sy n="97" d="100"/>
        </p:scale>
        <p:origin x="3808"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54B795-7D58-924A-BBC0-5795E7560C7E}" type="datetimeFigureOut">
              <a:rPr lang="en-TR" smtClean="0"/>
              <a:t>22.02.2026</a:t>
            </a:fld>
            <a:endParaRPr lang="en-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23C97-4C40-1644-9086-25A7C31F551D}" type="slidenum">
              <a:rPr lang="en-TR" smtClean="0"/>
              <a:t>‹#›</a:t>
            </a:fld>
            <a:endParaRPr lang="en-TR"/>
          </a:p>
        </p:txBody>
      </p:sp>
    </p:spTree>
    <p:extLst>
      <p:ext uri="{BB962C8B-B14F-4D97-AF65-F5344CB8AC3E}">
        <p14:creationId xmlns:p14="http://schemas.microsoft.com/office/powerpoint/2010/main" val="991278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You cannot say Brown is "greater than" Blue.</a:t>
            </a:r>
            <a:endParaRPr lang="en-TR" dirty="0"/>
          </a:p>
        </p:txBody>
      </p:sp>
      <p:sp>
        <p:nvSpPr>
          <p:cNvPr id="4" name="Slide Number Placeholder 3"/>
          <p:cNvSpPr>
            <a:spLocks noGrp="1"/>
          </p:cNvSpPr>
          <p:nvPr>
            <p:ph type="sldNum" sz="quarter" idx="5"/>
          </p:nvPr>
        </p:nvSpPr>
        <p:spPr/>
        <p:txBody>
          <a:bodyPr/>
          <a:lstStyle/>
          <a:p>
            <a:fld id="{8B723C97-4C40-1644-9086-25A7C31F551D}" type="slidenum">
              <a:rPr lang="en-TR" smtClean="0"/>
              <a:t>3</a:t>
            </a:fld>
            <a:endParaRPr lang="en-TR"/>
          </a:p>
        </p:txBody>
      </p:sp>
    </p:spTree>
    <p:extLst>
      <p:ext uri="{BB962C8B-B14F-4D97-AF65-F5344CB8AC3E}">
        <p14:creationId xmlns:p14="http://schemas.microsoft.com/office/powerpoint/2010/main" val="2515770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8D085-86D0-B8F4-8E90-3F536A225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CE2BD-815A-2CCA-B20B-082460E71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49CC2-7844-B7CB-D908-993A3C155C5F}"/>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You cannot say Brown is "greater than" Blue.</a:t>
            </a:r>
            <a:endParaRPr lang="en-TR" dirty="0"/>
          </a:p>
        </p:txBody>
      </p:sp>
      <p:sp>
        <p:nvSpPr>
          <p:cNvPr id="4" name="Slide Number Placeholder 3">
            <a:extLst>
              <a:ext uri="{FF2B5EF4-FFF2-40B4-BE49-F238E27FC236}">
                <a16:creationId xmlns:a16="http://schemas.microsoft.com/office/drawing/2014/main" id="{673007C3-3930-C647-BA3F-8BE5BAE23E42}"/>
              </a:ext>
            </a:extLst>
          </p:cNvPr>
          <p:cNvSpPr>
            <a:spLocks noGrp="1"/>
          </p:cNvSpPr>
          <p:nvPr>
            <p:ph type="sldNum" sz="quarter" idx="5"/>
          </p:nvPr>
        </p:nvSpPr>
        <p:spPr/>
        <p:txBody>
          <a:bodyPr/>
          <a:lstStyle/>
          <a:p>
            <a:fld id="{8B723C97-4C40-1644-9086-25A7C31F551D}" type="slidenum">
              <a:rPr lang="en-TR" smtClean="0"/>
              <a:t>4</a:t>
            </a:fld>
            <a:endParaRPr lang="en-TR"/>
          </a:p>
        </p:txBody>
      </p:sp>
    </p:spTree>
    <p:extLst>
      <p:ext uri="{BB962C8B-B14F-4D97-AF65-F5344CB8AC3E}">
        <p14:creationId xmlns:p14="http://schemas.microsoft.com/office/powerpoint/2010/main" val="2565735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8</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933468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10</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688494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11</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2742101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0827-FE27-5B72-CADD-A0F506043C6E}"/>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70F1AC3B-CC40-9B1F-186D-52BBA6BB6BA4}"/>
              </a:ext>
            </a:extLst>
          </p:cNvPr>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12</a:t>
            </a:fld>
            <a:endParaRPr lang="en-US"/>
          </a:p>
        </p:txBody>
      </p:sp>
      <p:sp>
        <p:nvSpPr>
          <p:cNvPr id="21507" name="Rectangle 2">
            <a:extLst>
              <a:ext uri="{FF2B5EF4-FFF2-40B4-BE49-F238E27FC236}">
                <a16:creationId xmlns:a16="http://schemas.microsoft.com/office/drawing/2014/main" id="{FF740B26-CD8F-FAEC-8CF1-9D76BD832D4F}"/>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7492FC96-2306-4D50-02D1-8069A086A367}"/>
              </a:ext>
            </a:extLst>
          </p:cNvPr>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46130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13</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415086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14</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3453833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15</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383459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16</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439356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6C88C-AA99-9D95-0F91-217A2017BA88}"/>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A93DCA03-975B-35C0-282F-0E5AF16CA8D8}"/>
              </a:ext>
            </a:extLst>
          </p:cNvPr>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17</a:t>
            </a:fld>
            <a:endParaRPr lang="en-US"/>
          </a:p>
        </p:txBody>
      </p:sp>
      <p:sp>
        <p:nvSpPr>
          <p:cNvPr id="21507" name="Rectangle 2">
            <a:extLst>
              <a:ext uri="{FF2B5EF4-FFF2-40B4-BE49-F238E27FC236}">
                <a16:creationId xmlns:a16="http://schemas.microsoft.com/office/drawing/2014/main" id="{5A986C45-A40E-2B06-D00D-2E27A8E73D25}"/>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0B319C9B-E9A1-7E2E-8AA9-9347DABE1BB2}"/>
              </a:ext>
            </a:extLst>
          </p:cNvPr>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3183685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18</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4091173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19</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554930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20</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940432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21</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802162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22</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4213325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23</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815886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24</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2261577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25</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3496217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26</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925817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27</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dirty="0"/>
          </a:p>
        </p:txBody>
      </p:sp>
    </p:spTree>
    <p:extLst>
      <p:ext uri="{BB962C8B-B14F-4D97-AF65-F5344CB8AC3E}">
        <p14:creationId xmlns:p14="http://schemas.microsoft.com/office/powerpoint/2010/main" val="887971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28</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7103543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29</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21774428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4B006-1B73-75BC-5F2A-568CE6FA4DB0}"/>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8978EDD4-2CC6-FB92-9CD5-E894743AB474}"/>
              </a:ext>
            </a:extLst>
          </p:cNvPr>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30</a:t>
            </a:fld>
            <a:endParaRPr lang="en-US"/>
          </a:p>
        </p:txBody>
      </p:sp>
      <p:sp>
        <p:nvSpPr>
          <p:cNvPr id="21507" name="Rectangle 2">
            <a:extLst>
              <a:ext uri="{FF2B5EF4-FFF2-40B4-BE49-F238E27FC236}">
                <a16:creationId xmlns:a16="http://schemas.microsoft.com/office/drawing/2014/main" id="{2F23DD4A-3598-1CD2-FC50-5726A6C05947}"/>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1EC93141-DB03-3DFD-7E47-A11F9D423678}"/>
              </a:ext>
            </a:extLst>
          </p:cNvPr>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581579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31</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248265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32</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4210861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247F1-6F6E-3B1D-C34C-6A376297E07B}"/>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C577E90D-2D31-8CA8-1AE1-3AF6FBBDC4AB}"/>
              </a:ext>
            </a:extLst>
          </p:cNvPr>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33</a:t>
            </a:fld>
            <a:endParaRPr lang="en-US"/>
          </a:p>
        </p:txBody>
      </p:sp>
      <p:sp>
        <p:nvSpPr>
          <p:cNvPr id="21507" name="Rectangle 2">
            <a:extLst>
              <a:ext uri="{FF2B5EF4-FFF2-40B4-BE49-F238E27FC236}">
                <a16:creationId xmlns:a16="http://schemas.microsoft.com/office/drawing/2014/main" id="{0D2284E0-5D47-6CAE-C5F3-FB805A2572EE}"/>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6AA50A67-A591-D3A4-EB24-BE3047DF178E}"/>
              </a:ext>
            </a:extLst>
          </p:cNvPr>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29465870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01FF8-4972-8301-862D-E448275DED3F}"/>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D3B6048C-281A-EA34-19CF-B193FAECC7E8}"/>
              </a:ext>
            </a:extLst>
          </p:cNvPr>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34</a:t>
            </a:fld>
            <a:endParaRPr lang="en-US"/>
          </a:p>
        </p:txBody>
      </p:sp>
      <p:sp>
        <p:nvSpPr>
          <p:cNvPr id="21507" name="Rectangle 2">
            <a:extLst>
              <a:ext uri="{FF2B5EF4-FFF2-40B4-BE49-F238E27FC236}">
                <a16:creationId xmlns:a16="http://schemas.microsoft.com/office/drawing/2014/main" id="{2614D3F0-0720-C620-23C0-0D05065A1593}"/>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522569B8-3B06-671D-0EE7-379CDCBFF629}"/>
              </a:ext>
            </a:extLst>
          </p:cNvPr>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3249361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8D4AC-9658-ED64-96FD-E5BA6FD7D0C9}"/>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A899601B-CDBA-CDE6-E4E5-0EB00B3C33B5}"/>
              </a:ext>
            </a:extLst>
          </p:cNvPr>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35</a:t>
            </a:fld>
            <a:endParaRPr lang="en-US"/>
          </a:p>
        </p:txBody>
      </p:sp>
      <p:sp>
        <p:nvSpPr>
          <p:cNvPr id="21507" name="Rectangle 2">
            <a:extLst>
              <a:ext uri="{FF2B5EF4-FFF2-40B4-BE49-F238E27FC236}">
                <a16:creationId xmlns:a16="http://schemas.microsoft.com/office/drawing/2014/main" id="{1C852488-587E-8AD1-D01E-9A31C9B5BF6D}"/>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a:extLst>
              <a:ext uri="{FF2B5EF4-FFF2-40B4-BE49-F238E27FC236}">
                <a16:creationId xmlns:a16="http://schemas.microsoft.com/office/drawing/2014/main" id="{28F07E3B-EEF7-A801-F018-364E85490B15}"/>
              </a:ext>
            </a:extLst>
          </p:cNvPr>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846737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37</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27060727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38</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1966768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a:lstStyle/>
          <a:p>
            <a:fld id="{20D0B89E-5ADC-403F-9564-EC4E6188AFF3}" type="slidenum">
              <a:rPr lang="en-US"/>
              <a:pPr/>
              <a:t>39</a:t>
            </a:fld>
            <a:endParaRPr 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xfrm>
            <a:off x="914400" y="6273800"/>
            <a:ext cx="1236663" cy="252413"/>
          </a:xfrm>
          <a:noFill/>
        </p:spPr>
        <p:txBody>
          <a:bodyPr wrap="square" numCol="1" anchor="t" anchorCtr="0" compatLnSpc="1">
            <a:prstTxWarp prst="textNoShape">
              <a:avLst/>
            </a:prstTxWarp>
            <a:normAutofit fontScale="92500" lnSpcReduction="10000"/>
          </a:bodyPr>
          <a:lstStyle/>
          <a:p>
            <a:pPr>
              <a:spcBef>
                <a:spcPct val="0"/>
              </a:spcBef>
            </a:pPr>
            <a:endParaRPr lang="en-US"/>
          </a:p>
        </p:txBody>
      </p:sp>
    </p:spTree>
    <p:extLst>
      <p:ext uri="{BB962C8B-B14F-4D97-AF65-F5344CB8AC3E}">
        <p14:creationId xmlns:p14="http://schemas.microsoft.com/office/powerpoint/2010/main" val="8598474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fld id="{14E74F5A-92FC-497E-AA29-4EBAA400F15E}" type="slidenum">
              <a:rPr lang="zh-CN" altLang="en-US" sz="1200" b="0">
                <a:solidFill>
                  <a:schemeClr val="tx1"/>
                </a:solidFill>
                <a:latin typeface="Times New Roman" panose="02020603050405020304" pitchFamily="18" charset="0"/>
              </a:rPr>
              <a:pPr/>
              <a:t>100</a:t>
            </a:fld>
            <a:endParaRPr lang="en-US" altLang="zh-CN"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198112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0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fld id="{4ADCC4C7-A9BE-4CE7-9D46-7ED52968804B}" type="slidenum">
              <a:rPr lang="zh-CN" altLang="en-US" sz="1200" b="0">
                <a:solidFill>
                  <a:schemeClr val="tx1"/>
                </a:solidFill>
                <a:latin typeface="Times New Roman" panose="02020603050405020304" pitchFamily="18" charset="0"/>
              </a:rPr>
              <a:pPr/>
              <a:t>101</a:t>
            </a:fld>
            <a:endParaRPr lang="en-US" altLang="zh-CN"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114068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41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fld id="{F2827FB1-79F2-40E0-AFE0-AA8835730015}" type="slidenum">
              <a:rPr lang="zh-CN" altLang="en-US" sz="1200" b="0">
                <a:solidFill>
                  <a:schemeClr val="tx1"/>
                </a:solidFill>
                <a:latin typeface="Times New Roman" panose="02020603050405020304" pitchFamily="18" charset="0"/>
              </a:rPr>
              <a:pPr/>
              <a:t>102</a:t>
            </a:fld>
            <a:endParaRPr lang="en-US" altLang="zh-CN"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8499238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78A6C-7FB8-F343-34E3-A15A8732E79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73F36EB8-05DB-7E44-CC0B-D500138359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4DEC9297-C815-FB3F-B732-CACE70DAF661}"/>
              </a:ext>
            </a:extLst>
          </p:cNvPr>
          <p:cNvSpPr>
            <a:spLocks noGrp="1"/>
          </p:cNvSpPr>
          <p:nvPr>
            <p:ph type="dt" sz="half" idx="10"/>
          </p:nvPr>
        </p:nvSpPr>
        <p:spPr/>
        <p:txBody>
          <a:bodyPr/>
          <a:lstStyle/>
          <a:p>
            <a:fld id="{C128FA71-3A18-48C0-980F-4B68F7F63042}" type="datetime1">
              <a:rPr lang="en-US" smtClean="0"/>
              <a:t>2/22/26</a:t>
            </a:fld>
            <a:endParaRPr lang="en-US"/>
          </a:p>
        </p:txBody>
      </p:sp>
      <p:sp>
        <p:nvSpPr>
          <p:cNvPr id="5" name="Footer Placeholder 4">
            <a:extLst>
              <a:ext uri="{FF2B5EF4-FFF2-40B4-BE49-F238E27FC236}">
                <a16:creationId xmlns:a16="http://schemas.microsoft.com/office/drawing/2014/main" id="{E2C2B149-F343-ABC1-D497-75A95E28F0C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1DBB845F-CACA-FF22-63A1-F1876F56BF28}"/>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Picture 6" descr="An abstract genetic concept">
            <a:extLst>
              <a:ext uri="{FF2B5EF4-FFF2-40B4-BE49-F238E27FC236}">
                <a16:creationId xmlns:a16="http://schemas.microsoft.com/office/drawing/2014/main" id="{EE7549B9-48CC-81C4-7A01-293CD1962ABB}"/>
              </a:ext>
            </a:extLst>
          </p:cNvPr>
          <p:cNvPicPr>
            <a:picLocks noChangeAspect="1"/>
          </p:cNvPicPr>
          <p:nvPr userDrawn="1"/>
        </p:nvPicPr>
        <p:blipFill>
          <a:blip r:embed="rId2">
            <a:alphaModFix amt="60000"/>
          </a:blip>
          <a:srcRect t="24557" b="19193"/>
          <a:stretch>
            <a:fillRect/>
          </a:stretch>
        </p:blipFill>
        <p:spPr>
          <a:xfrm>
            <a:off x="1" y="1"/>
            <a:ext cx="12192000" cy="6857999"/>
          </a:xfrm>
          <a:prstGeom prst="rect">
            <a:avLst/>
          </a:prstGeom>
        </p:spPr>
      </p:pic>
    </p:spTree>
    <p:extLst>
      <p:ext uri="{BB962C8B-B14F-4D97-AF65-F5344CB8AC3E}">
        <p14:creationId xmlns:p14="http://schemas.microsoft.com/office/powerpoint/2010/main" val="379840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89FF3-28D4-6FEE-79A4-E473504C3B6E}"/>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endParaRPr lang="en-TR" dirty="0"/>
          </a:p>
        </p:txBody>
      </p:sp>
      <p:sp>
        <p:nvSpPr>
          <p:cNvPr id="3" name="Content Placeholder 2">
            <a:extLst>
              <a:ext uri="{FF2B5EF4-FFF2-40B4-BE49-F238E27FC236}">
                <a16:creationId xmlns:a16="http://schemas.microsoft.com/office/drawing/2014/main" id="{A39D7446-DA83-318E-90DC-971D5694669C}"/>
              </a:ext>
            </a:extLst>
          </p:cNvPr>
          <p:cNvSpPr>
            <a:spLocks noGrp="1"/>
          </p:cNvSpPr>
          <p:nvPr>
            <p:ph idx="1"/>
          </p:nvPr>
        </p:nvSpPr>
        <p:spPr/>
        <p:txBody>
          <a:bodyPr/>
          <a:lstStyle>
            <a:lvl1pPr>
              <a:defRPr baseline="0">
                <a:solidFill>
                  <a:schemeClr val="tx1"/>
                </a:solidFill>
              </a:defRPr>
            </a:lvl1pPr>
            <a:lvl2pPr>
              <a:defRPr baseline="0">
                <a:solidFill>
                  <a:schemeClr val="tx1"/>
                </a:solidFill>
              </a:defRPr>
            </a:lvl2pPr>
            <a:lvl3pPr>
              <a:defRPr baseline="0">
                <a:solidFill>
                  <a:schemeClr val="tx1"/>
                </a:solidFill>
              </a:defRPr>
            </a:lvl3pPr>
            <a:lvl4pPr>
              <a:defRPr baseline="0">
                <a:solidFill>
                  <a:schemeClr val="tx1"/>
                </a:solidFill>
              </a:defRPr>
            </a:lvl4pPr>
            <a:lvl5pPr>
              <a:defRPr baseline="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TR" dirty="0"/>
          </a:p>
        </p:txBody>
      </p:sp>
      <p:sp>
        <p:nvSpPr>
          <p:cNvPr id="4" name="Date Placeholder 3">
            <a:extLst>
              <a:ext uri="{FF2B5EF4-FFF2-40B4-BE49-F238E27FC236}">
                <a16:creationId xmlns:a16="http://schemas.microsoft.com/office/drawing/2014/main" id="{46299D36-260B-1C15-3A0C-597249D28ACB}"/>
              </a:ext>
            </a:extLst>
          </p:cNvPr>
          <p:cNvSpPr>
            <a:spLocks noGrp="1"/>
          </p:cNvSpPr>
          <p:nvPr>
            <p:ph type="dt" sz="half" idx="10"/>
          </p:nvPr>
        </p:nvSpPr>
        <p:spPr/>
        <p:txBody>
          <a:bodyPr/>
          <a:lstStyle/>
          <a:p>
            <a:fld id="{51C1210E-201E-4473-82AC-2466F5386C38}" type="datetime1">
              <a:rPr lang="en-US" smtClean="0"/>
              <a:t>2/22/26</a:t>
            </a:fld>
            <a:endParaRPr lang="en-US"/>
          </a:p>
        </p:txBody>
      </p:sp>
      <p:sp>
        <p:nvSpPr>
          <p:cNvPr id="5" name="Footer Placeholder 4">
            <a:extLst>
              <a:ext uri="{FF2B5EF4-FFF2-40B4-BE49-F238E27FC236}">
                <a16:creationId xmlns:a16="http://schemas.microsoft.com/office/drawing/2014/main" id="{0C10611A-2117-1874-CDCE-FC3C54358439}"/>
              </a:ext>
            </a:extLst>
          </p:cNvPr>
          <p:cNvSpPr>
            <a:spLocks noGrp="1"/>
          </p:cNvSpPr>
          <p:nvPr>
            <p:ph type="ftr" sz="quarter" idx="11"/>
          </p:nvPr>
        </p:nvSpPr>
        <p:spPr>
          <a:xfrm>
            <a:off x="4038600" y="6356350"/>
            <a:ext cx="4114800" cy="365125"/>
          </a:xfrm>
          <a:prstGeom prst="rect">
            <a:avLst/>
          </a:prstGeom>
        </p:spPr>
        <p:txBody>
          <a:bodyPr/>
          <a:lstStyle/>
          <a:p>
            <a:r>
              <a:rPr lang="en-US" dirty="0"/>
              <a:t>IE451</a:t>
            </a:r>
          </a:p>
        </p:txBody>
      </p:sp>
      <p:sp>
        <p:nvSpPr>
          <p:cNvPr id="6" name="Slide Number Placeholder 5">
            <a:extLst>
              <a:ext uri="{FF2B5EF4-FFF2-40B4-BE49-F238E27FC236}">
                <a16:creationId xmlns:a16="http://schemas.microsoft.com/office/drawing/2014/main" id="{BB0FEEA9-CDFB-C059-EB6A-3BDF5B7C310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1491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64F1-79E4-F9BD-A879-6F08D2B2B3A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319EDB6B-C2FF-ECA6-CDA3-58C399448C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123731-223B-12D5-39FA-DA1CBA710AC5}"/>
              </a:ext>
            </a:extLst>
          </p:cNvPr>
          <p:cNvSpPr>
            <a:spLocks noGrp="1"/>
          </p:cNvSpPr>
          <p:nvPr>
            <p:ph type="dt" sz="half" idx="10"/>
          </p:nvPr>
        </p:nvSpPr>
        <p:spPr/>
        <p:txBody>
          <a:bodyPr/>
          <a:lstStyle/>
          <a:p>
            <a:fld id="{B01EA198-6CAB-4B8F-B93F-1F9C8C4B6CE7}" type="datetime1">
              <a:rPr lang="en-US" smtClean="0"/>
              <a:t>2/22/26</a:t>
            </a:fld>
            <a:endParaRPr lang="en-US"/>
          </a:p>
        </p:txBody>
      </p:sp>
      <p:sp>
        <p:nvSpPr>
          <p:cNvPr id="5" name="Footer Placeholder 4">
            <a:extLst>
              <a:ext uri="{FF2B5EF4-FFF2-40B4-BE49-F238E27FC236}">
                <a16:creationId xmlns:a16="http://schemas.microsoft.com/office/drawing/2014/main" id="{A20B345A-446B-C262-F271-437AB4AB54C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FB1B79E-C143-C271-2459-DEA34C09F95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Picture 6" descr="An abstract genetic concept">
            <a:extLst>
              <a:ext uri="{FF2B5EF4-FFF2-40B4-BE49-F238E27FC236}">
                <a16:creationId xmlns:a16="http://schemas.microsoft.com/office/drawing/2014/main" id="{D36A5777-ABB7-24FB-38E9-D2EFC4DE45FE}"/>
              </a:ext>
            </a:extLst>
          </p:cNvPr>
          <p:cNvPicPr>
            <a:picLocks noChangeAspect="1"/>
          </p:cNvPicPr>
          <p:nvPr userDrawn="1"/>
        </p:nvPicPr>
        <p:blipFill>
          <a:blip r:embed="rId2">
            <a:alphaModFix amt="60000"/>
          </a:blip>
          <a:srcRect t="24557" b="19193"/>
          <a:stretch>
            <a:fillRect/>
          </a:stretch>
        </p:blipFill>
        <p:spPr>
          <a:xfrm>
            <a:off x="1" y="1"/>
            <a:ext cx="12192000" cy="6857999"/>
          </a:xfrm>
          <a:prstGeom prst="rect">
            <a:avLst/>
          </a:prstGeom>
        </p:spPr>
      </p:pic>
    </p:spTree>
    <p:extLst>
      <p:ext uri="{BB962C8B-B14F-4D97-AF65-F5344CB8AC3E}">
        <p14:creationId xmlns:p14="http://schemas.microsoft.com/office/powerpoint/2010/main" val="49782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9F718-A260-7959-F2B4-60F74AEAE7E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BE2EE62E-9723-05EE-AE60-27F9F8FF9B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90D70EFA-6FC0-197E-6991-6AA3AD1CA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AB361449-7739-94F7-2F52-4F2A20ECE496}"/>
              </a:ext>
            </a:extLst>
          </p:cNvPr>
          <p:cNvSpPr>
            <a:spLocks noGrp="1"/>
          </p:cNvSpPr>
          <p:nvPr>
            <p:ph type="dt" sz="half" idx="10"/>
          </p:nvPr>
        </p:nvSpPr>
        <p:spPr/>
        <p:txBody>
          <a:bodyPr/>
          <a:lstStyle/>
          <a:p>
            <a:fld id="{CA06041F-4525-44D5-AA4F-332294BF1F56}" type="datetime1">
              <a:rPr lang="en-US" smtClean="0"/>
              <a:t>2/22/26</a:t>
            </a:fld>
            <a:endParaRPr lang="en-US"/>
          </a:p>
        </p:txBody>
      </p:sp>
      <p:sp>
        <p:nvSpPr>
          <p:cNvPr id="6" name="Footer Placeholder 5">
            <a:extLst>
              <a:ext uri="{FF2B5EF4-FFF2-40B4-BE49-F238E27FC236}">
                <a16:creationId xmlns:a16="http://schemas.microsoft.com/office/drawing/2014/main" id="{E08570F9-4ACC-AC38-F8FC-BD82BFAE50E9}"/>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80D5384C-B7AE-38F4-F61E-38BFE0A296F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2401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F31E6-12E6-24CF-E6B9-E125C5D91AE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810A036B-7512-A462-613F-8D793168D2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34AFE5-EDD6-3C07-E5E3-88091577AD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90E89D92-EBB4-6257-E37D-260A3874F5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2D2362-33E7-3DC3-4B72-67161C78F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ADDE3738-79D1-2DA5-AE08-2459C6A66FCD}"/>
              </a:ext>
            </a:extLst>
          </p:cNvPr>
          <p:cNvSpPr>
            <a:spLocks noGrp="1"/>
          </p:cNvSpPr>
          <p:nvPr>
            <p:ph type="dt" sz="half" idx="10"/>
          </p:nvPr>
        </p:nvSpPr>
        <p:spPr/>
        <p:txBody>
          <a:bodyPr/>
          <a:lstStyle/>
          <a:p>
            <a:fld id="{F9557091-BBDF-4EB9-BA6B-2BB67AC4FC0F}" type="datetime1">
              <a:rPr lang="en-US" smtClean="0"/>
              <a:t>2/22/26</a:t>
            </a:fld>
            <a:endParaRPr lang="en-US"/>
          </a:p>
        </p:txBody>
      </p:sp>
      <p:sp>
        <p:nvSpPr>
          <p:cNvPr id="8" name="Footer Placeholder 7">
            <a:extLst>
              <a:ext uri="{FF2B5EF4-FFF2-40B4-BE49-F238E27FC236}">
                <a16:creationId xmlns:a16="http://schemas.microsoft.com/office/drawing/2014/main" id="{D6BB2E3F-C0D9-0722-70AC-A2E5E7AA2C5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4E3C1AC6-7776-9E36-9C62-70E99F83FE9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2171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4E7A0-CA4E-2DBB-A691-BDCC1835F27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E332C9C7-5ED1-F6A0-3410-9A25A1B2D142}"/>
              </a:ext>
            </a:extLst>
          </p:cNvPr>
          <p:cNvSpPr>
            <a:spLocks noGrp="1"/>
          </p:cNvSpPr>
          <p:nvPr>
            <p:ph type="dt" sz="half" idx="10"/>
          </p:nvPr>
        </p:nvSpPr>
        <p:spPr/>
        <p:txBody>
          <a:bodyPr/>
          <a:lstStyle/>
          <a:p>
            <a:fld id="{2D6B226B-77A6-410C-9796-083F278E0125}" type="datetime1">
              <a:rPr lang="en-US" smtClean="0"/>
              <a:t>2/22/26</a:t>
            </a:fld>
            <a:endParaRPr lang="en-US"/>
          </a:p>
        </p:txBody>
      </p:sp>
      <p:sp>
        <p:nvSpPr>
          <p:cNvPr id="4" name="Footer Placeholder 3">
            <a:extLst>
              <a:ext uri="{FF2B5EF4-FFF2-40B4-BE49-F238E27FC236}">
                <a16:creationId xmlns:a16="http://schemas.microsoft.com/office/drawing/2014/main" id="{92B3C896-FD63-9E2F-0F76-8508298A9CC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5255D793-D3FC-0EA0-39B4-549E8124AC4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19593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F2FE01-141D-8192-8FDF-42D57A89874E}"/>
              </a:ext>
            </a:extLst>
          </p:cNvPr>
          <p:cNvSpPr>
            <a:spLocks noGrp="1"/>
          </p:cNvSpPr>
          <p:nvPr>
            <p:ph type="dt" sz="half" idx="10"/>
          </p:nvPr>
        </p:nvSpPr>
        <p:spPr/>
        <p:txBody>
          <a:bodyPr/>
          <a:lstStyle/>
          <a:p>
            <a:fld id="{A23A578B-D289-4C40-8593-3D356C49DA58}" type="datetime1">
              <a:rPr lang="en-US" smtClean="0"/>
              <a:t>2/22/26</a:t>
            </a:fld>
            <a:endParaRPr lang="en-US"/>
          </a:p>
        </p:txBody>
      </p:sp>
      <p:sp>
        <p:nvSpPr>
          <p:cNvPr id="3" name="Footer Placeholder 2">
            <a:extLst>
              <a:ext uri="{FF2B5EF4-FFF2-40B4-BE49-F238E27FC236}">
                <a16:creationId xmlns:a16="http://schemas.microsoft.com/office/drawing/2014/main" id="{B86BFC7C-D758-358D-F185-DF77BCD7D91D}"/>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F1EBCDA-08A9-97B0-27E1-270D2F020B6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286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BD3E5-3E44-D3D0-3CD1-EF0BA5C95BE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237C2DFB-DCA0-53C0-4B7F-9A9FE5DB95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B0425DAA-CF69-A6C8-53A6-E43763730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AD22EF-77AD-A82E-B8BD-B2609DA2DAFA}"/>
              </a:ext>
            </a:extLst>
          </p:cNvPr>
          <p:cNvSpPr>
            <a:spLocks noGrp="1"/>
          </p:cNvSpPr>
          <p:nvPr>
            <p:ph type="dt" sz="half" idx="10"/>
          </p:nvPr>
        </p:nvSpPr>
        <p:spPr/>
        <p:txBody>
          <a:bodyPr/>
          <a:lstStyle/>
          <a:p>
            <a:fld id="{713DFAE3-14DB-48A7-A80F-80DDB072CE3D}" type="datetime1">
              <a:rPr lang="en-US" smtClean="0"/>
              <a:t>2/22/26</a:t>
            </a:fld>
            <a:endParaRPr lang="en-US"/>
          </a:p>
        </p:txBody>
      </p:sp>
      <p:sp>
        <p:nvSpPr>
          <p:cNvPr id="6" name="Footer Placeholder 5">
            <a:extLst>
              <a:ext uri="{FF2B5EF4-FFF2-40B4-BE49-F238E27FC236}">
                <a16:creationId xmlns:a16="http://schemas.microsoft.com/office/drawing/2014/main" id="{469BDB94-B3E9-280F-4B79-70E1A9DA2A5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D887B8C-2569-980D-1206-DC2B68FBC5E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1004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D4B5-3D61-0CEF-C7B9-8941CE976BD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75AE718E-5FF4-D5D1-8F94-FDB2224EEF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FB59AE74-A624-98F1-4FA6-B195AC593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CF003F-D2BC-C613-7809-65AEBB5AECE5}"/>
              </a:ext>
            </a:extLst>
          </p:cNvPr>
          <p:cNvSpPr>
            <a:spLocks noGrp="1"/>
          </p:cNvSpPr>
          <p:nvPr>
            <p:ph type="dt" sz="half" idx="10"/>
          </p:nvPr>
        </p:nvSpPr>
        <p:spPr/>
        <p:txBody>
          <a:bodyPr/>
          <a:lstStyle/>
          <a:p>
            <a:fld id="{92C5EAEF-6478-4102-8F5D-A5FE9FC97ACB}" type="datetime1">
              <a:rPr lang="en-US" smtClean="0"/>
              <a:t>2/22/26</a:t>
            </a:fld>
            <a:endParaRPr lang="en-US"/>
          </a:p>
        </p:txBody>
      </p:sp>
      <p:sp>
        <p:nvSpPr>
          <p:cNvPr id="6" name="Footer Placeholder 5">
            <a:extLst>
              <a:ext uri="{FF2B5EF4-FFF2-40B4-BE49-F238E27FC236}">
                <a16:creationId xmlns:a16="http://schemas.microsoft.com/office/drawing/2014/main" id="{8633B29D-656D-A336-063E-9EAFA0E040C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2A6960EB-F70E-D1BE-3A52-458EB6D87B8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754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3D4D-AF62-135B-903A-9B0BAD9BEF8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873A31EE-E275-0E5A-068D-072872C522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CEE21619-8338-489C-F229-C954935C27BD}"/>
              </a:ext>
            </a:extLst>
          </p:cNvPr>
          <p:cNvSpPr>
            <a:spLocks noGrp="1"/>
          </p:cNvSpPr>
          <p:nvPr>
            <p:ph type="dt" sz="half" idx="10"/>
          </p:nvPr>
        </p:nvSpPr>
        <p:spPr/>
        <p:txBody>
          <a:bodyPr/>
          <a:lstStyle/>
          <a:p>
            <a:fld id="{7104EDB3-C0E8-45F8-9E1D-1B6C8D1880C0}" type="datetime1">
              <a:rPr lang="en-US" smtClean="0"/>
              <a:t>2/22/26</a:t>
            </a:fld>
            <a:endParaRPr lang="en-US"/>
          </a:p>
        </p:txBody>
      </p:sp>
      <p:sp>
        <p:nvSpPr>
          <p:cNvPr id="5" name="Footer Placeholder 4">
            <a:extLst>
              <a:ext uri="{FF2B5EF4-FFF2-40B4-BE49-F238E27FC236}">
                <a16:creationId xmlns:a16="http://schemas.microsoft.com/office/drawing/2014/main" id="{F2991926-098D-F6D3-3BB1-05A870ED3CF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C6207445-029E-C6CC-05CA-F548B799CFD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0724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F12242-5F7E-89A1-0EB3-9841011840EC}"/>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CE34153E-E7B6-EA49-E29C-9DF070E60E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1F69E6C2-4053-48AD-9790-8B06D8D40B67}"/>
              </a:ext>
            </a:extLst>
          </p:cNvPr>
          <p:cNvSpPr>
            <a:spLocks noGrp="1"/>
          </p:cNvSpPr>
          <p:nvPr>
            <p:ph type="dt" sz="half" idx="10"/>
          </p:nvPr>
        </p:nvSpPr>
        <p:spPr/>
        <p:txBody>
          <a:bodyPr/>
          <a:lstStyle/>
          <a:p>
            <a:fld id="{9CF0EC4B-54ED-4041-B552-9BA760FA3DBA}" type="datetime1">
              <a:rPr lang="en-US" smtClean="0"/>
              <a:t>2/22/26</a:t>
            </a:fld>
            <a:endParaRPr lang="en-US"/>
          </a:p>
        </p:txBody>
      </p:sp>
      <p:sp>
        <p:nvSpPr>
          <p:cNvPr id="5" name="Footer Placeholder 4">
            <a:extLst>
              <a:ext uri="{FF2B5EF4-FFF2-40B4-BE49-F238E27FC236}">
                <a16:creationId xmlns:a16="http://schemas.microsoft.com/office/drawing/2014/main" id="{D7D2FBC9-3B36-F29C-CD8A-F0E51449ACF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132F924-982D-E409-1506-67B10A6706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13163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633247" y="1293094"/>
            <a:ext cx="10918365" cy="4830616"/>
          </a:xfrm>
          <a:prstGeom prst="rect">
            <a:avLst/>
          </a:prstGeom>
        </p:spPr>
        <p:txBody>
          <a:bodyPr/>
          <a:lstStyle>
            <a:lvl1pPr>
              <a:lnSpc>
                <a:spcPct val="90000"/>
              </a:lnSpc>
              <a:spcBef>
                <a:spcPts val="1200"/>
              </a:spcBef>
              <a:spcAft>
                <a:spcPts val="0"/>
              </a:spcAft>
              <a:defRPr/>
            </a:lvl1pPr>
            <a:lvl2pPr marL="539750" indent="-255588">
              <a:lnSpc>
                <a:spcPct val="90000"/>
              </a:lnSpc>
              <a:spcBef>
                <a:spcPts val="600"/>
              </a:spcBef>
              <a:spcAft>
                <a:spcPts val="0"/>
              </a:spcAft>
              <a:defRPr sz="1800"/>
            </a:lvl2pPr>
            <a:lvl3pPr marL="757238" indent="-184150">
              <a:lnSpc>
                <a:spcPct val="90000"/>
              </a:lnSpc>
              <a:spcBef>
                <a:spcPts val="600"/>
              </a:spcBef>
              <a:spcAft>
                <a:spcPts val="0"/>
              </a:spcAft>
              <a:buSzPct val="90000"/>
              <a:buFont typeface="Arial" pitchFamily="34" charset="0"/>
              <a:buChar char="•"/>
              <a:defRPr/>
            </a:lvl3pPr>
            <a:lvl4pPr marL="1033272" indent="0">
              <a:lnSpc>
                <a:spcPct val="90000"/>
              </a:lnSpc>
              <a:spcBef>
                <a:spcPts val="600"/>
              </a:spcBef>
              <a:spcAft>
                <a:spcPts val="0"/>
              </a:spcAft>
              <a:buFontTx/>
              <a:buNone/>
              <a:defRPr/>
            </a:lvl4pPr>
            <a:lvl5pPr marL="1261872" indent="0">
              <a:lnSpc>
                <a:spcPct val="90000"/>
              </a:lnSpc>
              <a:spcBef>
                <a:spcPts val="600"/>
              </a:spcBef>
              <a:spcAft>
                <a:spcPts val="0"/>
              </a:spcAft>
              <a:buSzPct val="85000"/>
              <a:buFontTx/>
              <a:buNone/>
              <a:defRPr sz="1200"/>
            </a:lvl5pPr>
            <a:lvl6pPr>
              <a:buFont typeface="Arial" pitchFamily="34" charset="0"/>
              <a:buChar cha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48713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4165600" y="6248400"/>
            <a:ext cx="3860800" cy="457200"/>
          </a:xfrm>
        </p:spPr>
        <p:txBody>
          <a:bodyPr/>
          <a:lstStyle>
            <a:lvl1pPr>
              <a:defRPr/>
            </a:lvl1pPr>
          </a:lstStyle>
          <a:p>
            <a:r>
              <a:rPr lang="en-US"/>
              <a:t>20th European Conference on Operational Research, July 4-7, 2004</a:t>
            </a:r>
          </a:p>
        </p:txBody>
      </p:sp>
      <p:sp>
        <p:nvSpPr>
          <p:cNvPr id="6" name="Slide Number Placeholder 5"/>
          <p:cNvSpPr>
            <a:spLocks noGrp="1"/>
          </p:cNvSpPr>
          <p:nvPr>
            <p:ph type="sldNum" sz="quarter" idx="11"/>
          </p:nvPr>
        </p:nvSpPr>
        <p:spPr>
          <a:xfrm>
            <a:off x="8737600" y="6248400"/>
            <a:ext cx="2844800" cy="457200"/>
          </a:xfrm>
        </p:spPr>
        <p:txBody>
          <a:bodyPr/>
          <a:lstStyle>
            <a:lvl1pPr>
              <a:defRPr/>
            </a:lvl1pPr>
          </a:lstStyle>
          <a:p>
            <a:fld id="{4613D1C1-4B67-46A9-8A67-DC3F406C0EA0}" type="slidenum">
              <a:rPr lang="en-US"/>
              <a:pPr/>
              <a:t>‹#›</a:t>
            </a:fld>
            <a:endParaRPr lang="en-US"/>
          </a:p>
        </p:txBody>
      </p:sp>
    </p:spTree>
    <p:extLst>
      <p:ext uri="{BB962C8B-B14F-4D97-AF65-F5344CB8AC3E}">
        <p14:creationId xmlns:p14="http://schemas.microsoft.com/office/powerpoint/2010/main" val="67307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70829D3-1E35-41C4-8A3E-EA41D6A46E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39A0F0CC-E2F8-2573-FF73-68EFCD802E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F45AC6-C491-4585-A584-9CE2AF7D5500}" type="datetime1">
              <a:rPr lang="en-US" smtClean="0"/>
              <a:t>2/22/26</a:t>
            </a:fld>
            <a:endParaRPr lang="en-US"/>
          </a:p>
        </p:txBody>
      </p:sp>
      <p:sp>
        <p:nvSpPr>
          <p:cNvPr id="6" name="Slide Number Placeholder 5">
            <a:extLst>
              <a:ext uri="{FF2B5EF4-FFF2-40B4-BE49-F238E27FC236}">
                <a16:creationId xmlns:a16="http://schemas.microsoft.com/office/drawing/2014/main" id="{A93E740E-3FE0-76AE-8A91-E7D9F20340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t>‹#›</a:t>
            </a:fld>
            <a:endParaRPr lang="en-US"/>
          </a:p>
        </p:txBody>
      </p:sp>
      <p:sp>
        <p:nvSpPr>
          <p:cNvPr id="7" name="Title Placeholder 6">
            <a:extLst>
              <a:ext uri="{FF2B5EF4-FFF2-40B4-BE49-F238E27FC236}">
                <a16:creationId xmlns:a16="http://schemas.microsoft.com/office/drawing/2014/main" id="{E11C9E8F-B0AE-833D-9A63-FFD68F463F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8" name="Footer Placeholder 7">
            <a:extLst>
              <a:ext uri="{FF2B5EF4-FFF2-40B4-BE49-F238E27FC236}">
                <a16:creationId xmlns:a16="http://schemas.microsoft.com/office/drawing/2014/main" id="{E925B5B9-570D-C1D7-26F4-9446AA3A79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R" dirty="0"/>
          </a:p>
        </p:txBody>
      </p:sp>
    </p:spTree>
    <p:extLst>
      <p:ext uri="{BB962C8B-B14F-4D97-AF65-F5344CB8AC3E}">
        <p14:creationId xmlns:p14="http://schemas.microsoft.com/office/powerpoint/2010/main" val="18045442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7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3.wmf"/><Relationship Id="rId4" Type="http://schemas.openxmlformats.org/officeDocument/2006/relationships/oleObject" Target="../embeddings/oleObject4.bin"/></Relationships>
</file>

<file path=ppt/slides/_rels/slide8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NULL"/><Relationship Id="rId4" Type="http://schemas.openxmlformats.org/officeDocument/2006/relationships/image" Target="../media/image11.wmf"/></Relationships>
</file>

<file path=ppt/slides/_rels/slide8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9.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0.bin"/><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9D81-EBF7-FA6D-63E0-DB1193CD5D0B}"/>
              </a:ext>
            </a:extLst>
          </p:cNvPr>
          <p:cNvSpPr>
            <a:spLocks noGrp="1"/>
          </p:cNvSpPr>
          <p:nvPr>
            <p:ph type="title"/>
          </p:nvPr>
        </p:nvSpPr>
        <p:spPr/>
        <p:txBody>
          <a:bodyPr>
            <a:normAutofit/>
          </a:bodyPr>
          <a:lstStyle/>
          <a:p>
            <a:r>
              <a:rPr lang="en-US" sz="5400" dirty="0"/>
              <a:t>IE451 </a:t>
            </a:r>
            <a:br>
              <a:rPr lang="en-US" sz="5400" dirty="0"/>
            </a:br>
            <a:r>
              <a:rPr lang="en-US" sz="5400" dirty="0"/>
              <a:t>Data Analytics and Optimization</a:t>
            </a:r>
            <a:endParaRPr lang="en-TR" sz="5400" dirty="0"/>
          </a:p>
        </p:txBody>
      </p:sp>
      <p:sp>
        <p:nvSpPr>
          <p:cNvPr id="3" name="Text Placeholder 2">
            <a:extLst>
              <a:ext uri="{FF2B5EF4-FFF2-40B4-BE49-F238E27FC236}">
                <a16:creationId xmlns:a16="http://schemas.microsoft.com/office/drawing/2014/main" id="{A4C8FED5-81E1-3DE1-44D8-AFE546AA30A9}"/>
              </a:ext>
            </a:extLst>
          </p:cNvPr>
          <p:cNvSpPr>
            <a:spLocks noGrp="1"/>
          </p:cNvSpPr>
          <p:nvPr>
            <p:ph type="body" idx="1"/>
          </p:nvPr>
        </p:nvSpPr>
        <p:spPr/>
        <p:txBody>
          <a:bodyPr/>
          <a:lstStyle/>
          <a:p>
            <a:r>
              <a:rPr lang="en-TR" dirty="0"/>
              <a:t>Validation &amp; Classification I</a:t>
            </a:r>
          </a:p>
        </p:txBody>
      </p:sp>
    </p:spTree>
    <p:extLst>
      <p:ext uri="{BB962C8B-B14F-4D97-AF65-F5344CB8AC3E}">
        <p14:creationId xmlns:p14="http://schemas.microsoft.com/office/powerpoint/2010/main" val="280369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normAutofit/>
          </a:bodyPr>
          <a:lstStyle/>
          <a:p>
            <a:r>
              <a:rPr lang="en-US" b="1" dirty="0"/>
              <a:t>This week…</a:t>
            </a:r>
          </a:p>
        </p:txBody>
      </p:sp>
      <p:sp>
        <p:nvSpPr>
          <p:cNvPr id="217091" name="Rectangle 3"/>
          <p:cNvSpPr>
            <a:spLocks noGrp="1" noChangeArrowheads="1"/>
          </p:cNvSpPr>
          <p:nvPr>
            <p:ph type="body" sz="half" idx="1"/>
          </p:nvPr>
        </p:nvSpPr>
        <p:spPr>
          <a:xfrm>
            <a:off x="609599" y="1603613"/>
            <a:ext cx="7360693" cy="4759325"/>
          </a:xfrm>
        </p:spPr>
        <p:txBody>
          <a:bodyPr>
            <a:normAutofit/>
          </a:bodyPr>
          <a:lstStyle/>
          <a:p>
            <a:pPr>
              <a:lnSpc>
                <a:spcPct val="120000"/>
              </a:lnSpc>
              <a:spcBef>
                <a:spcPts val="600"/>
              </a:spcBef>
            </a:pPr>
            <a:r>
              <a:rPr lang="en-US" sz="2400" dirty="0">
                <a:latin typeface="Arial" panose="020B0604020202020204" pitchFamily="34" charset="0"/>
                <a:cs typeface="Arial" panose="020B0604020202020204" pitchFamily="34" charset="0"/>
              </a:rPr>
              <a:t>Validation of Classifiers</a:t>
            </a:r>
          </a:p>
          <a:p>
            <a:pPr lvl="1">
              <a:lnSpc>
                <a:spcPct val="120000"/>
              </a:lnSpc>
              <a:spcBef>
                <a:spcPts val="600"/>
              </a:spcBef>
            </a:pPr>
            <a:r>
              <a:rPr lang="en-US" dirty="0">
                <a:latin typeface="Arial" panose="020B0604020202020204" pitchFamily="34" charset="0"/>
                <a:cs typeface="Arial" panose="020B0604020202020204" pitchFamily="34" charset="0"/>
              </a:rPr>
              <a:t>Metrics for classifier evaluation</a:t>
            </a:r>
          </a:p>
          <a:p>
            <a:pPr lvl="1">
              <a:lnSpc>
                <a:spcPct val="120000"/>
              </a:lnSpc>
              <a:spcBef>
                <a:spcPts val="600"/>
              </a:spcBef>
            </a:pPr>
            <a:r>
              <a:rPr lang="en-US" dirty="0">
                <a:latin typeface="Arial" panose="020B0604020202020204" pitchFamily="34" charset="0"/>
                <a:cs typeface="Arial" panose="020B0604020202020204" pitchFamily="34" charset="0"/>
              </a:rPr>
              <a:t>Costs in data mining</a:t>
            </a:r>
            <a:endParaRPr lang="tr-TR" dirty="0">
              <a:latin typeface="Arial" panose="020B0604020202020204" pitchFamily="34" charset="0"/>
              <a:cs typeface="Arial" panose="020B0604020202020204" pitchFamily="34" charset="0"/>
            </a:endParaRPr>
          </a:p>
          <a:p>
            <a:pPr lvl="1">
              <a:lnSpc>
                <a:spcPct val="120000"/>
              </a:lnSpc>
              <a:spcBef>
                <a:spcPts val="600"/>
              </a:spcBef>
            </a:pPr>
            <a:r>
              <a:rPr lang="en-US" dirty="0">
                <a:latin typeface="Arial" panose="020B0604020202020204" pitchFamily="34" charset="0"/>
                <a:cs typeface="Arial" panose="020B0604020202020204" pitchFamily="34" charset="0"/>
              </a:rPr>
              <a:t>Methods for classifier evaluation</a:t>
            </a:r>
            <a:endParaRPr lang="tr-TR"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Introduction to Classification</a:t>
            </a:r>
          </a:p>
          <a:p>
            <a:pPr lvl="1">
              <a:lnSpc>
                <a:spcPct val="120000"/>
              </a:lnSpc>
              <a:spcBef>
                <a:spcPts val="600"/>
              </a:spcBef>
            </a:pPr>
            <a:r>
              <a:rPr lang="en-US" dirty="0">
                <a:latin typeface="Arial" panose="020B0604020202020204" pitchFamily="34" charset="0"/>
                <a:cs typeface="Arial" panose="020B0604020202020204" pitchFamily="34" charset="0"/>
              </a:rPr>
              <a:t>1R</a:t>
            </a:r>
          </a:p>
          <a:p>
            <a:pPr lvl="1">
              <a:lnSpc>
                <a:spcPct val="120000"/>
              </a:lnSpc>
              <a:spcBef>
                <a:spcPts val="600"/>
              </a:spcBef>
            </a:pPr>
            <a:r>
              <a:rPr lang="en-US" dirty="0">
                <a:latin typeface="Arial" panose="020B0604020202020204" pitchFamily="34" charset="0"/>
                <a:cs typeface="Arial" panose="020B0604020202020204" pitchFamily="34" charset="0"/>
              </a:rPr>
              <a:t>Decision Trees </a:t>
            </a:r>
            <a:endParaRPr lang="tr-TR" dirty="0">
              <a:latin typeface="Arial" panose="020B0604020202020204" pitchFamily="34" charset="0"/>
              <a:cs typeface="Arial" panose="020B0604020202020204" pitchFamily="34" charset="0"/>
            </a:endParaRPr>
          </a:p>
          <a:p>
            <a:pPr lvl="1">
              <a:lnSpc>
                <a:spcPct val="120000"/>
              </a:lnSpc>
              <a:spcBef>
                <a:spcPts val="600"/>
              </a:spcBef>
            </a:pPr>
            <a:r>
              <a:rPr lang="en-US" dirty="0">
                <a:latin typeface="Arial" panose="020B0604020202020204" pitchFamily="34" charset="0"/>
                <a:cs typeface="Arial" panose="020B0604020202020204" pitchFamily="34" charset="0"/>
              </a:rPr>
              <a:t>Random Trees </a:t>
            </a:r>
            <a:endParaRPr lang="tr-TR" dirty="0">
              <a:latin typeface="Arial" panose="020B0604020202020204" pitchFamily="34" charset="0"/>
              <a:cs typeface="Arial" panose="020B0604020202020204" pitchFamily="34" charset="0"/>
            </a:endParaRPr>
          </a:p>
          <a:p>
            <a:pPr lvl="1">
              <a:lnSpc>
                <a:spcPct val="120000"/>
              </a:lnSpc>
              <a:spcBef>
                <a:spcPts val="600"/>
              </a:spcBef>
            </a:pPr>
            <a:r>
              <a:rPr lang="en-US" dirty="0">
                <a:latin typeface="Arial" panose="020B0604020202020204" pitchFamily="34" charset="0"/>
                <a:cs typeface="Arial" panose="020B0604020202020204" pitchFamily="34" charset="0"/>
              </a:rPr>
              <a:t>Random Forest</a:t>
            </a:r>
          </a:p>
        </p:txBody>
      </p:sp>
      <p:pic>
        <p:nvPicPr>
          <p:cNvPr id="217092" name="Picture 4" descr="Image2"/>
          <p:cNvPicPr>
            <a:picLocks noGrp="1" noChangeAspect="1" noChangeArrowheads="1"/>
          </p:cNvPicPr>
          <p:nvPr>
            <p:ph sz="half" idx="2"/>
          </p:nvPr>
        </p:nvPicPr>
        <p:blipFill>
          <a:blip r:embed="rId2" cstate="print"/>
          <a:srcRect/>
          <a:stretch>
            <a:fillRect/>
          </a:stretch>
        </p:blipFill>
        <p:spPr>
          <a:xfrm>
            <a:off x="8317176" y="1876426"/>
            <a:ext cx="1847850" cy="3990975"/>
          </a:xfrm>
          <a:noFill/>
          <a:ln/>
        </p:spPr>
      </p:pic>
      <p:sp>
        <p:nvSpPr>
          <p:cNvPr id="217094" name="AutoShape 6"/>
          <p:cNvSpPr>
            <a:spLocks noChangeArrowheads="1"/>
          </p:cNvSpPr>
          <p:nvPr/>
        </p:nvSpPr>
        <p:spPr bwMode="auto">
          <a:xfrm>
            <a:off x="9241101" y="655639"/>
            <a:ext cx="1828800" cy="1524000"/>
          </a:xfrm>
          <a:prstGeom prst="cloudCallout">
            <a:avLst>
              <a:gd name="adj1" fmla="val -37953"/>
              <a:gd name="adj2" fmla="val 57826"/>
            </a:avLst>
          </a:prstGeom>
          <a:solidFill>
            <a:schemeClr val="accent1"/>
          </a:solidFill>
          <a:ln w="9525">
            <a:solidFill>
              <a:schemeClr val="tx1"/>
            </a:solidFill>
            <a:round/>
            <a:headEnd/>
            <a:tailEnd/>
          </a:ln>
          <a:effectLst/>
        </p:spPr>
        <p:txBody>
          <a:bodyPr/>
          <a:lstStyle/>
          <a:p>
            <a:pPr algn="ctr"/>
            <a:r>
              <a:rPr lang="en-US" dirty="0">
                <a:latin typeface="Arial" panose="020B0604020202020204" pitchFamily="34" charset="0"/>
                <a:cs typeface="Arial" panose="020B0604020202020204" pitchFamily="34" charset="0"/>
              </a:rPr>
              <a:t>What is next?</a:t>
            </a:r>
          </a:p>
        </p:txBody>
      </p:sp>
    </p:spTree>
    <p:extLst>
      <p:ext uri="{BB962C8B-B14F-4D97-AF65-F5344CB8AC3E}">
        <p14:creationId xmlns:p14="http://schemas.microsoft.com/office/powerpoint/2010/main" val="91364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Autofit/>
          </a:bodyPr>
          <a:lstStyle/>
          <a:p>
            <a:r>
              <a:rPr lang="en-US" altLang="en-US" b="1" dirty="0"/>
              <a:t>Types of Scales</a:t>
            </a:r>
            <a:endParaRPr lang="en-US" b="1" dirty="0"/>
          </a:p>
        </p:txBody>
      </p:sp>
      <p:sp>
        <p:nvSpPr>
          <p:cNvPr id="8" name="Content Placeholder 13"/>
          <p:cNvSpPr>
            <a:spLocks noGrp="1"/>
          </p:cNvSpPr>
          <p:nvPr>
            <p:ph idx="4294967295"/>
          </p:nvPr>
        </p:nvSpPr>
        <p:spPr>
          <a:xfrm>
            <a:off x="838200" y="1643186"/>
            <a:ext cx="10515600" cy="4566545"/>
          </a:xfrm>
          <a:prstGeom prst="rect">
            <a:avLst/>
          </a:prstGeo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Scale is defined as a set of numbers,</a:t>
            </a:r>
            <a:r>
              <a:rPr lang="tr-TR"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amounts, etc. used to measure or compare the level of something (</a:t>
            </a:r>
            <a:r>
              <a:rPr lang="en-US" altLang="en-US" sz="2400" i="1" dirty="0">
                <a:latin typeface="Arial" panose="020B0604020202020204" pitchFamily="34" charset="0"/>
                <a:cs typeface="Arial" panose="020B0604020202020204" pitchFamily="34" charset="0"/>
              </a:rPr>
              <a:t>Cambridge Dictionary</a:t>
            </a:r>
            <a:r>
              <a:rPr lang="en-US" altLang="en-US" sz="2400" dirty="0">
                <a:latin typeface="Arial" panose="020B0604020202020204" pitchFamily="34" charset="0"/>
                <a:cs typeface="Arial" panose="020B0604020202020204" pitchFamily="34" charset="0"/>
              </a:rPr>
              <a:t>) </a:t>
            </a: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en-US" altLang="en-US" sz="2400" dirty="0">
              <a:latin typeface="Arial" panose="020B0604020202020204" pitchFamily="34" charset="0"/>
              <a:cs typeface="Arial" panose="020B0604020202020204" pitchFamily="34" charset="0"/>
            </a:endParaRPr>
          </a:p>
          <a:p>
            <a:pPr>
              <a:lnSpc>
                <a:spcPct val="120000"/>
              </a:lnSpc>
              <a:spcBef>
                <a:spcPts val="600"/>
              </a:spcBef>
            </a:pPr>
            <a:r>
              <a:rPr lang="en-US" altLang="en-US" sz="2400" dirty="0">
                <a:latin typeface="Arial" panose="020B0604020202020204" pitchFamily="34" charset="0"/>
                <a:cs typeface="Arial" panose="020B0604020202020204" pitchFamily="34" charset="0"/>
              </a:rPr>
              <a:t>There is a hierarchy based on the information level provided by the type of the scale. From the simplest to the most informative:</a:t>
            </a:r>
          </a:p>
          <a:p>
            <a:pPr lvl="1">
              <a:lnSpc>
                <a:spcPct val="120000"/>
              </a:lnSpc>
              <a:spcBef>
                <a:spcPts val="600"/>
              </a:spcBef>
            </a:pPr>
            <a:r>
              <a:rPr lang="en-US" altLang="en-US" i="1" dirty="0">
                <a:latin typeface="Arial" panose="020B0604020202020204" pitchFamily="34" charset="0"/>
                <a:cs typeface="Arial" panose="020B0604020202020204" pitchFamily="34" charset="0"/>
              </a:rPr>
              <a:t>Nominal Scale</a:t>
            </a:r>
            <a:endParaRPr lang="en-US" altLang="en-US" dirty="0">
              <a:latin typeface="Arial" panose="020B0604020202020204" pitchFamily="34" charset="0"/>
              <a:cs typeface="Arial" panose="020B0604020202020204" pitchFamily="34" charset="0"/>
            </a:endParaRPr>
          </a:p>
          <a:p>
            <a:pPr lvl="1">
              <a:lnSpc>
                <a:spcPct val="120000"/>
              </a:lnSpc>
              <a:spcBef>
                <a:spcPts val="600"/>
              </a:spcBef>
            </a:pPr>
            <a:r>
              <a:rPr lang="en-US" altLang="en-US" i="1" dirty="0">
                <a:latin typeface="Arial" panose="020B0604020202020204" pitchFamily="34" charset="0"/>
                <a:cs typeface="Arial" panose="020B0604020202020204" pitchFamily="34" charset="0"/>
              </a:rPr>
              <a:t>Ordinal Scale</a:t>
            </a:r>
            <a:endParaRPr lang="en-US" altLang="en-US" dirty="0">
              <a:latin typeface="Arial" panose="020B0604020202020204" pitchFamily="34" charset="0"/>
              <a:cs typeface="Arial" panose="020B0604020202020204" pitchFamily="34" charset="0"/>
            </a:endParaRPr>
          </a:p>
          <a:p>
            <a:pPr lvl="1">
              <a:lnSpc>
                <a:spcPct val="120000"/>
              </a:lnSpc>
              <a:spcBef>
                <a:spcPts val="600"/>
              </a:spcBef>
            </a:pPr>
            <a:r>
              <a:rPr lang="en-US" altLang="en-US" i="1" dirty="0">
                <a:latin typeface="Arial" panose="020B0604020202020204" pitchFamily="34" charset="0"/>
                <a:cs typeface="Arial" panose="020B0604020202020204" pitchFamily="34" charset="0"/>
              </a:rPr>
              <a:t>Interval Scale</a:t>
            </a:r>
            <a:endParaRPr lang="en-US" altLang="en-US" dirty="0">
              <a:latin typeface="Arial" panose="020B0604020202020204" pitchFamily="34" charset="0"/>
              <a:cs typeface="Arial" panose="020B0604020202020204" pitchFamily="34" charset="0"/>
            </a:endParaRPr>
          </a:p>
          <a:p>
            <a:pPr lvl="1">
              <a:lnSpc>
                <a:spcPct val="120000"/>
              </a:lnSpc>
              <a:spcBef>
                <a:spcPts val="600"/>
              </a:spcBef>
            </a:pPr>
            <a:r>
              <a:rPr lang="en-US" altLang="en-US" i="1" dirty="0">
                <a:latin typeface="Arial" panose="020B0604020202020204" pitchFamily="34" charset="0"/>
                <a:cs typeface="Arial" panose="020B0604020202020204" pitchFamily="34" charset="0"/>
              </a:rPr>
              <a:t>Ratio Scale</a:t>
            </a:r>
            <a:endParaRPr lang="en-US" altLang="en-US" dirty="0">
              <a:latin typeface="Arial" panose="020B0604020202020204" pitchFamily="34" charset="0"/>
              <a:cs typeface="Arial" panose="020B0604020202020204" pitchFamily="34" charset="0"/>
            </a:endParaRPr>
          </a:p>
          <a:p>
            <a:pPr>
              <a:lnSpc>
                <a:spcPct val="110000"/>
              </a:lnSpc>
              <a:spcBef>
                <a:spcPts val="600"/>
              </a:spcBef>
            </a:pPr>
            <a:endParaRPr lang="en-US" altLang="en-US" dirty="0">
              <a:latin typeface="Arial" panose="020B0604020202020204" pitchFamily="34" charset="0"/>
              <a:cs typeface="Arial" panose="020B0604020202020204" pitchFamily="34" charset="0"/>
            </a:endParaRPr>
          </a:p>
        </p:txBody>
      </p:sp>
      <p:grpSp>
        <p:nvGrpSpPr>
          <p:cNvPr id="11" name="Group 10"/>
          <p:cNvGrpSpPr/>
          <p:nvPr/>
        </p:nvGrpSpPr>
        <p:grpSpPr>
          <a:xfrm>
            <a:off x="3957850" y="4299047"/>
            <a:ext cx="6196084" cy="1715181"/>
            <a:chOff x="3616656" y="4299047"/>
            <a:chExt cx="6196084" cy="1715181"/>
          </a:xfrm>
        </p:grpSpPr>
        <p:sp>
          <p:nvSpPr>
            <p:cNvPr id="12" name="Right Brace 11"/>
            <p:cNvSpPr/>
            <p:nvPr/>
          </p:nvSpPr>
          <p:spPr>
            <a:xfrm>
              <a:off x="3616656" y="5331840"/>
              <a:ext cx="341194" cy="6823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Arrow 12"/>
            <p:cNvSpPr/>
            <p:nvPr/>
          </p:nvSpPr>
          <p:spPr>
            <a:xfrm rot="10800000" flipH="1" flipV="1">
              <a:off x="4148920" y="5520520"/>
              <a:ext cx="1337480" cy="3050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786650" y="5474300"/>
              <a:ext cx="2538484"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Numerical Data</a:t>
              </a:r>
            </a:p>
          </p:txBody>
        </p:sp>
        <p:sp>
          <p:nvSpPr>
            <p:cNvPr id="15" name="Right Brace 14"/>
            <p:cNvSpPr/>
            <p:nvPr/>
          </p:nvSpPr>
          <p:spPr>
            <a:xfrm>
              <a:off x="4817659" y="4299047"/>
              <a:ext cx="341194" cy="6823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Arrow 15"/>
            <p:cNvSpPr/>
            <p:nvPr/>
          </p:nvSpPr>
          <p:spPr>
            <a:xfrm rot="10800000" flipH="1" flipV="1">
              <a:off x="5418162" y="4473711"/>
              <a:ext cx="1337480" cy="3050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055892" y="4409408"/>
              <a:ext cx="2756848"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Categorical Data</a:t>
              </a:r>
            </a:p>
          </p:txBody>
        </p:sp>
      </p:grpSp>
    </p:spTree>
    <p:extLst>
      <p:ext uri="{BB962C8B-B14F-4D97-AF65-F5344CB8AC3E}">
        <p14:creationId xmlns:p14="http://schemas.microsoft.com/office/powerpoint/2010/main" val="7309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 calcmode="lin" valueType="num">
                                      <p:cBhvr additive="base">
                                        <p:cTn id="1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 calcmode="lin" valueType="num">
                                      <p:cBhvr additive="base">
                                        <p:cTn id="2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 calcmode="lin" valueType="num">
                                      <p:cBhvr additive="base">
                                        <p:cTn id="2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 calcmode="lin" valueType="num">
                                      <p:cBhvr additive="base">
                                        <p:cTn id="2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D312C-11E7-16F1-5A0E-827E9BA4C20A}"/>
            </a:ext>
          </a:extLst>
        </p:cNvPr>
        <p:cNvGrpSpPr/>
        <p:nvPr/>
      </p:nvGrpSpPr>
      <p:grpSpPr>
        <a:xfrm>
          <a:off x="0" y="0"/>
          <a:ext cx="0" cy="0"/>
          <a:chOff x="0" y="0"/>
          <a:chExt cx="0" cy="0"/>
        </a:xfrm>
      </p:grpSpPr>
      <p:sp>
        <p:nvSpPr>
          <p:cNvPr id="1107" name="Title 3">
            <a:extLst>
              <a:ext uri="{FF2B5EF4-FFF2-40B4-BE49-F238E27FC236}">
                <a16:creationId xmlns:a16="http://schemas.microsoft.com/office/drawing/2014/main" id="{B3811F98-88EA-F407-5186-476CAE263C66}"/>
              </a:ext>
            </a:extLst>
          </p:cNvPr>
          <p:cNvSpPr>
            <a:spLocks noGrp="1"/>
          </p:cNvSpPr>
          <p:nvPr>
            <p:ph type="title"/>
          </p:nvPr>
        </p:nvSpPr>
        <p:spPr>
          <a:xfrm>
            <a:off x="838200" y="317623"/>
            <a:ext cx="10515600" cy="1325563"/>
          </a:xfrm>
        </p:spPr>
        <p:txBody>
          <a:bodyPr>
            <a:noAutofit/>
          </a:bodyPr>
          <a:lstStyle/>
          <a:p>
            <a:r>
              <a:rPr lang="en-US" altLang="en-US" b="1" dirty="0"/>
              <a:t>Types of Scales</a:t>
            </a:r>
            <a:endParaRPr lang="en-US" b="1" dirty="0"/>
          </a:p>
        </p:txBody>
      </p:sp>
      <p:sp>
        <p:nvSpPr>
          <p:cNvPr id="8" name="Content Placeholder 13">
            <a:extLst>
              <a:ext uri="{FF2B5EF4-FFF2-40B4-BE49-F238E27FC236}">
                <a16:creationId xmlns:a16="http://schemas.microsoft.com/office/drawing/2014/main" id="{738E54D1-D7B7-9ABB-DF19-522E3B00B173}"/>
              </a:ext>
            </a:extLst>
          </p:cNvPr>
          <p:cNvSpPr>
            <a:spLocks noGrp="1"/>
          </p:cNvSpPr>
          <p:nvPr>
            <p:ph idx="4294967295"/>
          </p:nvPr>
        </p:nvSpPr>
        <p:spPr>
          <a:xfrm>
            <a:off x="-150629" y="1643186"/>
            <a:ext cx="10515600" cy="4566545"/>
          </a:xfrm>
          <a:prstGeom prst="rect">
            <a:avLst/>
          </a:prstGeom>
        </p:spPr>
        <p:txBody>
          <a:bodyPr>
            <a:noAutofit/>
          </a:bodyPr>
          <a:lstStyle/>
          <a:p>
            <a:pPr lvl="1">
              <a:lnSpc>
                <a:spcPct val="120000"/>
              </a:lnSpc>
              <a:spcBef>
                <a:spcPts val="600"/>
              </a:spcBef>
            </a:pPr>
            <a:r>
              <a:rPr lang="en-US" altLang="en-US" i="1" dirty="0">
                <a:latin typeface="Arial" panose="020B0604020202020204" pitchFamily="34" charset="0"/>
                <a:cs typeface="Arial" panose="020B0604020202020204" pitchFamily="34" charset="0"/>
              </a:rPr>
              <a:t>Nominal Scale</a:t>
            </a:r>
          </a:p>
          <a:p>
            <a:pPr lvl="1">
              <a:lnSpc>
                <a:spcPct val="120000"/>
              </a:lnSpc>
              <a:spcBef>
                <a:spcPts val="600"/>
              </a:spcBef>
            </a:pPr>
            <a:endParaRPr lang="en-US" altLang="en-US" dirty="0">
              <a:latin typeface="Arial" panose="020B0604020202020204" pitchFamily="34" charset="0"/>
              <a:cs typeface="Arial" panose="020B0604020202020204" pitchFamily="34" charset="0"/>
            </a:endParaRPr>
          </a:p>
          <a:p>
            <a:pPr lvl="1">
              <a:lnSpc>
                <a:spcPct val="120000"/>
              </a:lnSpc>
              <a:spcBef>
                <a:spcPts val="600"/>
              </a:spcBef>
            </a:pPr>
            <a:r>
              <a:rPr lang="en-US" altLang="en-US" i="1" dirty="0">
                <a:latin typeface="Arial" panose="020B0604020202020204" pitchFamily="34" charset="0"/>
                <a:cs typeface="Arial" panose="020B0604020202020204" pitchFamily="34" charset="0"/>
              </a:rPr>
              <a:t>Ordinal Scale</a:t>
            </a:r>
            <a:endParaRPr lang="en-US" altLang="en-US" dirty="0">
              <a:latin typeface="Arial" panose="020B0604020202020204" pitchFamily="34" charset="0"/>
              <a:cs typeface="Arial" panose="020B0604020202020204" pitchFamily="34" charset="0"/>
            </a:endParaRPr>
          </a:p>
          <a:p>
            <a:pPr lvl="1">
              <a:lnSpc>
                <a:spcPct val="120000"/>
              </a:lnSpc>
              <a:spcBef>
                <a:spcPts val="600"/>
              </a:spcBef>
            </a:pPr>
            <a:endParaRPr lang="en-US" altLang="en-US" i="1" dirty="0">
              <a:latin typeface="Arial" panose="020B0604020202020204" pitchFamily="34" charset="0"/>
              <a:cs typeface="Arial" panose="020B0604020202020204" pitchFamily="34" charset="0"/>
            </a:endParaRPr>
          </a:p>
          <a:p>
            <a:pPr lvl="1">
              <a:lnSpc>
                <a:spcPct val="120000"/>
              </a:lnSpc>
              <a:spcBef>
                <a:spcPts val="600"/>
              </a:spcBef>
            </a:pPr>
            <a:r>
              <a:rPr lang="en-US" altLang="en-US" i="1" dirty="0">
                <a:latin typeface="Arial" panose="020B0604020202020204" pitchFamily="34" charset="0"/>
                <a:cs typeface="Arial" panose="020B0604020202020204" pitchFamily="34" charset="0"/>
              </a:rPr>
              <a:t>Interval Scale</a:t>
            </a:r>
            <a:endParaRPr lang="en-US" altLang="en-US" dirty="0">
              <a:latin typeface="Arial" panose="020B0604020202020204" pitchFamily="34" charset="0"/>
              <a:cs typeface="Arial" panose="020B0604020202020204" pitchFamily="34" charset="0"/>
            </a:endParaRPr>
          </a:p>
          <a:p>
            <a:pPr lvl="1">
              <a:lnSpc>
                <a:spcPct val="120000"/>
              </a:lnSpc>
              <a:spcBef>
                <a:spcPts val="600"/>
              </a:spcBef>
            </a:pPr>
            <a:endParaRPr lang="en-US" altLang="en-US" i="1" dirty="0">
              <a:latin typeface="Arial" panose="020B0604020202020204" pitchFamily="34" charset="0"/>
              <a:cs typeface="Arial" panose="020B0604020202020204" pitchFamily="34" charset="0"/>
            </a:endParaRPr>
          </a:p>
          <a:p>
            <a:pPr lvl="1">
              <a:lnSpc>
                <a:spcPct val="120000"/>
              </a:lnSpc>
              <a:spcBef>
                <a:spcPts val="600"/>
              </a:spcBef>
            </a:pPr>
            <a:r>
              <a:rPr lang="en-US" altLang="en-US" i="1" dirty="0">
                <a:latin typeface="Arial" panose="020B0604020202020204" pitchFamily="34" charset="0"/>
                <a:cs typeface="Arial" panose="020B0604020202020204" pitchFamily="34" charset="0"/>
              </a:rPr>
              <a:t>Ratio Scale</a:t>
            </a:r>
            <a:endParaRPr lang="en-US" altLang="en-US" dirty="0">
              <a:latin typeface="Arial" panose="020B0604020202020204" pitchFamily="34" charset="0"/>
              <a:cs typeface="Arial" panose="020B0604020202020204" pitchFamily="34" charset="0"/>
            </a:endParaRPr>
          </a:p>
          <a:p>
            <a:pPr>
              <a:lnSpc>
                <a:spcPct val="110000"/>
              </a:lnSpc>
              <a:spcBef>
                <a:spcPts val="600"/>
              </a:spcBef>
            </a:pPr>
            <a:endParaRPr lang="en-US" altLang="en-US" dirty="0">
              <a:latin typeface="Arial" panose="020B0604020202020204" pitchFamily="34" charset="0"/>
              <a:cs typeface="Arial" panose="020B0604020202020204" pitchFamily="34" charset="0"/>
            </a:endParaRPr>
          </a:p>
        </p:txBody>
      </p:sp>
      <p:sp>
        <p:nvSpPr>
          <p:cNvPr id="2" name="Horizontal Scroll 1">
            <a:extLst>
              <a:ext uri="{FF2B5EF4-FFF2-40B4-BE49-F238E27FC236}">
                <a16:creationId xmlns:a16="http://schemas.microsoft.com/office/drawing/2014/main" id="{7AE982C7-15F9-21AB-B67F-5FD841AF28E5}"/>
              </a:ext>
            </a:extLst>
          </p:cNvPr>
          <p:cNvSpPr/>
          <p:nvPr/>
        </p:nvSpPr>
        <p:spPr>
          <a:xfrm>
            <a:off x="2846245" y="1724678"/>
            <a:ext cx="6907087" cy="57415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Labels only. No order. Brown is ”…. than" Blue ?</a:t>
            </a:r>
            <a:endParaRPr lang="en-TR" dirty="0"/>
          </a:p>
        </p:txBody>
      </p:sp>
      <p:sp>
        <p:nvSpPr>
          <p:cNvPr id="3" name="Horizontal Scroll 2">
            <a:extLst>
              <a:ext uri="{FF2B5EF4-FFF2-40B4-BE49-F238E27FC236}">
                <a16:creationId xmlns:a16="http://schemas.microsoft.com/office/drawing/2014/main" id="{91B7AC27-C56E-17FC-0B67-B9D5F283F419}"/>
              </a:ext>
            </a:extLst>
          </p:cNvPr>
          <p:cNvSpPr/>
          <p:nvPr/>
        </p:nvSpPr>
        <p:spPr>
          <a:xfrm>
            <a:off x="2700669" y="2854842"/>
            <a:ext cx="8495414" cy="57415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Order matters. Intervals between the values are not known. 3</a:t>
            </a:r>
            <a:r>
              <a:rPr lang="en-US" baseline="30000" dirty="0"/>
              <a:t>rd</a:t>
            </a:r>
            <a:r>
              <a:rPr lang="en-US" dirty="0"/>
              <a:t> – 2</a:t>
            </a:r>
            <a:r>
              <a:rPr lang="en-US" baseline="30000" dirty="0"/>
              <a:t>nd</a:t>
            </a:r>
            <a:r>
              <a:rPr lang="en-US" dirty="0"/>
              <a:t> vs 2</a:t>
            </a:r>
            <a:r>
              <a:rPr lang="en-US" baseline="30000" dirty="0"/>
              <a:t>nd</a:t>
            </a:r>
            <a:r>
              <a:rPr lang="en-US" dirty="0"/>
              <a:t> - 1</a:t>
            </a:r>
            <a:r>
              <a:rPr lang="en-US" baseline="30000" dirty="0"/>
              <a:t>st</a:t>
            </a:r>
            <a:r>
              <a:rPr lang="en-US" dirty="0"/>
              <a:t> ?</a:t>
            </a:r>
            <a:endParaRPr lang="en-TR" dirty="0"/>
          </a:p>
        </p:txBody>
      </p:sp>
      <p:sp>
        <p:nvSpPr>
          <p:cNvPr id="4" name="Horizontal Scroll 3">
            <a:extLst>
              <a:ext uri="{FF2B5EF4-FFF2-40B4-BE49-F238E27FC236}">
                <a16:creationId xmlns:a16="http://schemas.microsoft.com/office/drawing/2014/main" id="{B6B57769-E2DB-69C5-AE37-3774439DF38F}"/>
              </a:ext>
            </a:extLst>
          </p:cNvPr>
          <p:cNvSpPr/>
          <p:nvPr/>
        </p:nvSpPr>
        <p:spPr>
          <a:xfrm>
            <a:off x="2700669" y="3985006"/>
            <a:ext cx="9033999" cy="57415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Difference between values is consistent. But no true zero point. 0°C no temperature? </a:t>
            </a:r>
            <a:endParaRPr lang="en-TR" dirty="0"/>
          </a:p>
        </p:txBody>
      </p:sp>
      <p:sp>
        <p:nvSpPr>
          <p:cNvPr id="20" name="Horizontal Scroll 19">
            <a:extLst>
              <a:ext uri="{FF2B5EF4-FFF2-40B4-BE49-F238E27FC236}">
                <a16:creationId xmlns:a16="http://schemas.microsoft.com/office/drawing/2014/main" id="{35C51368-9F2B-790A-4A47-E85F5659F987}"/>
              </a:ext>
            </a:extLst>
          </p:cNvPr>
          <p:cNvSpPr/>
          <p:nvPr/>
        </p:nvSpPr>
        <p:spPr>
          <a:xfrm>
            <a:off x="2578692" y="5003272"/>
            <a:ext cx="2969963" cy="574158"/>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e.g., height, weight, age</a:t>
            </a:r>
            <a:endParaRPr lang="en-TR" dirty="0"/>
          </a:p>
        </p:txBody>
      </p:sp>
    </p:spTree>
    <p:extLst>
      <p:ext uri="{BB962C8B-B14F-4D97-AF65-F5344CB8AC3E}">
        <p14:creationId xmlns:p14="http://schemas.microsoft.com/office/powerpoint/2010/main" val="230268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 calcmode="lin" valueType="num">
                                      <p:cBhvr additive="base">
                                        <p:cTn id="1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 calcmode="lin" valueType="num">
                                      <p:cBhvr additive="base">
                                        <p:cTn id="1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checkerboard(across)">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dissolve">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2" grpId="0" animBg="1"/>
      <p:bldP spid="3" grpId="0" animBg="1"/>
      <p:bldP spid="4"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Title 3"/>
          <p:cNvSpPr>
            <a:spLocks noGrp="1"/>
          </p:cNvSpPr>
          <p:nvPr>
            <p:ph type="title"/>
          </p:nvPr>
        </p:nvSpPr>
        <p:spPr>
          <a:xfrm>
            <a:off x="838200" y="317623"/>
            <a:ext cx="10515600" cy="1325563"/>
          </a:xfrm>
        </p:spPr>
        <p:txBody>
          <a:bodyPr>
            <a:noAutofit/>
          </a:bodyPr>
          <a:lstStyle/>
          <a:p>
            <a:r>
              <a:rPr lang="en-US" b="1" dirty="0"/>
              <a:t>Simplified </a:t>
            </a:r>
            <a:r>
              <a:rPr lang="tr-TR" b="1" dirty="0"/>
              <a:t>KDD </a:t>
            </a:r>
            <a:r>
              <a:rPr lang="en-US" b="1" dirty="0"/>
              <a:t>Process</a:t>
            </a:r>
          </a:p>
        </p:txBody>
      </p:sp>
      <p:sp>
        <p:nvSpPr>
          <p:cNvPr id="8" name="Content Placeholder 13"/>
          <p:cNvSpPr>
            <a:spLocks noGrp="1"/>
          </p:cNvSpPr>
          <p:nvPr>
            <p:ph idx="4294967295"/>
          </p:nvPr>
        </p:nvSpPr>
        <p:spPr>
          <a:xfrm>
            <a:off x="838200" y="1643186"/>
            <a:ext cx="10515600" cy="4566545"/>
          </a:xfrm>
          <a:prstGeom prst="rect">
            <a:avLst/>
          </a:prstGeom>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Extracting </a:t>
            </a:r>
            <a:r>
              <a:rPr lang="en-US" sz="2400" b="1" i="1" dirty="0">
                <a:latin typeface="Arial" panose="020B0604020202020204" pitchFamily="34" charset="0"/>
                <a:cs typeface="Arial" panose="020B0604020202020204" pitchFamily="34" charset="0"/>
              </a:rPr>
              <a:t>meaningful</a:t>
            </a:r>
            <a:r>
              <a:rPr lang="en-US" sz="2400" dirty="0">
                <a:latin typeface="Arial" panose="020B0604020202020204" pitchFamily="34" charset="0"/>
                <a:cs typeface="Arial" panose="020B0604020202020204" pitchFamily="34" charset="0"/>
              </a:rPr>
              <a:t>, previously </a:t>
            </a:r>
            <a:r>
              <a:rPr lang="en-US" sz="2400" b="1" i="1" dirty="0">
                <a:latin typeface="Arial" panose="020B0604020202020204" pitchFamily="34" charset="0"/>
                <a:cs typeface="Arial" panose="020B0604020202020204" pitchFamily="34" charset="0"/>
              </a:rPr>
              <a:t>unknown </a:t>
            </a:r>
            <a:r>
              <a:rPr lang="en-US" sz="2400" dirty="0">
                <a:latin typeface="Arial" panose="020B0604020202020204" pitchFamily="34" charset="0"/>
                <a:cs typeface="Arial" panose="020B0604020202020204" pitchFamily="34" charset="0"/>
              </a:rPr>
              <a:t>patterns or knowledge from </a:t>
            </a:r>
            <a:r>
              <a:rPr lang="en-US" sz="2400" b="1" i="1" dirty="0">
                <a:latin typeface="Arial" panose="020B0604020202020204" pitchFamily="34" charset="0"/>
                <a:cs typeface="Arial" panose="020B0604020202020204" pitchFamily="34" charset="0"/>
              </a:rPr>
              <a:t>large databases</a:t>
            </a:r>
            <a:endParaRPr lang="tr-TR" sz="2400" b="1" i="1"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The knowledge discovery process</a:t>
            </a:r>
            <a:r>
              <a:rPr lang="tr-TR"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a:lnSpc>
                <a:spcPct val="110000"/>
              </a:lnSpc>
              <a:spcBef>
                <a:spcPts val="600"/>
              </a:spcBef>
            </a:pPr>
            <a:endParaRPr lang="en-US" altLang="en-US" dirty="0">
              <a:latin typeface="Arial" panose="020B0604020202020204" pitchFamily="34" charset="0"/>
              <a:cs typeface="Arial" panose="020B0604020202020204" pitchFamily="34" charset="0"/>
            </a:endParaRPr>
          </a:p>
        </p:txBody>
      </p:sp>
      <p:grpSp>
        <p:nvGrpSpPr>
          <p:cNvPr id="24" name="Group 23"/>
          <p:cNvGrpSpPr/>
          <p:nvPr/>
        </p:nvGrpSpPr>
        <p:grpSpPr>
          <a:xfrm>
            <a:off x="1100218" y="3805141"/>
            <a:ext cx="9991564" cy="2404590"/>
            <a:chOff x="838200" y="3805141"/>
            <a:chExt cx="9991564" cy="2404590"/>
          </a:xfrm>
        </p:grpSpPr>
        <p:grpSp>
          <p:nvGrpSpPr>
            <p:cNvPr id="25" name="Group 24"/>
            <p:cNvGrpSpPr/>
            <p:nvPr/>
          </p:nvGrpSpPr>
          <p:grpSpPr>
            <a:xfrm>
              <a:off x="3400547" y="3805141"/>
              <a:ext cx="2119291" cy="2404590"/>
              <a:chOff x="3388891" y="3421063"/>
              <a:chExt cx="2119291" cy="2404590"/>
            </a:xfrm>
          </p:grpSpPr>
          <p:sp>
            <p:nvSpPr>
              <p:cNvPr id="35" name="AutoShape 5"/>
              <p:cNvSpPr>
                <a:spLocks noChangeArrowheads="1"/>
              </p:cNvSpPr>
              <p:nvPr/>
            </p:nvSpPr>
            <p:spPr bwMode="auto">
              <a:xfrm>
                <a:off x="3388891" y="3421063"/>
                <a:ext cx="2119291" cy="914400"/>
              </a:xfrm>
              <a:prstGeom prst="homePlate">
                <a:avLst>
                  <a:gd name="adj" fmla="val 47917"/>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latin typeface="Arial" charset="0"/>
                  </a:rPr>
                  <a:t>Prepare</a:t>
                </a:r>
              </a:p>
              <a:p>
                <a:pPr algn="ctr" eaLnBrk="1" hangingPunct="1"/>
                <a:r>
                  <a:rPr lang="en-US" sz="2000" dirty="0">
                    <a:latin typeface="Arial" charset="0"/>
                  </a:rPr>
                  <a:t>Data</a:t>
                </a:r>
              </a:p>
            </p:txBody>
          </p:sp>
          <p:sp>
            <p:nvSpPr>
              <p:cNvPr id="36" name="Text Box 9"/>
              <p:cNvSpPr txBox="1">
                <a:spLocks noChangeArrowheads="1"/>
              </p:cNvSpPr>
              <p:nvPr/>
            </p:nvSpPr>
            <p:spPr bwMode="auto">
              <a:xfrm>
                <a:off x="3388892" y="4403725"/>
                <a:ext cx="2119290" cy="1421928"/>
              </a:xfrm>
              <a:prstGeom prst="rect">
                <a:avLst/>
              </a:prstGeom>
              <a:noFill/>
              <a:ln w="9525">
                <a:noFill/>
                <a:miter lim="800000"/>
                <a:headEnd/>
                <a:tailEnd/>
              </a:ln>
              <a:effectLst/>
            </p:spPr>
            <p:txBody>
              <a:bodyPr wrap="square">
                <a:spAutoFit/>
              </a:bodyPr>
              <a:lstStyle/>
              <a:p>
                <a:pPr eaLnBrk="1" hangingPunct="1">
                  <a:lnSpc>
                    <a:spcPct val="120000"/>
                  </a:lnSpc>
                </a:pPr>
                <a:r>
                  <a:rPr lang="en-US" i="1" dirty="0">
                    <a:latin typeface="Arial" charset="0"/>
                  </a:rPr>
                  <a:t>Data cleaning</a:t>
                </a:r>
              </a:p>
              <a:p>
                <a:pPr eaLnBrk="1" hangingPunct="1">
                  <a:lnSpc>
                    <a:spcPct val="120000"/>
                  </a:lnSpc>
                </a:pPr>
                <a:r>
                  <a:rPr lang="en-US" i="1" dirty="0">
                    <a:latin typeface="Arial" charset="0"/>
                  </a:rPr>
                  <a:t>Data selection</a:t>
                </a:r>
              </a:p>
              <a:p>
                <a:pPr eaLnBrk="1" hangingPunct="1">
                  <a:lnSpc>
                    <a:spcPct val="120000"/>
                  </a:lnSpc>
                </a:pPr>
                <a:r>
                  <a:rPr lang="en-US" i="1" dirty="0">
                    <a:latin typeface="Arial" charset="0"/>
                  </a:rPr>
                  <a:t>Feature selection</a:t>
                </a:r>
              </a:p>
              <a:p>
                <a:pPr eaLnBrk="1" hangingPunct="1">
                  <a:lnSpc>
                    <a:spcPct val="120000"/>
                  </a:lnSpc>
                </a:pPr>
                <a:r>
                  <a:rPr lang="en-US" i="1" dirty="0">
                    <a:latin typeface="Arial" charset="0"/>
                  </a:rPr>
                  <a:t>Visualization</a:t>
                </a:r>
              </a:p>
            </p:txBody>
          </p:sp>
        </p:grpSp>
        <p:grpSp>
          <p:nvGrpSpPr>
            <p:cNvPr id="26" name="Group 25"/>
            <p:cNvGrpSpPr/>
            <p:nvPr/>
          </p:nvGrpSpPr>
          <p:grpSpPr>
            <a:xfrm>
              <a:off x="5881160" y="3805141"/>
              <a:ext cx="2613374" cy="2327275"/>
              <a:chOff x="5889182" y="3489325"/>
              <a:chExt cx="2613374" cy="2327275"/>
            </a:xfrm>
          </p:grpSpPr>
          <p:sp>
            <p:nvSpPr>
              <p:cNvPr id="33" name="AutoShape 6"/>
              <p:cNvSpPr>
                <a:spLocks noChangeArrowheads="1"/>
              </p:cNvSpPr>
              <p:nvPr/>
            </p:nvSpPr>
            <p:spPr bwMode="auto">
              <a:xfrm>
                <a:off x="5889182" y="3489325"/>
                <a:ext cx="2587032" cy="914400"/>
              </a:xfrm>
              <a:prstGeom prst="homePlate">
                <a:avLst>
                  <a:gd name="adj" fmla="val 47917"/>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latin typeface="Arial" charset="0"/>
                  </a:rPr>
                  <a:t>Mine</a:t>
                </a:r>
              </a:p>
              <a:p>
                <a:pPr algn="ctr" eaLnBrk="1" hangingPunct="1"/>
                <a:r>
                  <a:rPr lang="en-US" sz="2000" dirty="0">
                    <a:latin typeface="Arial" charset="0"/>
                  </a:rPr>
                  <a:t>Knowledge</a:t>
                </a:r>
              </a:p>
            </p:txBody>
          </p:sp>
          <p:sp>
            <p:nvSpPr>
              <p:cNvPr id="34" name="Text Box 10"/>
              <p:cNvSpPr txBox="1">
                <a:spLocks noChangeArrowheads="1"/>
              </p:cNvSpPr>
              <p:nvPr/>
            </p:nvSpPr>
            <p:spPr bwMode="auto">
              <a:xfrm>
                <a:off x="5920514" y="4394672"/>
                <a:ext cx="2582042" cy="1421928"/>
              </a:xfrm>
              <a:prstGeom prst="rect">
                <a:avLst/>
              </a:prstGeom>
              <a:noFill/>
              <a:ln w="9525">
                <a:noFill/>
                <a:miter lim="800000"/>
                <a:headEnd/>
                <a:tailEnd/>
              </a:ln>
              <a:effectLst/>
            </p:spPr>
            <p:txBody>
              <a:bodyPr wrap="square">
                <a:spAutoFit/>
              </a:bodyPr>
              <a:lstStyle/>
              <a:p>
                <a:pPr eaLnBrk="1" hangingPunct="1">
                  <a:lnSpc>
                    <a:spcPct val="120000"/>
                  </a:lnSpc>
                </a:pPr>
                <a:r>
                  <a:rPr lang="en-US" i="1" dirty="0">
                    <a:solidFill>
                      <a:srgbClr val="00B050"/>
                    </a:solidFill>
                    <a:latin typeface="Arial" charset="0"/>
                  </a:rPr>
                  <a:t>Supervised Learning</a:t>
                </a:r>
              </a:p>
              <a:p>
                <a:pPr eaLnBrk="1" hangingPunct="1">
                  <a:lnSpc>
                    <a:spcPct val="120000"/>
                  </a:lnSpc>
                </a:pPr>
                <a:r>
                  <a:rPr lang="en-US" i="1" dirty="0">
                    <a:latin typeface="Arial" charset="0"/>
                  </a:rPr>
                  <a:t>Unsupervised Learning</a:t>
                </a:r>
              </a:p>
              <a:p>
                <a:pPr eaLnBrk="1" hangingPunct="1">
                  <a:lnSpc>
                    <a:spcPct val="120000"/>
                  </a:lnSpc>
                </a:pPr>
                <a:r>
                  <a:rPr lang="en-US" i="1" dirty="0">
                    <a:latin typeface="Arial" charset="0"/>
                  </a:rPr>
                  <a:t>Association Rules</a:t>
                </a:r>
              </a:p>
              <a:p>
                <a:pPr eaLnBrk="1" hangingPunct="1">
                  <a:lnSpc>
                    <a:spcPct val="120000"/>
                  </a:lnSpc>
                </a:pPr>
                <a:endParaRPr lang="en-US" i="1" dirty="0">
                  <a:latin typeface="Arial" charset="0"/>
                </a:endParaRPr>
              </a:p>
            </p:txBody>
          </p:sp>
        </p:grpSp>
        <p:grpSp>
          <p:nvGrpSpPr>
            <p:cNvPr id="27" name="Group 26"/>
            <p:cNvGrpSpPr/>
            <p:nvPr/>
          </p:nvGrpSpPr>
          <p:grpSpPr>
            <a:xfrm>
              <a:off x="838200" y="3805141"/>
              <a:ext cx="2169694" cy="2386484"/>
              <a:chOff x="846222" y="3421063"/>
              <a:chExt cx="2169694" cy="2386484"/>
            </a:xfrm>
          </p:grpSpPr>
          <p:sp>
            <p:nvSpPr>
              <p:cNvPr id="31" name="AutoShape 4"/>
              <p:cNvSpPr>
                <a:spLocks noChangeArrowheads="1"/>
              </p:cNvSpPr>
              <p:nvPr/>
            </p:nvSpPr>
            <p:spPr bwMode="auto">
              <a:xfrm>
                <a:off x="846222" y="3421063"/>
                <a:ext cx="2169694" cy="914400"/>
              </a:xfrm>
              <a:prstGeom prst="homePlate">
                <a:avLst>
                  <a:gd name="adj" fmla="val 47917"/>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latin typeface="Arial" charset="0"/>
                  </a:rPr>
                  <a:t>Define</a:t>
                </a:r>
              </a:p>
              <a:p>
                <a:pPr algn="ctr" eaLnBrk="1" hangingPunct="1"/>
                <a:r>
                  <a:rPr lang="en-US" sz="2000" dirty="0">
                    <a:latin typeface="Arial" charset="0"/>
                  </a:rPr>
                  <a:t>Objective</a:t>
                </a:r>
              </a:p>
            </p:txBody>
          </p:sp>
          <p:sp>
            <p:nvSpPr>
              <p:cNvPr id="32" name="Text Box 27"/>
              <p:cNvSpPr txBox="1">
                <a:spLocks noChangeArrowheads="1"/>
              </p:cNvSpPr>
              <p:nvPr/>
            </p:nvSpPr>
            <p:spPr bwMode="auto">
              <a:xfrm>
                <a:off x="846222" y="4394672"/>
                <a:ext cx="2169694" cy="1412875"/>
              </a:xfrm>
              <a:prstGeom prst="rect">
                <a:avLst/>
              </a:prstGeom>
              <a:noFill/>
              <a:ln w="9525">
                <a:noFill/>
                <a:miter lim="800000"/>
                <a:headEnd/>
                <a:tailEnd/>
              </a:ln>
              <a:effectLst/>
            </p:spPr>
            <p:txBody>
              <a:bodyPr wrap="square">
                <a:spAutoFit/>
              </a:bodyPr>
              <a:lstStyle/>
              <a:p>
                <a:pPr eaLnBrk="1" hangingPunct="1">
                  <a:lnSpc>
                    <a:spcPct val="120000"/>
                  </a:lnSpc>
                </a:pPr>
                <a:r>
                  <a:rPr lang="en-US" i="1" dirty="0">
                    <a:latin typeface="Arial" charset="0"/>
                  </a:rPr>
                  <a:t>Business/scientific</a:t>
                </a:r>
                <a:r>
                  <a:rPr lang="tr-TR" i="1" dirty="0">
                    <a:latin typeface="Arial" charset="0"/>
                  </a:rPr>
                  <a:t> </a:t>
                </a:r>
                <a:r>
                  <a:rPr lang="en-US" i="1" dirty="0">
                    <a:latin typeface="Arial" charset="0"/>
                  </a:rPr>
                  <a:t>objective</a:t>
                </a:r>
              </a:p>
              <a:p>
                <a:pPr eaLnBrk="1" hangingPunct="1">
                  <a:lnSpc>
                    <a:spcPct val="120000"/>
                  </a:lnSpc>
                </a:pPr>
                <a:r>
                  <a:rPr lang="en-US" i="1" dirty="0">
                    <a:latin typeface="Arial" charset="0"/>
                  </a:rPr>
                  <a:t>Data mining    objective</a:t>
                </a:r>
              </a:p>
            </p:txBody>
          </p:sp>
        </p:grpSp>
        <p:grpSp>
          <p:nvGrpSpPr>
            <p:cNvPr id="28" name="Group 27"/>
            <p:cNvGrpSpPr/>
            <p:nvPr/>
          </p:nvGrpSpPr>
          <p:grpSpPr>
            <a:xfrm>
              <a:off x="8829514" y="3805141"/>
              <a:ext cx="2000250" cy="1722438"/>
              <a:chOff x="8705879" y="3433762"/>
              <a:chExt cx="2000250" cy="1722438"/>
            </a:xfrm>
          </p:grpSpPr>
          <p:sp>
            <p:nvSpPr>
              <p:cNvPr id="29" name="AutoShape 7"/>
              <p:cNvSpPr>
                <a:spLocks noChangeArrowheads="1"/>
              </p:cNvSpPr>
              <p:nvPr/>
            </p:nvSpPr>
            <p:spPr bwMode="auto">
              <a:xfrm>
                <a:off x="8705879" y="3433762"/>
                <a:ext cx="2000250" cy="914400"/>
              </a:xfrm>
              <a:prstGeom prst="homePlate">
                <a:avLst>
                  <a:gd name="adj" fmla="val 47917"/>
                </a:avLst>
              </a:prstGeom>
              <a:solidFill>
                <a:schemeClr val="accent2"/>
              </a:solidFill>
              <a:ln w="9525">
                <a:solidFill>
                  <a:schemeClr val="tx1"/>
                </a:solidFill>
                <a:miter lim="800000"/>
                <a:headEnd/>
                <a:tailEnd/>
              </a:ln>
              <a:effectLst/>
            </p:spPr>
            <p:txBody>
              <a:bodyPr wrap="none" anchor="ctr"/>
              <a:lstStyle/>
              <a:p>
                <a:pPr algn="ctr" eaLnBrk="1" hangingPunct="1"/>
                <a:r>
                  <a:rPr lang="en-US" sz="2000" dirty="0">
                    <a:latin typeface="Arial" charset="0"/>
                  </a:rPr>
                  <a:t>Interpret</a:t>
                </a:r>
              </a:p>
              <a:p>
                <a:pPr algn="ctr" eaLnBrk="1" hangingPunct="1"/>
                <a:r>
                  <a:rPr lang="en-US" sz="2000" dirty="0">
                    <a:latin typeface="Arial" charset="0"/>
                  </a:rPr>
                  <a:t>Results</a:t>
                </a:r>
              </a:p>
            </p:txBody>
          </p:sp>
          <p:sp>
            <p:nvSpPr>
              <p:cNvPr id="30" name="Text Box 28"/>
              <p:cNvSpPr txBox="1">
                <a:spLocks noChangeArrowheads="1"/>
              </p:cNvSpPr>
              <p:nvPr/>
            </p:nvSpPr>
            <p:spPr bwMode="auto">
              <a:xfrm>
                <a:off x="8705879" y="4403725"/>
                <a:ext cx="2000250" cy="752475"/>
              </a:xfrm>
              <a:prstGeom prst="rect">
                <a:avLst/>
              </a:prstGeom>
              <a:noFill/>
              <a:ln w="9525">
                <a:noFill/>
                <a:miter lim="800000"/>
                <a:headEnd/>
                <a:tailEnd/>
              </a:ln>
              <a:effectLst/>
            </p:spPr>
            <p:txBody>
              <a:bodyPr wrap="none">
                <a:spAutoFit/>
              </a:bodyPr>
              <a:lstStyle/>
              <a:p>
                <a:pPr eaLnBrk="1" hangingPunct="1">
                  <a:lnSpc>
                    <a:spcPct val="120000"/>
                  </a:lnSpc>
                </a:pPr>
                <a:r>
                  <a:rPr lang="en-US" i="1" dirty="0">
                    <a:latin typeface="Arial" charset="0"/>
                  </a:rPr>
                  <a:t>Predictive models</a:t>
                </a:r>
              </a:p>
              <a:p>
                <a:pPr eaLnBrk="1" hangingPunct="1">
                  <a:lnSpc>
                    <a:spcPct val="120000"/>
                  </a:lnSpc>
                </a:pPr>
                <a:r>
                  <a:rPr lang="en-US" i="1" dirty="0">
                    <a:latin typeface="Arial" charset="0"/>
                  </a:rPr>
                  <a:t>Structural insights</a:t>
                </a:r>
              </a:p>
            </p:txBody>
          </p:sp>
        </p:grpSp>
      </p:grpSp>
    </p:spTree>
    <p:extLst>
      <p:ext uri="{BB962C8B-B14F-4D97-AF65-F5344CB8AC3E}">
        <p14:creationId xmlns:p14="http://schemas.microsoft.com/office/powerpoint/2010/main" val="651703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sz="3800" b="1" dirty="0"/>
              <a:t>Supervised Learning</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sz="2400" b="1" dirty="0">
                <a:latin typeface="Arial" panose="020B0604020202020204" pitchFamily="34" charset="0"/>
                <a:cs typeface="Arial" panose="020B0604020202020204" pitchFamily="34" charset="0"/>
              </a:rPr>
              <a:t>Data Set:</a:t>
            </a:r>
            <a:r>
              <a:rPr lang="en-US" sz="2400" dirty="0">
                <a:latin typeface="Arial" panose="020B0604020202020204" pitchFamily="34" charset="0"/>
                <a:cs typeface="Arial" panose="020B0604020202020204" pitchFamily="34" charset="0"/>
              </a:rPr>
              <a:t> Both the input features and the output(s) are available.</a:t>
            </a:r>
          </a:p>
          <a:p>
            <a:pPr>
              <a:lnSpc>
                <a:spcPct val="120000"/>
              </a:lnSpc>
              <a:spcBef>
                <a:spcPts val="600"/>
              </a:spcBef>
            </a:pPr>
            <a:r>
              <a:rPr lang="en-US" sz="2400" dirty="0">
                <a:latin typeface="Arial" panose="020B0604020202020204" pitchFamily="34" charset="0"/>
                <a:cs typeface="Arial" panose="020B0604020202020204" pitchFamily="34" charset="0"/>
              </a:rPr>
              <a:t>The question that is addressed is "</a:t>
            </a:r>
            <a:r>
              <a:rPr lang="en-US" sz="2400" dirty="0">
                <a:solidFill>
                  <a:srgbClr val="00B0F0"/>
                </a:solidFill>
                <a:latin typeface="Arial" panose="020B0604020202020204" pitchFamily="34" charset="0"/>
                <a:cs typeface="Arial" panose="020B0604020202020204" pitchFamily="34" charset="0"/>
              </a:rPr>
              <a:t>For which values of input features, we obtain a particular output value?</a:t>
            </a:r>
            <a:r>
              <a:rPr lang="en-US" sz="2400" dirty="0">
                <a:latin typeface="Arial" panose="020B0604020202020204" pitchFamily="34" charset="0"/>
                <a:cs typeface="Arial" panose="020B0604020202020204" pitchFamily="34" charset="0"/>
              </a:rPr>
              <a:t>", so that we can infer/deduce for an unseen case and/or future (i.e., </a:t>
            </a:r>
            <a:r>
              <a:rPr lang="en-US" sz="2400" i="1" dirty="0">
                <a:latin typeface="Arial" panose="020B0604020202020204" pitchFamily="34" charset="0"/>
                <a:cs typeface="Arial" panose="020B0604020202020204" pitchFamily="34" charset="0"/>
              </a:rPr>
              <a:t>population</a:t>
            </a:r>
            <a:r>
              <a:rPr lang="en-US" sz="2400" dirty="0">
                <a:latin typeface="Arial" panose="020B0604020202020204" pitchFamily="34" charset="0"/>
                <a:cs typeface="Arial" panose="020B0604020202020204" pitchFamily="34" charset="0"/>
              </a:rPr>
              <a:t>). </a:t>
            </a:r>
          </a:p>
          <a:p>
            <a:pPr>
              <a:lnSpc>
                <a:spcPct val="120000"/>
              </a:lnSpc>
              <a:spcBef>
                <a:spcPts val="600"/>
              </a:spcBef>
            </a:pPr>
            <a:r>
              <a:rPr lang="en-US" sz="2400" dirty="0">
                <a:latin typeface="Arial" panose="020B0604020202020204" pitchFamily="34" charset="0"/>
                <a:cs typeface="Arial" panose="020B0604020202020204" pitchFamily="34" charset="0"/>
              </a:rPr>
              <a:t>The goal is to determine the hidden relationships between the input features and the outputs.</a:t>
            </a:r>
          </a:p>
          <a:p>
            <a:pPr>
              <a:lnSpc>
                <a:spcPct val="120000"/>
              </a:lnSpc>
              <a:spcBef>
                <a:spcPts val="600"/>
              </a:spcBef>
            </a:pPr>
            <a:r>
              <a:rPr lang="en-US" sz="2400" dirty="0">
                <a:latin typeface="Arial" panose="020B0604020202020204" pitchFamily="34" charset="0"/>
                <a:cs typeface="Arial" panose="020B0604020202020204" pitchFamily="34" charset="0"/>
              </a:rPr>
              <a:t>Supervised Learning has a central role in the context of </a:t>
            </a:r>
            <a:r>
              <a:rPr lang="en-US" sz="2400" i="1" dirty="0">
                <a:latin typeface="Arial" panose="020B0604020202020204" pitchFamily="34" charset="0"/>
                <a:cs typeface="Arial" panose="020B0604020202020204" pitchFamily="34" charset="0"/>
              </a:rPr>
              <a:t>Predictive Analytics</a:t>
            </a:r>
            <a:r>
              <a:rPr lang="en-US" sz="2400" dirty="0">
                <a:latin typeface="Arial" panose="020B0604020202020204" pitchFamily="34" charset="0"/>
                <a:cs typeface="Arial" panose="020B0604020202020204" pitchFamily="34" charset="0"/>
              </a:rPr>
              <a:t>.</a:t>
            </a:r>
          </a:p>
          <a:p>
            <a:pPr>
              <a:lnSpc>
                <a:spcPct val="120000"/>
              </a:lnSpc>
              <a:spcBef>
                <a:spcPts val="600"/>
              </a:spcBef>
            </a:pPr>
            <a:r>
              <a:rPr lang="en-US" sz="2400" dirty="0">
                <a:latin typeface="Arial" panose="020B0604020202020204" pitchFamily="34" charset="0"/>
                <a:cs typeface="Arial" panose="020B0604020202020204" pitchFamily="34" charset="0"/>
              </a:rPr>
              <a:t>Output(s) might be numerical data (in this case we refer to the problem as </a:t>
            </a:r>
            <a:r>
              <a:rPr lang="en-US" sz="2400" b="1" dirty="0">
                <a:latin typeface="Arial" panose="020B0604020202020204" pitchFamily="34" charset="0"/>
                <a:cs typeface="Arial" panose="020B0604020202020204" pitchFamily="34" charset="0"/>
              </a:rPr>
              <a:t>Regression</a:t>
            </a:r>
            <a:r>
              <a:rPr lang="en-US" sz="2400" dirty="0">
                <a:latin typeface="Arial" panose="020B0604020202020204" pitchFamily="34" charset="0"/>
                <a:cs typeface="Arial" panose="020B0604020202020204" pitchFamily="34" charset="0"/>
              </a:rPr>
              <a:t>) or categorical, i.e., </a:t>
            </a:r>
            <a:r>
              <a:rPr lang="en-US" sz="2400" i="1" dirty="0">
                <a:latin typeface="Arial" panose="020B0604020202020204" pitchFamily="34" charset="0"/>
                <a:cs typeface="Arial" panose="020B0604020202020204" pitchFamily="34" charset="0"/>
              </a:rPr>
              <a:t>nominal</a:t>
            </a:r>
            <a:r>
              <a:rPr lang="en-US" sz="2400" dirty="0">
                <a:latin typeface="Arial" panose="020B0604020202020204" pitchFamily="34" charset="0"/>
                <a:cs typeface="Arial" panose="020B0604020202020204" pitchFamily="34" charset="0"/>
              </a:rPr>
              <a:t> or </a:t>
            </a:r>
            <a:r>
              <a:rPr lang="en-US" sz="2400" i="1" dirty="0">
                <a:latin typeface="Arial" panose="020B0604020202020204" pitchFamily="34" charset="0"/>
                <a:cs typeface="Arial" panose="020B0604020202020204" pitchFamily="34" charset="0"/>
              </a:rPr>
              <a:t>ordinal</a:t>
            </a:r>
            <a:r>
              <a:rPr lang="en-US" sz="2400" dirty="0">
                <a:latin typeface="Arial" panose="020B0604020202020204" pitchFamily="34" charset="0"/>
                <a:cs typeface="Arial" panose="020B0604020202020204" pitchFamily="34" charset="0"/>
              </a:rPr>
              <a:t> (in this case we refer to the problem as </a:t>
            </a:r>
            <a:r>
              <a:rPr lang="en-US" sz="2400" b="1" dirty="0">
                <a:latin typeface="Arial" panose="020B0604020202020204" pitchFamily="34" charset="0"/>
                <a:cs typeface="Arial" panose="020B0604020202020204" pitchFamily="34" charset="0"/>
              </a:rPr>
              <a:t>Classification)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8531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tr-TR" b="1" dirty="0"/>
              <a:t>Data: </a:t>
            </a:r>
            <a:r>
              <a:rPr lang="en-US" b="1" dirty="0"/>
              <a:t>Supervised Learning</a:t>
            </a:r>
            <a:endParaRPr lang="en-US" dirty="0"/>
          </a:p>
        </p:txBody>
      </p:sp>
      <p:grpSp>
        <p:nvGrpSpPr>
          <p:cNvPr id="24" name="Group 22"/>
          <p:cNvGrpSpPr>
            <a:grpSpLocks/>
          </p:cNvGrpSpPr>
          <p:nvPr/>
        </p:nvGrpSpPr>
        <p:grpSpPr bwMode="auto">
          <a:xfrm>
            <a:off x="838200" y="1690688"/>
            <a:ext cx="8223913" cy="3846891"/>
            <a:chOff x="685800" y="3276600"/>
            <a:chExt cx="7595652" cy="3276600"/>
          </a:xfrm>
        </p:grpSpPr>
        <p:sp>
          <p:nvSpPr>
            <p:cNvPr id="25" name="Rectangle 4"/>
            <p:cNvSpPr>
              <a:spLocks noChangeArrowheads="1"/>
            </p:cNvSpPr>
            <p:nvPr/>
          </p:nvSpPr>
          <p:spPr bwMode="auto">
            <a:xfrm>
              <a:off x="1336675" y="3887787"/>
              <a:ext cx="6276975" cy="2633663"/>
            </a:xfrm>
            <a:prstGeom prst="rect">
              <a:avLst/>
            </a:prstGeom>
            <a:solidFill>
              <a:srgbClr val="F5B4A9"/>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a:p>
          </p:txBody>
        </p:sp>
        <p:sp>
          <p:nvSpPr>
            <p:cNvPr id="26" name="Text Box 5"/>
            <p:cNvSpPr txBox="1">
              <a:spLocks noChangeArrowheads="1"/>
            </p:cNvSpPr>
            <p:nvPr/>
          </p:nvSpPr>
          <p:spPr bwMode="auto">
            <a:xfrm>
              <a:off x="4419600" y="4724400"/>
              <a:ext cx="20335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spcBef>
                  <a:spcPct val="50000"/>
                </a:spcBef>
              </a:pPr>
              <a:r>
                <a:rPr lang="en-US" altLang="en-US" sz="3600"/>
                <a:t>X</a:t>
              </a:r>
            </a:p>
          </p:txBody>
        </p:sp>
        <p:sp>
          <p:nvSpPr>
            <p:cNvPr id="27" name="Line 6"/>
            <p:cNvSpPr>
              <a:spLocks noChangeShapeType="1"/>
            </p:cNvSpPr>
            <p:nvPr/>
          </p:nvSpPr>
          <p:spPr bwMode="auto">
            <a:xfrm>
              <a:off x="1322387" y="3738562"/>
              <a:ext cx="63055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Text Box 7"/>
            <p:cNvSpPr txBox="1">
              <a:spLocks noChangeArrowheads="1"/>
            </p:cNvSpPr>
            <p:nvPr/>
          </p:nvSpPr>
          <p:spPr bwMode="auto">
            <a:xfrm>
              <a:off x="4343400" y="3309937"/>
              <a:ext cx="367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a:solidFill>
                    <a:srgbClr val="FF0000"/>
                  </a:solidFill>
                </a:rPr>
                <a:t>m</a:t>
              </a:r>
              <a:endParaRPr lang="en-US" altLang="en-US">
                <a:solidFill>
                  <a:srgbClr val="FF0000"/>
                </a:solidFill>
              </a:endParaRPr>
            </a:p>
          </p:txBody>
        </p:sp>
        <p:sp>
          <p:nvSpPr>
            <p:cNvPr id="29" name="Line 8"/>
            <p:cNvSpPr>
              <a:spLocks noChangeShapeType="1"/>
            </p:cNvSpPr>
            <p:nvPr/>
          </p:nvSpPr>
          <p:spPr bwMode="auto">
            <a:xfrm flipH="1">
              <a:off x="1162050" y="3863975"/>
              <a:ext cx="0" cy="26892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Text Box 9"/>
            <p:cNvSpPr txBox="1">
              <a:spLocks noChangeArrowheads="1"/>
            </p:cNvSpPr>
            <p:nvPr/>
          </p:nvSpPr>
          <p:spPr bwMode="auto">
            <a:xfrm>
              <a:off x="685800" y="4941887"/>
              <a:ext cx="3096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i="1">
                  <a:solidFill>
                    <a:srgbClr val="FF0000"/>
                  </a:solidFill>
                </a:rPr>
                <a:t>n</a:t>
              </a:r>
              <a:endParaRPr lang="en-US" altLang="en-US" i="1">
                <a:solidFill>
                  <a:srgbClr val="FF0000"/>
                </a:solidFill>
              </a:endParaRPr>
            </a:p>
          </p:txBody>
        </p:sp>
        <p:grpSp>
          <p:nvGrpSpPr>
            <p:cNvPr id="31" name="Group 10"/>
            <p:cNvGrpSpPr>
              <a:grpSpLocks/>
            </p:cNvGrpSpPr>
            <p:nvPr/>
          </p:nvGrpSpPr>
          <p:grpSpPr bwMode="auto">
            <a:xfrm>
              <a:off x="1336675" y="3887787"/>
              <a:ext cx="1271587" cy="2633663"/>
              <a:chOff x="1023" y="2450"/>
              <a:chExt cx="801" cy="1659"/>
            </a:xfrm>
          </p:grpSpPr>
          <p:grpSp>
            <p:nvGrpSpPr>
              <p:cNvPr id="37" name="Group 11"/>
              <p:cNvGrpSpPr>
                <a:grpSpLocks/>
              </p:cNvGrpSpPr>
              <p:nvPr/>
            </p:nvGrpSpPr>
            <p:grpSpPr bwMode="auto">
              <a:xfrm>
                <a:off x="1023" y="2450"/>
                <a:ext cx="801" cy="1659"/>
                <a:chOff x="1023" y="2450"/>
                <a:chExt cx="801" cy="1659"/>
              </a:xfrm>
            </p:grpSpPr>
            <p:sp>
              <p:nvSpPr>
                <p:cNvPr id="39" name="Rectangle 12"/>
                <p:cNvSpPr>
                  <a:spLocks noChangeArrowheads="1"/>
                </p:cNvSpPr>
                <p:nvPr/>
              </p:nvSpPr>
              <p:spPr bwMode="auto">
                <a:xfrm>
                  <a:off x="1023" y="2450"/>
                  <a:ext cx="800" cy="1659"/>
                </a:xfrm>
                <a:prstGeom prst="rect">
                  <a:avLst/>
                </a:prstGeom>
                <a:solidFill>
                  <a:srgbClr val="64BC79"/>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a:p>
              </p:txBody>
            </p:sp>
            <p:sp>
              <p:nvSpPr>
                <p:cNvPr id="40" name="Line 13"/>
                <p:cNvSpPr>
                  <a:spLocks noChangeShapeType="1"/>
                </p:cNvSpPr>
                <p:nvPr/>
              </p:nvSpPr>
              <p:spPr bwMode="auto">
                <a:xfrm>
                  <a:off x="1033" y="2761"/>
                  <a:ext cx="791"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8" name="Text Box 14"/>
              <p:cNvSpPr txBox="1">
                <a:spLocks noChangeArrowheads="1"/>
              </p:cNvSpPr>
              <p:nvPr/>
            </p:nvSpPr>
            <p:spPr bwMode="auto">
              <a:xfrm>
                <a:off x="1310" y="2486"/>
                <a:ext cx="1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a:solidFill>
                      <a:srgbClr val="FF0000"/>
                    </a:solidFill>
                  </a:rPr>
                  <a:t>k</a:t>
                </a:r>
                <a:endParaRPr lang="en-US" altLang="en-US">
                  <a:solidFill>
                    <a:srgbClr val="FF0000"/>
                  </a:solidFill>
                </a:endParaRPr>
              </a:p>
            </p:txBody>
          </p:sp>
        </p:grpSp>
        <p:grpSp>
          <p:nvGrpSpPr>
            <p:cNvPr id="32" name="Group 10"/>
            <p:cNvGrpSpPr>
              <a:grpSpLocks/>
            </p:cNvGrpSpPr>
            <p:nvPr/>
          </p:nvGrpSpPr>
          <p:grpSpPr bwMode="auto">
            <a:xfrm>
              <a:off x="7848065" y="3276600"/>
              <a:ext cx="433387" cy="3243263"/>
              <a:chOff x="978" y="2114"/>
              <a:chExt cx="801" cy="2043"/>
            </a:xfrm>
          </p:grpSpPr>
          <p:sp>
            <p:nvSpPr>
              <p:cNvPr id="35" name="Rectangle 12"/>
              <p:cNvSpPr>
                <a:spLocks noChangeArrowheads="1"/>
              </p:cNvSpPr>
              <p:nvPr/>
            </p:nvSpPr>
            <p:spPr bwMode="auto">
              <a:xfrm>
                <a:off x="978" y="2498"/>
                <a:ext cx="801" cy="1659"/>
              </a:xfrm>
              <a:prstGeom prst="rect">
                <a:avLst/>
              </a:prstGeom>
              <a:solidFill>
                <a:schemeClr val="accent4">
                  <a:lumMod val="40000"/>
                  <a:lumOff val="60000"/>
                </a:schemeClr>
              </a:solidFill>
              <a:ln w="9525">
                <a:solidFill>
                  <a:schemeClr val="tx1"/>
                </a:solidFill>
                <a:miter lim="800000"/>
                <a:headEnd/>
                <a:tailEnd/>
              </a:ln>
              <a:effectLst/>
            </p:spPr>
            <p:txBody>
              <a:bodyPr wrap="none" anchor="ctr"/>
              <a:lstStyle/>
              <a:p>
                <a:pPr>
                  <a:defRPr/>
                </a:pPr>
                <a:endParaRPr lang="en-US"/>
              </a:p>
            </p:txBody>
          </p:sp>
          <p:sp>
            <p:nvSpPr>
              <p:cNvPr id="36" name="Text Box 14"/>
              <p:cNvSpPr txBox="1">
                <a:spLocks noChangeArrowheads="1"/>
              </p:cNvSpPr>
              <p:nvPr/>
            </p:nvSpPr>
            <p:spPr bwMode="auto">
              <a:xfrm>
                <a:off x="1126" y="2114"/>
                <a:ext cx="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a:solidFill>
                      <a:srgbClr val="FF0000"/>
                    </a:solidFill>
                  </a:rPr>
                  <a:t>1</a:t>
                </a:r>
                <a:endParaRPr lang="en-US" altLang="en-US">
                  <a:solidFill>
                    <a:srgbClr val="FF0000"/>
                  </a:solidFill>
                </a:endParaRPr>
              </a:p>
            </p:txBody>
          </p:sp>
        </p:grpSp>
        <p:sp>
          <p:nvSpPr>
            <p:cNvPr id="33" name="Line 13"/>
            <p:cNvSpPr>
              <a:spLocks noChangeShapeType="1"/>
            </p:cNvSpPr>
            <p:nvPr/>
          </p:nvSpPr>
          <p:spPr bwMode="auto">
            <a:xfrm>
              <a:off x="7848600" y="3733800"/>
              <a:ext cx="42797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Text Box 5"/>
            <p:cNvSpPr txBox="1">
              <a:spLocks noChangeArrowheads="1"/>
            </p:cNvSpPr>
            <p:nvPr/>
          </p:nvSpPr>
          <p:spPr bwMode="auto">
            <a:xfrm>
              <a:off x="7848600" y="4572000"/>
              <a:ext cx="381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spcBef>
                  <a:spcPct val="50000"/>
                </a:spcBef>
              </a:pPr>
              <a:r>
                <a:rPr lang="tr-TR" altLang="en-US" sz="3600"/>
                <a:t>y</a:t>
              </a:r>
              <a:endParaRPr lang="en-US" altLang="en-US" sz="3600"/>
            </a:p>
          </p:txBody>
        </p:sp>
      </p:grpSp>
    </p:spTree>
    <p:extLst>
      <p:ext uri="{BB962C8B-B14F-4D97-AF65-F5344CB8AC3E}">
        <p14:creationId xmlns:p14="http://schemas.microsoft.com/office/powerpoint/2010/main" val="323928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Validation of the Models: Motivation</a:t>
            </a:r>
          </a:p>
        </p:txBody>
      </p:sp>
      <p:sp>
        <p:nvSpPr>
          <p:cNvPr id="20483" name="Rectangle 3"/>
          <p:cNvSpPr>
            <a:spLocks noGrp="1" noChangeArrowheads="1"/>
          </p:cNvSpPr>
          <p:nvPr>
            <p:ph type="body" idx="1"/>
          </p:nvPr>
        </p:nvSpPr>
        <p:spPr/>
        <p:txBody>
          <a:bodyPr>
            <a:normAutofit/>
          </a:bodyPr>
          <a:lstStyle/>
          <a:p>
            <a:pPr algn="just">
              <a:lnSpc>
                <a:spcPct val="120000"/>
              </a:lnSpc>
              <a:spcBef>
                <a:spcPts val="600"/>
              </a:spcBef>
            </a:pPr>
            <a:r>
              <a:rPr lang="en-US" sz="2400" dirty="0">
                <a:latin typeface="Arial" panose="020B0604020202020204" pitchFamily="34" charset="0"/>
                <a:cs typeface="Arial" panose="020B0604020202020204" pitchFamily="34" charset="0"/>
              </a:rPr>
              <a:t>It is important to evaluate methods’ (i.e., classifiers and regression algorithms’) generalization performance in order to:</a:t>
            </a:r>
          </a:p>
          <a:p>
            <a:pPr lvl="1" algn="just">
              <a:lnSpc>
                <a:spcPct val="120000"/>
              </a:lnSpc>
              <a:spcBef>
                <a:spcPts val="600"/>
              </a:spcBef>
            </a:pPr>
            <a:r>
              <a:rPr lang="en-US" dirty="0">
                <a:latin typeface="Arial" panose="020B0604020202020204" pitchFamily="34" charset="0"/>
                <a:cs typeface="Arial" panose="020B0604020202020204" pitchFamily="34" charset="0"/>
              </a:rPr>
              <a:t>Determine whether to employ the method:</a:t>
            </a:r>
          </a:p>
          <a:p>
            <a:pPr lvl="1" algn="just">
              <a:lnSpc>
                <a:spcPct val="120000"/>
              </a:lnSpc>
              <a:spcBef>
                <a:spcPts val="600"/>
              </a:spcBef>
              <a:buFontTx/>
              <a:buNone/>
            </a:pP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For example: when learning the effectiveness of medical treatments from a limited-size data, it is important to estimate the accuracy of the classifiers.</a:t>
            </a:r>
            <a:r>
              <a:rPr lang="en-US" dirty="0">
                <a:latin typeface="Arial" panose="020B0604020202020204" pitchFamily="34" charset="0"/>
                <a:cs typeface="Arial" panose="020B0604020202020204" pitchFamily="34" charset="0"/>
              </a:rPr>
              <a:t>)</a:t>
            </a:r>
          </a:p>
          <a:p>
            <a:pPr lvl="1" algn="just">
              <a:lnSpc>
                <a:spcPct val="120000"/>
              </a:lnSpc>
              <a:spcBef>
                <a:spcPts val="600"/>
              </a:spcBef>
            </a:pPr>
            <a:r>
              <a:rPr lang="en-US" dirty="0">
                <a:latin typeface="Arial" panose="020B0604020202020204" pitchFamily="34" charset="0"/>
                <a:cs typeface="Arial" panose="020B0604020202020204" pitchFamily="34" charset="0"/>
              </a:rPr>
              <a:t>Fine-tune/optimize the method:</a:t>
            </a:r>
          </a:p>
          <a:p>
            <a:pPr lvl="1" algn="just">
              <a:lnSpc>
                <a:spcPct val="120000"/>
              </a:lnSpc>
              <a:spcBef>
                <a:spcPts val="600"/>
              </a:spcBef>
              <a:buFontTx/>
              <a:buNone/>
            </a:pP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For example: when post-pruning decision trees we must evaluate the accuracy of the decision trees on each pruning step.</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7710156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Knowledge Discovery in Databases </a:t>
            </a:r>
            <a:br>
              <a:rPr lang="tr-TR" b="1" dirty="0"/>
            </a:br>
            <a:r>
              <a:rPr lang="en-US" b="1" dirty="0"/>
              <a:t>(KDD)</a:t>
            </a:r>
            <a:endParaRPr lang="en-US" dirty="0"/>
          </a:p>
        </p:txBody>
      </p:sp>
      <p:sp>
        <p:nvSpPr>
          <p:cNvPr id="14" name="Content Placeholder 13"/>
          <p:cNvSpPr>
            <a:spLocks noGrp="1"/>
          </p:cNvSpPr>
          <p:nvPr>
            <p:ph idx="1"/>
          </p:nvPr>
        </p:nvSpPr>
        <p:spPr>
          <a:xfrm>
            <a:off x="838200" y="1825625"/>
            <a:ext cx="10515600" cy="4634810"/>
          </a:xfrm>
        </p:spPr>
        <p:txBody>
          <a:bodyPr>
            <a:normAutofit/>
          </a:bodyPr>
          <a:lstStyle/>
          <a:p>
            <a:pPr marL="0" indent="0">
              <a:lnSpc>
                <a:spcPct val="120000"/>
              </a:lnSpc>
              <a:spcBef>
                <a:spcPts val="0"/>
              </a:spcBef>
              <a:buNone/>
            </a:pPr>
            <a:r>
              <a:rPr lang="en-US" sz="6200"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a:p>
            <a:pPr marL="0" lvl="0" indent="0">
              <a:lnSpc>
                <a:spcPct val="120000"/>
              </a:lnSpc>
              <a:spcBef>
                <a:spcPts val="0"/>
              </a:spcBef>
              <a:buNone/>
            </a:pPr>
            <a:endParaRPr lang="en-US" sz="3600" dirty="0">
              <a:latin typeface="Arial" panose="020B0604020202020204" pitchFamily="34" charset="0"/>
              <a:cs typeface="Arial" panose="020B0604020202020204" pitchFamily="34" charset="0"/>
            </a:endParaRPr>
          </a:p>
          <a:p>
            <a:pPr lvl="0"/>
            <a:endParaRPr lang="en-US" dirty="0"/>
          </a:p>
        </p:txBody>
      </p:sp>
      <p:sp>
        <p:nvSpPr>
          <p:cNvPr id="6" name="Text Box 9"/>
          <p:cNvSpPr txBox="1">
            <a:spLocks noChangeArrowheads="1"/>
          </p:cNvSpPr>
          <p:nvPr/>
        </p:nvSpPr>
        <p:spPr bwMode="auto">
          <a:xfrm>
            <a:off x="3596897" y="6318145"/>
            <a:ext cx="3200400" cy="394210"/>
          </a:xfrm>
          <a:prstGeom prst="rect">
            <a:avLst/>
          </a:prstGeom>
          <a:noFill/>
          <a:ln w="9525">
            <a:noFill/>
            <a:miter lim="800000"/>
            <a:headEnd/>
            <a:tailEnd/>
          </a:ln>
          <a:effectLst/>
        </p:spPr>
        <p:txBody>
          <a:bodyPr wrap="square">
            <a:spAutoFit/>
          </a:bodyPr>
          <a:lstStyle/>
          <a:p>
            <a:pPr eaLnBrk="1" hangingPunct="1">
              <a:lnSpc>
                <a:spcPct val="120000"/>
              </a:lnSpc>
            </a:pPr>
            <a:r>
              <a:rPr lang="en-US" i="1" dirty="0">
                <a:solidFill>
                  <a:schemeClr val="bg1">
                    <a:lumMod val="50000"/>
                  </a:schemeClr>
                </a:solidFill>
                <a:latin typeface="Arial" charset="0"/>
              </a:rPr>
              <a:t>Source: (Fayyad et al., 1996)</a:t>
            </a:r>
          </a:p>
        </p:txBody>
      </p:sp>
      <p:pic>
        <p:nvPicPr>
          <p:cNvPr id="9" name="Picture 2"/>
          <p:cNvPicPr>
            <a:picLocks noChangeAspect="1" noChangeArrowheads="1"/>
          </p:cNvPicPr>
          <p:nvPr/>
        </p:nvPicPr>
        <p:blipFill>
          <a:blip r:embed="rId2" cstate="print"/>
          <a:srcRect l="7731" t="16250" r="8433" b="6250"/>
          <a:stretch>
            <a:fillRect/>
          </a:stretch>
        </p:blipFill>
        <p:spPr bwMode="auto">
          <a:xfrm>
            <a:off x="929897" y="1669946"/>
            <a:ext cx="8566364" cy="4452257"/>
          </a:xfrm>
          <a:prstGeom prst="rect">
            <a:avLst/>
          </a:prstGeom>
          <a:noFill/>
          <a:ln w="9525">
            <a:noFill/>
            <a:miter lim="800000"/>
            <a:headEnd/>
            <a:tailEnd/>
          </a:ln>
        </p:spPr>
      </p:pic>
      <p:sp>
        <p:nvSpPr>
          <p:cNvPr id="7" name="AutoShape 56"/>
          <p:cNvSpPr>
            <a:spLocks noChangeArrowheads="1"/>
          </p:cNvSpPr>
          <p:nvPr/>
        </p:nvSpPr>
        <p:spPr bwMode="auto">
          <a:xfrm rot="-1630494" flipV="1">
            <a:off x="7125052" y="1613832"/>
            <a:ext cx="299124" cy="604093"/>
          </a:xfrm>
          <a:prstGeom prst="upArrow">
            <a:avLst>
              <a:gd name="adj1" fmla="val 50000"/>
              <a:gd name="adj2" fmla="val 50245"/>
            </a:avLst>
          </a:prstGeom>
          <a:solidFill>
            <a:srgbClr val="FF0000"/>
          </a:solidFill>
          <a:ln w="9525">
            <a:solidFill>
              <a:srgbClr val="FF0000"/>
            </a:solidFill>
            <a:miter lim="800000"/>
            <a:headEnd/>
            <a:tailEnd type="none" w="lg" len="lg"/>
          </a:ln>
        </p:spPr>
        <p:txBody>
          <a:bodyPr wrap="square" anchor="ctr">
            <a:spAutoFit/>
          </a:bodyPr>
          <a:lstStyle/>
          <a:p>
            <a:endParaRPr lang="en-US">
              <a:latin typeface="Calibri" pitchFamily="34" charset="0"/>
            </a:endParaRPr>
          </a:p>
        </p:txBody>
      </p:sp>
      <p:sp>
        <p:nvSpPr>
          <p:cNvPr id="2" name="Oval 1"/>
          <p:cNvSpPr/>
          <p:nvPr/>
        </p:nvSpPr>
        <p:spPr>
          <a:xfrm>
            <a:off x="6729060" y="2252890"/>
            <a:ext cx="1500542" cy="61217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276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Performance of the Methods</a:t>
            </a:r>
          </a:p>
        </p:txBody>
      </p:sp>
      <p:sp>
        <p:nvSpPr>
          <p:cNvPr id="20483" name="Rectangle 3"/>
          <p:cNvSpPr>
            <a:spLocks noGrp="1" noChangeArrowheads="1"/>
          </p:cNvSpPr>
          <p:nvPr>
            <p:ph type="body" idx="1"/>
          </p:nvPr>
        </p:nvSpPr>
        <p:spPr>
          <a:xfrm>
            <a:off x="838200" y="1825625"/>
            <a:ext cx="10515600" cy="4836432"/>
          </a:xfrm>
        </p:spPr>
        <p:txBody>
          <a:bodyPr>
            <a:noAutofit/>
          </a:bodyPr>
          <a:lstStyle/>
          <a:p>
            <a:pPr lvl="0">
              <a:lnSpc>
                <a:spcPct val="120000"/>
              </a:lnSpc>
              <a:spcBef>
                <a:spcPts val="600"/>
              </a:spcBef>
            </a:pPr>
            <a:r>
              <a:rPr lang="en-US" sz="2200" dirty="0">
                <a:latin typeface="Arial" panose="020B0604020202020204" pitchFamily="34" charset="0"/>
                <a:cs typeface="Arial" panose="020B0604020202020204" pitchFamily="34" charset="0"/>
              </a:rPr>
              <a:t>In practice there are two major criteria that we can use to choose the methods:</a:t>
            </a:r>
          </a:p>
          <a:p>
            <a:pPr lvl="1">
              <a:lnSpc>
                <a:spcPct val="120000"/>
              </a:lnSpc>
              <a:spcBef>
                <a:spcPts val="600"/>
              </a:spcBef>
            </a:pPr>
            <a:r>
              <a:rPr lang="en-US" sz="2200" dirty="0">
                <a:latin typeface="Arial" panose="020B0604020202020204" pitchFamily="34" charset="0"/>
                <a:cs typeface="Arial" panose="020B0604020202020204" pitchFamily="34" charset="0"/>
              </a:rPr>
              <a:t>Predictive Performance</a:t>
            </a:r>
          </a:p>
          <a:p>
            <a:pPr lvl="1">
              <a:lnSpc>
                <a:spcPct val="120000"/>
              </a:lnSpc>
              <a:spcBef>
                <a:spcPts val="600"/>
              </a:spcBef>
            </a:pPr>
            <a:r>
              <a:rPr lang="en-US" sz="2200" dirty="0">
                <a:latin typeface="Arial" panose="020B0604020202020204" pitchFamily="34" charset="0"/>
                <a:cs typeface="Arial" panose="020B0604020202020204" pitchFamily="34" charset="0"/>
              </a:rPr>
              <a:t>Descriptiveness / Explainability / Transparency</a:t>
            </a:r>
          </a:p>
          <a:p>
            <a:pPr>
              <a:lnSpc>
                <a:spcPct val="120000"/>
              </a:lnSpc>
              <a:spcBef>
                <a:spcPts val="600"/>
              </a:spcBef>
            </a:pPr>
            <a:r>
              <a:rPr lang="en-US" sz="2200" dirty="0">
                <a:latin typeface="Arial" panose="020B0604020202020204" pitchFamily="34" charset="0"/>
                <a:cs typeface="Arial" panose="020B0604020202020204" pitchFamily="34" charset="0"/>
              </a:rPr>
              <a:t>Particularly for security, health management etc., the explainability, i.e. the transparency of the method is highly desirable.</a:t>
            </a:r>
          </a:p>
          <a:p>
            <a:pPr>
              <a:lnSpc>
                <a:spcPct val="120000"/>
              </a:lnSpc>
              <a:spcBef>
                <a:spcPts val="600"/>
              </a:spcBef>
            </a:pPr>
            <a:r>
              <a:rPr lang="en-US" sz="2200" b="1" dirty="0">
                <a:latin typeface="Arial" panose="020B0604020202020204" pitchFamily="34" charset="0"/>
                <a:cs typeface="Arial" panose="020B0604020202020204" pitchFamily="34" charset="0"/>
              </a:rPr>
              <a:t>One can sacrifice from the predictive performance and prefer methods that are descriptive in such applications.</a:t>
            </a:r>
          </a:p>
          <a:p>
            <a:pPr>
              <a:lnSpc>
                <a:spcPct val="120000"/>
              </a:lnSpc>
              <a:spcBef>
                <a:spcPts val="600"/>
              </a:spcBef>
            </a:pPr>
            <a:r>
              <a:rPr lang="en-US" sz="2200" dirty="0">
                <a:latin typeface="Arial" panose="020B0604020202020204" pitchFamily="34" charset="0"/>
                <a:cs typeface="Arial" panose="020B0604020202020204" pitchFamily="34" charset="0"/>
              </a:rPr>
              <a:t>How can we measure the predictive performance of the methods?</a:t>
            </a:r>
          </a:p>
          <a:p>
            <a:pPr>
              <a:lnSpc>
                <a:spcPct val="120000"/>
              </a:lnSpc>
              <a:spcBef>
                <a:spcPts val="600"/>
              </a:spcBef>
            </a:pPr>
            <a:r>
              <a:rPr lang="en-US" sz="2200" dirty="0">
                <a:solidFill>
                  <a:srgbClr val="00B050"/>
                </a:solidFill>
                <a:latin typeface="Arial" panose="020B0604020202020204" pitchFamily="34" charset="0"/>
                <a:cs typeface="Arial" panose="020B0604020202020204" pitchFamily="34" charset="0"/>
              </a:rPr>
              <a:t>What are the metrics and the methods that we can use to assess these metrics?</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388214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solidFill>
                  <a:srgbClr val="00B050"/>
                </a:solidFill>
              </a:rPr>
              <a:t>SMART</a:t>
            </a:r>
            <a:r>
              <a:rPr lang="en-US" b="1" dirty="0"/>
              <a:t> Metrics</a:t>
            </a:r>
          </a:p>
        </p:txBody>
      </p:sp>
      <p:sp>
        <p:nvSpPr>
          <p:cNvPr id="20483" name="Rectangle 3"/>
          <p:cNvSpPr>
            <a:spLocks noGrp="1" noChangeArrowheads="1"/>
          </p:cNvSpPr>
          <p:nvPr>
            <p:ph type="body" idx="1"/>
          </p:nvPr>
        </p:nvSpPr>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In general one should prefer SMART metrics as Key Performance Indicator (KPIs). </a:t>
            </a:r>
          </a:p>
          <a:p>
            <a:pPr>
              <a:lnSpc>
                <a:spcPct val="120000"/>
              </a:lnSpc>
              <a:spcBef>
                <a:spcPts val="600"/>
              </a:spcBef>
            </a:pPr>
            <a:r>
              <a:rPr lang="en-US" sz="2400" b="1" dirty="0">
                <a:solidFill>
                  <a:srgbClr val="00B050"/>
                </a:solidFill>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pecific – </a:t>
            </a:r>
            <a:r>
              <a:rPr lang="en-US" sz="2400" b="1" dirty="0">
                <a:solidFill>
                  <a:srgbClr val="00B050"/>
                </a:solidFill>
                <a:latin typeface="Arial" panose="020B0604020202020204" pitchFamily="34" charset="0"/>
                <a:cs typeface="Arial" panose="020B0604020202020204" pitchFamily="34" charset="0"/>
              </a:rPr>
              <a:t>M</a:t>
            </a:r>
            <a:r>
              <a:rPr lang="en-US" sz="2400" dirty="0">
                <a:latin typeface="Arial" panose="020B0604020202020204" pitchFamily="34" charset="0"/>
                <a:cs typeface="Arial" panose="020B0604020202020204" pitchFamily="34" charset="0"/>
              </a:rPr>
              <a:t>easurable – </a:t>
            </a:r>
            <a:r>
              <a:rPr lang="en-US" sz="2400" b="1" dirty="0">
                <a:solidFill>
                  <a:srgbClr val="00B050"/>
                </a:solidFill>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ttainable – </a:t>
            </a:r>
            <a:r>
              <a:rPr lang="en-US" sz="2400" b="1" dirty="0">
                <a:solidFill>
                  <a:srgbClr val="00B050"/>
                </a:solidFill>
                <a:latin typeface="Arial" panose="020B0604020202020204" pitchFamily="34" charset="0"/>
                <a:cs typeface="Arial" panose="020B0604020202020204" pitchFamily="34" charset="0"/>
              </a:rPr>
              <a:t>R</a:t>
            </a:r>
            <a:r>
              <a:rPr lang="en-US" sz="2400" dirty="0">
                <a:latin typeface="Arial" panose="020B0604020202020204" pitchFamily="34" charset="0"/>
                <a:cs typeface="Arial" panose="020B0604020202020204" pitchFamily="34" charset="0"/>
              </a:rPr>
              <a:t>elevant - </a:t>
            </a:r>
            <a:r>
              <a:rPr lang="en-US" sz="2400" b="1" dirty="0">
                <a:solidFill>
                  <a:srgbClr val="00B050"/>
                </a:solidFill>
                <a:latin typeface="Arial" panose="020B0604020202020204" pitchFamily="34" charset="0"/>
                <a:cs typeface="Arial" panose="020B0604020202020204" pitchFamily="34" charset="0"/>
              </a:rPr>
              <a:t>T</a:t>
            </a:r>
            <a:r>
              <a:rPr lang="en-US" sz="2400" dirty="0">
                <a:latin typeface="Arial" panose="020B0604020202020204" pitchFamily="34" charset="0"/>
                <a:cs typeface="Arial" panose="020B0604020202020204" pitchFamily="34" charset="0"/>
              </a:rPr>
              <a:t>imely</a:t>
            </a:r>
          </a:p>
          <a:p>
            <a:pPr marL="0" indent="0">
              <a:lnSpc>
                <a:spcPct val="120000"/>
              </a:lnSpc>
              <a:spcBef>
                <a:spcPts val="600"/>
              </a:spcBef>
              <a:buNone/>
            </a:pPr>
            <a:r>
              <a:rPr lang="tr-TR" sz="2400" b="1" dirty="0" err="1">
                <a:latin typeface="Arial" panose="020B0604020202020204" pitchFamily="34" charset="0"/>
                <a:cs typeface="Arial" panose="020B0604020202020204" pitchFamily="34" charset="0"/>
              </a:rPr>
              <a:t>Vague</a:t>
            </a:r>
            <a:r>
              <a:rPr lang="tr-TR" sz="2400" b="1" dirty="0">
                <a:latin typeface="Arial" panose="020B0604020202020204" pitchFamily="34" charset="0"/>
                <a:cs typeface="Arial" panose="020B0604020202020204" pitchFamily="34" charset="0"/>
              </a:rPr>
              <a:t> </a:t>
            </a:r>
            <a:r>
              <a:rPr lang="tr-TR" sz="2400" b="1" dirty="0" err="1">
                <a:latin typeface="Arial" panose="020B0604020202020204" pitchFamily="34" charset="0"/>
                <a:cs typeface="Arial" panose="020B0604020202020204" pitchFamily="34" charset="0"/>
              </a:rPr>
              <a:t>Goal</a:t>
            </a:r>
            <a:r>
              <a:rPr lang="tr-TR" sz="2400" b="1" dirty="0">
                <a:latin typeface="Arial" panose="020B0604020202020204" pitchFamily="34" charset="0"/>
                <a:cs typeface="Arial" panose="020B0604020202020204" pitchFamily="34" charset="0"/>
              </a:rPr>
              <a:t>:</a:t>
            </a:r>
            <a:r>
              <a:rPr lang="tr-TR" sz="2400" dirty="0">
                <a:latin typeface="Arial" panose="020B0604020202020204" pitchFamily="34" charset="0"/>
                <a:cs typeface="Arial" panose="020B0604020202020204" pitchFamily="34" charset="0"/>
              </a:rPr>
              <a:t> "I </a:t>
            </a:r>
            <a:r>
              <a:rPr lang="tr-TR" sz="2400" dirty="0" err="1">
                <a:latin typeface="Arial" panose="020B0604020202020204" pitchFamily="34" charset="0"/>
                <a:cs typeface="Arial" panose="020B0604020202020204" pitchFamily="34" charset="0"/>
              </a:rPr>
              <a:t>want</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to</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improve</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sales</a:t>
            </a:r>
            <a:r>
              <a:rPr lang="tr-TR" sz="2400" dirty="0">
                <a:latin typeface="Arial" panose="020B0604020202020204" pitchFamily="34" charset="0"/>
                <a:cs typeface="Arial" panose="020B0604020202020204" pitchFamily="34" charset="0"/>
              </a:rPr>
              <a:t>."</a:t>
            </a:r>
          </a:p>
          <a:p>
            <a:pPr marL="0" indent="0">
              <a:lnSpc>
                <a:spcPct val="120000"/>
              </a:lnSpc>
              <a:spcBef>
                <a:spcPts val="600"/>
              </a:spcBef>
              <a:buNone/>
            </a:pPr>
            <a:r>
              <a:rPr lang="tr-TR" sz="2400" b="1" dirty="0">
                <a:latin typeface="Arial" panose="020B0604020202020204" pitchFamily="34" charset="0"/>
                <a:cs typeface="Arial" panose="020B0604020202020204" pitchFamily="34" charset="0"/>
              </a:rPr>
              <a:t>SMART </a:t>
            </a:r>
            <a:r>
              <a:rPr lang="tr-TR" sz="2400" b="1" dirty="0" err="1">
                <a:latin typeface="Arial" panose="020B0604020202020204" pitchFamily="34" charset="0"/>
                <a:cs typeface="Arial" panose="020B0604020202020204" pitchFamily="34" charset="0"/>
              </a:rPr>
              <a:t>Goal</a:t>
            </a:r>
            <a:r>
              <a:rPr lang="tr-TR" sz="2400" b="1" dirty="0">
                <a:latin typeface="Arial" panose="020B0604020202020204" pitchFamily="34" charset="0"/>
                <a:cs typeface="Arial" panose="020B0604020202020204" pitchFamily="34" charset="0"/>
              </a:rPr>
              <a:t>:</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Increase</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monthly</a:t>
            </a:r>
            <a:r>
              <a:rPr lang="tr-TR" sz="2400" dirty="0">
                <a:latin typeface="Arial" panose="020B0604020202020204" pitchFamily="34" charset="0"/>
                <a:cs typeface="Arial" panose="020B0604020202020204" pitchFamily="34" charset="0"/>
              </a:rPr>
              <a:t> software </a:t>
            </a:r>
            <a:r>
              <a:rPr lang="tr-TR" sz="2400" dirty="0" err="1">
                <a:latin typeface="Arial" panose="020B0604020202020204" pitchFamily="34" charset="0"/>
                <a:cs typeface="Arial" panose="020B0604020202020204" pitchFamily="34" charset="0"/>
              </a:rPr>
              <a:t>subscription</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sales</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by</a:t>
            </a:r>
            <a:r>
              <a:rPr lang="tr-TR" sz="2400" dirty="0">
                <a:latin typeface="Arial" panose="020B0604020202020204" pitchFamily="34" charset="0"/>
                <a:cs typeface="Arial" panose="020B0604020202020204" pitchFamily="34" charset="0"/>
              </a:rPr>
              <a:t> 10% (</a:t>
            </a:r>
            <a:r>
              <a:rPr lang="tr-TR" sz="2400" dirty="0" err="1">
                <a:latin typeface="Arial" panose="020B0604020202020204" pitchFamily="34" charset="0"/>
                <a:cs typeface="Arial" panose="020B0604020202020204" pitchFamily="34" charset="0"/>
              </a:rPr>
              <a:t>Specific</a:t>
            </a:r>
            <a:r>
              <a:rPr lang="tr-TR" sz="2400" dirty="0">
                <a:latin typeface="Arial" panose="020B0604020202020204" pitchFamily="34" charset="0"/>
                <a:cs typeface="Arial" panose="020B0604020202020204" pitchFamily="34" charset="0"/>
              </a:rPr>
              <a:t>/</a:t>
            </a:r>
            <a:r>
              <a:rPr lang="tr-TR" sz="2400" dirty="0" err="1">
                <a:latin typeface="Arial" panose="020B0604020202020204" pitchFamily="34" charset="0"/>
                <a:cs typeface="Arial" panose="020B0604020202020204" pitchFamily="34" charset="0"/>
              </a:rPr>
              <a:t>Measurable</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through</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targeted</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email</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campaigns</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Relevant</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to</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existing</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leads</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Achievable</a:t>
            </a:r>
            <a:r>
              <a:rPr lang="tr-TR" sz="2400" dirty="0">
                <a:latin typeface="Arial" panose="020B0604020202020204" pitchFamily="34" charset="0"/>
                <a:cs typeface="Arial" panose="020B0604020202020204" pitchFamily="34" charset="0"/>
              </a:rPr>
              <a:t>/</a:t>
            </a:r>
            <a:r>
              <a:rPr lang="tr-TR" sz="2400" dirty="0" err="1">
                <a:latin typeface="Arial" panose="020B0604020202020204" pitchFamily="34" charset="0"/>
                <a:cs typeface="Arial" panose="020B0604020202020204" pitchFamily="34" charset="0"/>
              </a:rPr>
              <a:t>Attainable</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by</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the</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end</a:t>
            </a:r>
            <a:r>
              <a:rPr lang="tr-TR" sz="2400" dirty="0">
                <a:latin typeface="Arial" panose="020B0604020202020204" pitchFamily="34" charset="0"/>
                <a:cs typeface="Arial" panose="020B0604020202020204" pitchFamily="34" charset="0"/>
              </a:rPr>
              <a:t> of Q2 (Time-</a:t>
            </a:r>
            <a:r>
              <a:rPr lang="tr-TR" sz="2400" dirty="0" err="1">
                <a:latin typeface="Arial" panose="020B0604020202020204" pitchFamily="34" charset="0"/>
                <a:cs typeface="Arial" panose="020B0604020202020204" pitchFamily="34" charset="0"/>
              </a:rPr>
              <a:t>bound</a:t>
            </a:r>
            <a:r>
              <a:rPr lang="tr-TR" sz="2400" dirty="0">
                <a:latin typeface="Arial" panose="020B0604020202020204" pitchFamily="34" charset="0"/>
                <a:cs typeface="Arial" panose="020B0604020202020204" pitchFamily="34" charset="0"/>
              </a:rPr>
              <a:t>)."</a:t>
            </a:r>
          </a:p>
          <a:p>
            <a:pPr>
              <a:lnSpc>
                <a:spcPct val="120000"/>
              </a:lnSpc>
              <a:spcBef>
                <a:spcPts val="600"/>
              </a:spcBef>
            </a:pPr>
            <a:endParaRPr lang="en-US" sz="2400" dirty="0">
              <a:latin typeface="Arial" panose="020B0604020202020204" pitchFamily="34" charset="0"/>
              <a:cs typeface="Arial" panose="020B0604020202020204" pitchFamily="34" charset="0"/>
            </a:endParaRPr>
          </a:p>
          <a:p>
            <a:pPr>
              <a:lnSpc>
                <a:spcPct val="120000"/>
              </a:lnSpc>
              <a:spcBef>
                <a:spcPts val="600"/>
              </a:spcBef>
            </a:pPr>
            <a:endParaRPr lang="tr-TR" sz="2200" dirty="0">
              <a:latin typeface="Arial" panose="020B0604020202020204" pitchFamily="34" charset="0"/>
              <a:cs typeface="Arial" panose="020B0604020202020204" pitchFamily="34" charset="0"/>
            </a:endParaRPr>
          </a:p>
          <a:p>
            <a:pPr>
              <a:lnSpc>
                <a:spcPct val="120000"/>
              </a:lnSpc>
              <a:spcBef>
                <a:spcPts val="600"/>
              </a:spcBef>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996049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01792-E576-6149-102A-0A0A5269CAFD}"/>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9E725A63-35FE-9BAB-507F-AB6FDD195D67}"/>
              </a:ext>
            </a:extLst>
          </p:cNvPr>
          <p:cNvSpPr>
            <a:spLocks noGrp="1" noChangeArrowheads="1"/>
          </p:cNvSpPr>
          <p:nvPr>
            <p:ph type="title"/>
          </p:nvPr>
        </p:nvSpPr>
        <p:spPr/>
        <p:txBody>
          <a:bodyPr>
            <a:noAutofit/>
          </a:bodyPr>
          <a:lstStyle/>
          <a:p>
            <a:r>
              <a:rPr lang="en-US" b="1" dirty="0">
                <a:solidFill>
                  <a:srgbClr val="00B050"/>
                </a:solidFill>
              </a:rPr>
              <a:t>SMART</a:t>
            </a:r>
            <a:r>
              <a:rPr lang="en-US" b="1" dirty="0"/>
              <a:t> Metrics</a:t>
            </a:r>
          </a:p>
        </p:txBody>
      </p:sp>
      <p:sp>
        <p:nvSpPr>
          <p:cNvPr id="20483" name="Rectangle 3">
            <a:extLst>
              <a:ext uri="{FF2B5EF4-FFF2-40B4-BE49-F238E27FC236}">
                <a16:creationId xmlns:a16="http://schemas.microsoft.com/office/drawing/2014/main" id="{9306D317-28CC-DEDF-3B9F-9C998A83576F}"/>
              </a:ext>
            </a:extLst>
          </p:cNvPr>
          <p:cNvSpPr>
            <a:spLocks noGrp="1" noChangeArrowheads="1"/>
          </p:cNvSpPr>
          <p:nvPr>
            <p:ph type="body" idx="1"/>
          </p:nvPr>
        </p:nvSpPr>
        <p:spPr/>
        <p:txBody>
          <a:bodyPr>
            <a:noAutofit/>
          </a:bodyPr>
          <a:lstStyle/>
          <a:p>
            <a:pPr>
              <a:lnSpc>
                <a:spcPct val="120000"/>
              </a:lnSpc>
              <a:spcBef>
                <a:spcPts val="600"/>
              </a:spcBef>
            </a:pPr>
            <a:r>
              <a:rPr lang="en-US" sz="2400" dirty="0">
                <a:latin typeface="Arial" panose="020B0604020202020204" pitchFamily="34" charset="0"/>
                <a:cs typeface="Arial" panose="020B0604020202020204" pitchFamily="34" charset="0"/>
              </a:rPr>
              <a:t>This is also the case in the context of Data Analytics. </a:t>
            </a:r>
          </a:p>
          <a:p>
            <a:pPr>
              <a:lnSpc>
                <a:spcPct val="120000"/>
              </a:lnSpc>
              <a:spcBef>
                <a:spcPts val="600"/>
              </a:spcBef>
            </a:pPr>
            <a:r>
              <a:rPr lang="en-US" sz="2400" dirty="0">
                <a:latin typeface="Arial" panose="020B0604020202020204" pitchFamily="34" charset="0"/>
                <a:cs typeface="Arial" panose="020B0604020202020204" pitchFamily="34" charset="0"/>
              </a:rPr>
              <a:t>Metrics that align with the business objective should be preferred.</a:t>
            </a:r>
          </a:p>
          <a:p>
            <a:pPr>
              <a:lnSpc>
                <a:spcPct val="120000"/>
              </a:lnSpc>
              <a:spcBef>
                <a:spcPts val="600"/>
              </a:spcBef>
            </a:pPr>
            <a:r>
              <a:rPr lang="en-US" sz="2400" dirty="0">
                <a:latin typeface="Arial" panose="020B0604020202020204" pitchFamily="34" charset="0"/>
                <a:cs typeface="Arial" panose="020B0604020202020204" pitchFamily="34" charset="0"/>
              </a:rPr>
              <a:t>For Predictive Performance widely used metrics are as follows: </a:t>
            </a:r>
          </a:p>
          <a:p>
            <a:pPr lvl="1">
              <a:lnSpc>
                <a:spcPct val="120000"/>
              </a:lnSpc>
              <a:spcBef>
                <a:spcPts val="600"/>
              </a:spcBef>
            </a:pPr>
            <a:r>
              <a:rPr lang="en-US" dirty="0">
                <a:solidFill>
                  <a:srgbClr val="00B050"/>
                </a:solidFill>
                <a:latin typeface="Arial" panose="020B0604020202020204" pitchFamily="34" charset="0"/>
                <a:cs typeface="Arial" panose="020B0604020202020204" pitchFamily="34" charset="0"/>
              </a:rPr>
              <a:t>Regression: </a:t>
            </a:r>
            <a:r>
              <a:rPr lang="en-US" dirty="0">
                <a:solidFill>
                  <a:srgbClr val="FF0000"/>
                </a:solidFill>
                <a:latin typeface="Arial" panose="020B0604020202020204" pitchFamily="34" charset="0"/>
                <a:cs typeface="Arial" panose="020B0604020202020204" pitchFamily="34" charset="0"/>
              </a:rPr>
              <a:t>MSE, RMSE, MAE &amp; MAPE </a:t>
            </a:r>
          </a:p>
          <a:p>
            <a:pPr lvl="1">
              <a:lnSpc>
                <a:spcPct val="120000"/>
              </a:lnSpc>
              <a:spcBef>
                <a:spcPts val="600"/>
              </a:spcBef>
            </a:pPr>
            <a:r>
              <a:rPr lang="en-US" dirty="0">
                <a:solidFill>
                  <a:srgbClr val="00B050"/>
                </a:solidFill>
                <a:latin typeface="Arial" panose="020B0604020202020204" pitchFamily="34" charset="0"/>
                <a:cs typeface="Arial" panose="020B0604020202020204" pitchFamily="34" charset="0"/>
              </a:rPr>
              <a:t>Classification: </a:t>
            </a:r>
            <a:r>
              <a:rPr lang="en-US" dirty="0">
                <a:solidFill>
                  <a:srgbClr val="FF0000"/>
                </a:solidFill>
                <a:latin typeface="Arial" panose="020B0604020202020204" pitchFamily="34" charset="0"/>
                <a:cs typeface="Arial" panose="020B0604020202020204" pitchFamily="34" charset="0"/>
              </a:rPr>
              <a:t>Accuracy</a:t>
            </a:r>
          </a:p>
          <a:p>
            <a:pPr>
              <a:lnSpc>
                <a:spcPct val="120000"/>
              </a:lnSpc>
              <a:spcBef>
                <a:spcPts val="600"/>
              </a:spcBef>
            </a:pPr>
            <a:endParaRPr lang="tr-TR" sz="2400" dirty="0">
              <a:latin typeface="Arial" panose="020B0604020202020204" pitchFamily="34" charset="0"/>
              <a:cs typeface="Arial" panose="020B0604020202020204" pitchFamily="34" charset="0"/>
            </a:endParaRPr>
          </a:p>
          <a:p>
            <a:pPr>
              <a:lnSpc>
                <a:spcPct val="120000"/>
              </a:lnSpc>
              <a:spcBef>
                <a:spcPts val="600"/>
              </a:spcBef>
            </a:pPr>
            <a:endParaRPr lang="en-US" sz="2400" dirty="0">
              <a:latin typeface="Arial" panose="020B0604020202020204" pitchFamily="34" charset="0"/>
              <a:cs typeface="Arial" panose="020B0604020202020204" pitchFamily="34" charset="0"/>
            </a:endParaRPr>
          </a:p>
          <a:p>
            <a:pPr>
              <a:lnSpc>
                <a:spcPct val="120000"/>
              </a:lnSpc>
              <a:spcBef>
                <a:spcPts val="600"/>
              </a:spcBef>
            </a:pPr>
            <a:endParaRPr lang="tr-TR" sz="2200" dirty="0">
              <a:latin typeface="Arial" panose="020B0604020202020204" pitchFamily="34" charset="0"/>
              <a:cs typeface="Arial" panose="020B0604020202020204" pitchFamily="34" charset="0"/>
            </a:endParaRPr>
          </a:p>
          <a:p>
            <a:pPr>
              <a:lnSpc>
                <a:spcPct val="120000"/>
              </a:lnSpc>
              <a:spcBef>
                <a:spcPts val="600"/>
              </a:spcBef>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404105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Background Information on </a:t>
            </a:r>
            <a:r>
              <a:rPr lang="en-US" b="1" dirty="0">
                <a:solidFill>
                  <a:srgbClr val="00B050"/>
                </a:solidFill>
              </a:rPr>
              <a:t>Classifiers</a:t>
            </a:r>
          </a:p>
        </p:txBody>
      </p:sp>
      <p:sp>
        <p:nvSpPr>
          <p:cNvPr id="20483" name="Rectangle 3"/>
          <p:cNvSpPr>
            <a:spLocks noGrp="1" noChangeArrowheads="1"/>
          </p:cNvSpPr>
          <p:nvPr>
            <p:ph type="body" idx="1"/>
          </p:nvPr>
        </p:nvSpPr>
        <p:spPr/>
        <p:txBody>
          <a:bodyPr>
            <a:noAutofit/>
          </a:bodyPr>
          <a:lstStyle/>
          <a:p>
            <a:pPr>
              <a:lnSpc>
                <a:spcPct val="110000"/>
              </a:lnSpc>
              <a:spcBef>
                <a:spcPts val="600"/>
              </a:spcBef>
            </a:pPr>
            <a:r>
              <a:rPr lang="en-US" sz="2400" b="1" u="sng" dirty="0">
                <a:latin typeface="Arial" panose="020B0604020202020204" pitchFamily="34" charset="0"/>
                <a:cs typeface="Arial" panose="020B0604020202020204" pitchFamily="34" charset="0"/>
              </a:rPr>
              <a:t>Binary:</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input is to be classified into one, </a:t>
            </a:r>
            <a:r>
              <a:rPr lang="en-US" sz="2400" b="1" i="1" u="sng" dirty="0">
                <a:latin typeface="Arial" panose="020B0604020202020204" pitchFamily="34" charset="0"/>
                <a:cs typeface="Arial" panose="020B0604020202020204" pitchFamily="34" charset="0"/>
              </a:rPr>
              <a:t>and only one</a:t>
            </a:r>
            <a:r>
              <a:rPr lang="en-US" sz="2400" dirty="0">
                <a:latin typeface="Arial" panose="020B0604020202020204" pitchFamily="34" charset="0"/>
                <a:cs typeface="Arial" panose="020B0604020202020204" pitchFamily="34" charset="0"/>
              </a:rPr>
              <a:t>, of two non-overlapping classes (C1, C2). </a:t>
            </a:r>
            <a:endParaRPr lang="tr-TR" sz="2400" dirty="0">
              <a:latin typeface="Arial" panose="020B0604020202020204" pitchFamily="34" charset="0"/>
              <a:cs typeface="Arial" panose="020B0604020202020204" pitchFamily="34" charset="0"/>
            </a:endParaRPr>
          </a:p>
          <a:p>
            <a:pPr>
              <a:lnSpc>
                <a:spcPct val="110000"/>
              </a:lnSpc>
              <a:spcBef>
                <a:spcPts val="600"/>
              </a:spcBef>
            </a:pPr>
            <a:r>
              <a:rPr lang="en-US" sz="2400" dirty="0">
                <a:latin typeface="Arial" panose="020B0604020202020204" pitchFamily="34" charset="0"/>
                <a:cs typeface="Arial" panose="020B0604020202020204" pitchFamily="34" charset="0"/>
              </a:rPr>
              <a:t>Binary classification is the most popular classification task. Assigned categories can be objective, independent of manual evaluation (e.g., </a:t>
            </a:r>
            <a:r>
              <a:rPr lang="en-US" sz="2400" i="1" dirty="0">
                <a:latin typeface="Arial" panose="020B0604020202020204" pitchFamily="34" charset="0"/>
                <a:cs typeface="Arial" panose="020B0604020202020204" pitchFamily="34" charset="0"/>
              </a:rPr>
              <a:t>Republican</a:t>
            </a:r>
            <a:r>
              <a:rPr lang="en-US" sz="2400" dirty="0">
                <a:latin typeface="Arial" panose="020B0604020202020204" pitchFamily="34" charset="0"/>
                <a:cs typeface="Arial" panose="020B0604020202020204" pitchFamily="34" charset="0"/>
              </a:rPr>
              <a:t> or </a:t>
            </a:r>
            <a:r>
              <a:rPr lang="en-US" sz="2400" i="1" dirty="0">
                <a:latin typeface="Arial" panose="020B0604020202020204" pitchFamily="34" charset="0"/>
                <a:cs typeface="Arial" panose="020B0604020202020204" pitchFamily="34" charset="0"/>
              </a:rPr>
              <a:t>Democrat</a:t>
            </a:r>
            <a:r>
              <a:rPr lang="en-US" sz="2400" dirty="0">
                <a:latin typeface="Arial" panose="020B0604020202020204" pitchFamily="34" charset="0"/>
                <a:cs typeface="Arial" panose="020B0604020202020204" pitchFamily="34" charset="0"/>
              </a:rPr>
              <a:t> in the votes data of the UCI repository (Asuncion &amp; Newman, 2007)) or subjective, dependent on manual evaluation (e.g., </a:t>
            </a:r>
            <a:r>
              <a:rPr lang="en-US" sz="2400" i="1" dirty="0">
                <a:latin typeface="Arial" panose="020B0604020202020204" pitchFamily="34" charset="0"/>
                <a:cs typeface="Arial" panose="020B0604020202020204" pitchFamily="34" charset="0"/>
              </a:rPr>
              <a:t>positive</a:t>
            </a:r>
            <a:r>
              <a:rPr lang="en-US" sz="2400" dirty="0">
                <a:latin typeface="Arial" panose="020B0604020202020204" pitchFamily="34" charset="0"/>
                <a:cs typeface="Arial" panose="020B0604020202020204" pitchFamily="34" charset="0"/>
              </a:rPr>
              <a:t> or </a:t>
            </a:r>
            <a:r>
              <a:rPr lang="en-US" sz="2400" i="1" dirty="0">
                <a:latin typeface="Arial" panose="020B0604020202020204" pitchFamily="34" charset="0"/>
                <a:cs typeface="Arial" panose="020B0604020202020204" pitchFamily="34" charset="0"/>
              </a:rPr>
              <a:t>negative reviews </a:t>
            </a:r>
            <a:r>
              <a:rPr lang="en-US" sz="2400" dirty="0">
                <a:latin typeface="Arial" panose="020B0604020202020204" pitchFamily="34" charset="0"/>
                <a:cs typeface="Arial" panose="020B0604020202020204" pitchFamily="34" charset="0"/>
              </a:rPr>
              <a:t>in Amazon.com (Blitzer et al., 2007)). </a:t>
            </a:r>
            <a:endParaRPr lang="tr-TR" sz="2400" dirty="0">
              <a:latin typeface="Arial" panose="020B0604020202020204" pitchFamily="34" charset="0"/>
              <a:cs typeface="Arial" panose="020B0604020202020204" pitchFamily="34" charset="0"/>
            </a:endParaRPr>
          </a:p>
          <a:p>
            <a:pPr>
              <a:lnSpc>
                <a:spcPct val="110000"/>
              </a:lnSpc>
              <a:spcBef>
                <a:spcPts val="600"/>
              </a:spcBef>
            </a:pPr>
            <a:r>
              <a:rPr lang="en-US" sz="2400" dirty="0">
                <a:latin typeface="Arial" panose="020B0604020202020204" pitchFamily="34" charset="0"/>
                <a:cs typeface="Arial" panose="020B0604020202020204" pitchFamily="34" charset="0"/>
              </a:rPr>
              <a:t>Classes can be well-defined (e.g., the votes labels), ambiguous (e.g., the review opinion labels), or both (e.g., medical vs. other texts in the Newsgroups collection).</a:t>
            </a:r>
          </a:p>
        </p:txBody>
      </p:sp>
      <p:sp>
        <p:nvSpPr>
          <p:cNvPr id="5" name="TextBox 4"/>
          <p:cNvSpPr txBox="1"/>
          <p:nvPr/>
        </p:nvSpPr>
        <p:spPr>
          <a:xfrm>
            <a:off x="10889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spTree>
    <p:extLst>
      <p:ext uri="{BB962C8B-B14F-4D97-AF65-F5344CB8AC3E}">
        <p14:creationId xmlns:p14="http://schemas.microsoft.com/office/powerpoint/2010/main" val="240252350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Background Information on </a:t>
            </a:r>
            <a:r>
              <a:rPr lang="en-US" b="1" dirty="0">
                <a:solidFill>
                  <a:srgbClr val="00B050"/>
                </a:solidFill>
              </a:rPr>
              <a:t>Classifiers</a:t>
            </a:r>
          </a:p>
        </p:txBody>
      </p:sp>
      <p:sp>
        <p:nvSpPr>
          <p:cNvPr id="20483" name="Rectangle 3"/>
          <p:cNvSpPr>
            <a:spLocks noGrp="1" noChangeArrowheads="1"/>
          </p:cNvSpPr>
          <p:nvPr>
            <p:ph type="body" idx="1"/>
          </p:nvPr>
        </p:nvSpPr>
        <p:spPr/>
        <p:txBody>
          <a:bodyPr>
            <a:noAutofit/>
          </a:bodyPr>
          <a:lstStyle/>
          <a:p>
            <a:pPr>
              <a:lnSpc>
                <a:spcPct val="110000"/>
              </a:lnSpc>
              <a:spcBef>
                <a:spcPts val="600"/>
              </a:spcBef>
            </a:pPr>
            <a:r>
              <a:rPr lang="en-US" sz="2400" b="1" u="sng" dirty="0">
                <a:latin typeface="Arial" panose="020B0604020202020204" pitchFamily="34" charset="0"/>
                <a:cs typeface="Arial" panose="020B0604020202020204" pitchFamily="34" charset="0"/>
              </a:rPr>
              <a:t>Multi-class:</a:t>
            </a:r>
            <a:r>
              <a:rPr lang="en-US" sz="2400" dirty="0">
                <a:latin typeface="Arial" panose="020B0604020202020204" pitchFamily="34" charset="0"/>
                <a:cs typeface="Arial" panose="020B0604020202020204" pitchFamily="34" charset="0"/>
              </a:rPr>
              <a:t> The input is to be classified into </a:t>
            </a:r>
            <a:r>
              <a:rPr lang="en-US" sz="2400" b="1" i="1" u="sng" dirty="0">
                <a:latin typeface="Arial" panose="020B0604020202020204" pitchFamily="34" charset="0"/>
                <a:cs typeface="Arial" panose="020B0604020202020204" pitchFamily="34" charset="0"/>
              </a:rPr>
              <a:t>one, and only one</a:t>
            </a:r>
            <a:r>
              <a:rPr lang="en-US" sz="2400" dirty="0">
                <a:latin typeface="Arial" panose="020B0604020202020204" pitchFamily="34" charset="0"/>
                <a:cs typeface="Arial" panose="020B0604020202020204" pitchFamily="34" charset="0"/>
              </a:rPr>
              <a:t>, of </a:t>
            </a:r>
            <a:r>
              <a:rPr lang="en-US" sz="2400" i="1" u="sng" dirty="0">
                <a:latin typeface="Arial" panose="020B0604020202020204" pitchFamily="34" charset="0"/>
                <a:cs typeface="Arial" panose="020B0604020202020204" pitchFamily="34" charset="0"/>
              </a:rPr>
              <a:t>multiple</a:t>
            </a:r>
            <a:r>
              <a:rPr lang="en-US" sz="2400" dirty="0">
                <a:latin typeface="Arial" panose="020B0604020202020204" pitchFamily="34" charset="0"/>
                <a:cs typeface="Arial" panose="020B0604020202020204" pitchFamily="34" charset="0"/>
              </a:rPr>
              <a:t> (</a:t>
            </a:r>
            <a:r>
              <a:rPr lang="en-US" sz="2400" b="1" i="1" dirty="0">
                <a:latin typeface="Arial" panose="020B0604020202020204" pitchFamily="34" charset="0"/>
                <a:cs typeface="Arial" panose="020B0604020202020204" pitchFamily="34" charset="0"/>
              </a:rPr>
              <a:t>l</a:t>
            </a:r>
            <a:r>
              <a:rPr lang="en-US" sz="2400" dirty="0">
                <a:latin typeface="Arial" panose="020B0604020202020204" pitchFamily="34" charset="0"/>
                <a:cs typeface="Arial" panose="020B0604020202020204" pitchFamily="34" charset="0"/>
              </a:rPr>
              <a:t>) non-overlapping classes. </a:t>
            </a:r>
            <a:endParaRPr lang="tr-TR" sz="2400" dirty="0">
              <a:latin typeface="Arial" panose="020B0604020202020204" pitchFamily="34" charset="0"/>
              <a:cs typeface="Arial" panose="020B0604020202020204" pitchFamily="34" charset="0"/>
            </a:endParaRPr>
          </a:p>
          <a:p>
            <a:pPr>
              <a:lnSpc>
                <a:spcPct val="110000"/>
              </a:lnSpc>
              <a:spcBef>
                <a:spcPts val="600"/>
              </a:spcBef>
            </a:pPr>
            <a:r>
              <a:rPr lang="en-US" sz="2400" dirty="0">
                <a:latin typeface="Arial" panose="020B0604020202020204" pitchFamily="34" charset="0"/>
                <a:cs typeface="Arial" panose="020B0604020202020204" pitchFamily="34" charset="0"/>
              </a:rPr>
              <a:t>Multiclass problems include the identification of the Iris type in a three-class data set popular in pattern recognition (</a:t>
            </a:r>
            <a:r>
              <a:rPr lang="en-US" sz="2400" dirty="0" err="1">
                <a:latin typeface="Arial" panose="020B0604020202020204" pitchFamily="34" charset="0"/>
                <a:cs typeface="Arial" panose="020B0604020202020204" pitchFamily="34" charset="0"/>
              </a:rPr>
              <a:t>Duda</a:t>
            </a:r>
            <a:r>
              <a:rPr lang="en-US" sz="2400" dirty="0">
                <a:latin typeface="Arial" panose="020B0604020202020204" pitchFamily="34" charset="0"/>
                <a:cs typeface="Arial" panose="020B0604020202020204" pitchFamily="34" charset="0"/>
              </a:rPr>
              <a:t> &amp; Hart, 1973), in the learning the original 135 categories in the benchmark Reuters collection, or in tagging utterances as objective, subjective, or neutral (Wilson, </a:t>
            </a:r>
            <a:r>
              <a:rPr lang="en-US" sz="2400" dirty="0" err="1">
                <a:latin typeface="Arial" panose="020B0604020202020204" pitchFamily="34" charset="0"/>
                <a:cs typeface="Arial" panose="020B0604020202020204" pitchFamily="34" charset="0"/>
              </a:rPr>
              <a:t>Wiebe</a:t>
            </a:r>
            <a:r>
              <a:rPr lang="en-US" sz="2400" dirty="0">
                <a:latin typeface="Arial" panose="020B0604020202020204" pitchFamily="34" charset="0"/>
                <a:cs typeface="Arial" panose="020B0604020202020204" pitchFamily="34" charset="0"/>
              </a:rPr>
              <a:t>, &amp; </a:t>
            </a:r>
            <a:r>
              <a:rPr lang="en-US" sz="2400" dirty="0" err="1">
                <a:latin typeface="Arial" panose="020B0604020202020204" pitchFamily="34" charset="0"/>
                <a:cs typeface="Arial" panose="020B0604020202020204" pitchFamily="34" charset="0"/>
              </a:rPr>
              <a:t>Hwa</a:t>
            </a:r>
            <a:r>
              <a:rPr lang="en-US" sz="2400" dirty="0">
                <a:latin typeface="Arial" panose="020B0604020202020204" pitchFamily="34" charset="0"/>
                <a:cs typeface="Arial" panose="020B0604020202020204" pitchFamily="34" charset="0"/>
              </a:rPr>
              <a:t>, 2006). </a:t>
            </a:r>
            <a:endParaRPr lang="tr-TR" sz="2400" dirty="0">
              <a:latin typeface="Arial" panose="020B0604020202020204" pitchFamily="34" charset="0"/>
              <a:cs typeface="Arial" panose="020B0604020202020204" pitchFamily="34" charset="0"/>
            </a:endParaRPr>
          </a:p>
          <a:p>
            <a:pPr>
              <a:lnSpc>
                <a:spcPct val="110000"/>
              </a:lnSpc>
              <a:spcBef>
                <a:spcPts val="600"/>
              </a:spcBef>
            </a:pPr>
            <a:r>
              <a:rPr lang="en-US" sz="2400" dirty="0">
                <a:latin typeface="Arial" panose="020B0604020202020204" pitchFamily="34" charset="0"/>
                <a:cs typeface="Arial" panose="020B0604020202020204" pitchFamily="34" charset="0"/>
              </a:rPr>
              <a:t>As for the binary case, multi-class categorization can be objective or subjective, well-defined or ambiguous.</a:t>
            </a:r>
          </a:p>
        </p:txBody>
      </p:sp>
      <p:sp>
        <p:nvSpPr>
          <p:cNvPr id="5" name="TextBox 4"/>
          <p:cNvSpPr txBox="1"/>
          <p:nvPr/>
        </p:nvSpPr>
        <p:spPr>
          <a:xfrm>
            <a:off x="10889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spTree>
    <p:extLst>
      <p:ext uri="{BB962C8B-B14F-4D97-AF65-F5344CB8AC3E}">
        <p14:creationId xmlns:p14="http://schemas.microsoft.com/office/powerpoint/2010/main" val="309643933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Background Information on </a:t>
            </a:r>
            <a:r>
              <a:rPr lang="en-US" b="1" dirty="0">
                <a:solidFill>
                  <a:srgbClr val="00B050"/>
                </a:solidFill>
              </a:rPr>
              <a:t>Classifiers</a:t>
            </a:r>
          </a:p>
        </p:txBody>
      </p:sp>
      <p:sp>
        <p:nvSpPr>
          <p:cNvPr id="20483" name="Rectangle 3"/>
          <p:cNvSpPr>
            <a:spLocks noGrp="1" noChangeArrowheads="1"/>
          </p:cNvSpPr>
          <p:nvPr>
            <p:ph type="body" idx="1"/>
          </p:nvPr>
        </p:nvSpPr>
        <p:spPr/>
        <p:txBody>
          <a:bodyPr>
            <a:noAutofit/>
          </a:bodyPr>
          <a:lstStyle/>
          <a:p>
            <a:pPr>
              <a:lnSpc>
                <a:spcPct val="120000"/>
              </a:lnSpc>
              <a:spcBef>
                <a:spcPts val="600"/>
              </a:spcBef>
            </a:pPr>
            <a:r>
              <a:rPr lang="en-US" sz="2200" b="1" u="sng" dirty="0">
                <a:latin typeface="Arial" panose="020B0604020202020204" pitchFamily="34" charset="0"/>
                <a:cs typeface="Arial" panose="020B0604020202020204" pitchFamily="34" charset="0"/>
              </a:rPr>
              <a:t>Multi-labeled:</a:t>
            </a:r>
            <a:r>
              <a:rPr lang="en-US" sz="2200" dirty="0">
                <a:latin typeface="Arial" panose="020B0604020202020204" pitchFamily="34" charset="0"/>
                <a:cs typeface="Arial" panose="020B0604020202020204" pitchFamily="34" charset="0"/>
              </a:rPr>
              <a:t> the input is to be classified into </a:t>
            </a:r>
            <a:r>
              <a:rPr lang="en-US" sz="2200" b="1" i="1" u="sng" dirty="0">
                <a:latin typeface="Arial" panose="020B0604020202020204" pitchFamily="34" charset="0"/>
                <a:cs typeface="Arial" panose="020B0604020202020204" pitchFamily="34" charset="0"/>
              </a:rPr>
              <a:t>several</a:t>
            </a:r>
            <a:r>
              <a:rPr lang="en-US" sz="2200" dirty="0">
                <a:latin typeface="Arial" panose="020B0604020202020204" pitchFamily="34" charset="0"/>
                <a:cs typeface="Arial" panose="020B0604020202020204" pitchFamily="34" charset="0"/>
              </a:rPr>
              <a:t> of multiple non-overlapping classes. </a:t>
            </a:r>
            <a:endParaRPr lang="tr-TR" sz="2200" dirty="0">
              <a:latin typeface="Arial" panose="020B0604020202020204" pitchFamily="34" charset="0"/>
              <a:cs typeface="Arial" panose="020B0604020202020204" pitchFamily="34" charset="0"/>
            </a:endParaRPr>
          </a:p>
          <a:p>
            <a:pPr>
              <a:lnSpc>
                <a:spcPct val="120000"/>
              </a:lnSpc>
              <a:spcBef>
                <a:spcPts val="600"/>
              </a:spcBef>
            </a:pPr>
            <a:r>
              <a:rPr lang="en-US" sz="2200" dirty="0">
                <a:latin typeface="Arial" panose="020B0604020202020204" pitchFamily="34" charset="0"/>
                <a:cs typeface="Arial" panose="020B0604020202020204" pitchFamily="34" charset="0"/>
              </a:rPr>
              <a:t>Examples include classification of functions of yeast genes (</a:t>
            </a:r>
            <a:r>
              <a:rPr lang="en-US" sz="2200" dirty="0" err="1">
                <a:latin typeface="Arial" panose="020B0604020202020204" pitchFamily="34" charset="0"/>
                <a:cs typeface="Arial" panose="020B0604020202020204" pitchFamily="34" charset="0"/>
              </a:rPr>
              <a:t>Mewes</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Albermann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Heumann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Lieb</a:t>
            </a:r>
            <a:r>
              <a:rPr lang="en-US" sz="2200" dirty="0">
                <a:latin typeface="Arial" panose="020B0604020202020204" pitchFamily="34" charset="0"/>
                <a:cs typeface="Arial" panose="020B0604020202020204" pitchFamily="34" charset="0"/>
              </a:rPr>
              <a:t>, &amp; Pfeiffer, 1997), identifying scenes from image data (Li, Zhang, &amp; Zhu, 2006) or text-database alignment and word alignment in machine translation (Snyder &amp; </a:t>
            </a:r>
            <a:r>
              <a:rPr lang="en-US" sz="2200" dirty="0" err="1">
                <a:latin typeface="Arial" panose="020B0604020202020204" pitchFamily="34" charset="0"/>
                <a:cs typeface="Arial" panose="020B0604020202020204" pitchFamily="34" charset="0"/>
              </a:rPr>
              <a:t>Barzilay</a:t>
            </a:r>
            <a:r>
              <a:rPr lang="en-US" sz="2200" dirty="0">
                <a:latin typeface="Arial" panose="020B0604020202020204" pitchFamily="34" charset="0"/>
                <a:cs typeface="Arial" panose="020B0604020202020204" pitchFamily="34" charset="0"/>
              </a:rPr>
              <a:t>, 2007). In text</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mining of medical information, multi-label classification methods are often evaluated on OHSUMED, a collection of</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medical references (</a:t>
            </a:r>
            <a:r>
              <a:rPr lang="en-US" sz="2200" dirty="0" err="1">
                <a:latin typeface="Arial" panose="020B0604020202020204" pitchFamily="34" charset="0"/>
                <a:cs typeface="Arial" panose="020B0604020202020204" pitchFamily="34" charset="0"/>
              </a:rPr>
              <a:t>Hersh</a:t>
            </a:r>
            <a:r>
              <a:rPr lang="en-US" sz="2200" dirty="0">
                <a:latin typeface="Arial" panose="020B0604020202020204" pitchFamily="34" charset="0"/>
                <a:cs typeface="Arial" panose="020B0604020202020204" pitchFamily="34" charset="0"/>
              </a:rPr>
              <a:t>, Buckley, Leone, &amp; Hickam, 1997). </a:t>
            </a:r>
            <a:endParaRPr lang="tr-TR" sz="2200" dirty="0">
              <a:latin typeface="Arial" panose="020B0604020202020204" pitchFamily="34" charset="0"/>
              <a:cs typeface="Arial" panose="020B0604020202020204" pitchFamily="34" charset="0"/>
            </a:endParaRPr>
          </a:p>
          <a:p>
            <a:pPr>
              <a:lnSpc>
                <a:spcPct val="120000"/>
              </a:lnSpc>
              <a:spcBef>
                <a:spcPts val="600"/>
              </a:spcBef>
            </a:pPr>
            <a:r>
              <a:rPr lang="en-US" sz="2200" dirty="0">
                <a:latin typeface="Arial" panose="020B0604020202020204" pitchFamily="34" charset="0"/>
                <a:cs typeface="Arial" panose="020B0604020202020204" pitchFamily="34" charset="0"/>
              </a:rPr>
              <a:t>When the learning task is </a:t>
            </a:r>
            <a:r>
              <a:rPr lang="en-US" sz="2200" i="1" u="sng" dirty="0">
                <a:latin typeface="Arial" panose="020B0604020202020204" pitchFamily="34" charset="0"/>
                <a:cs typeface="Arial" panose="020B0604020202020204" pitchFamily="34" charset="0"/>
              </a:rPr>
              <a:t>document topic classification</a:t>
            </a:r>
            <a:r>
              <a:rPr lang="en-US" sz="2200" dirty="0">
                <a:latin typeface="Arial" panose="020B0604020202020204" pitchFamily="34" charset="0"/>
                <a:cs typeface="Arial" panose="020B0604020202020204" pitchFamily="34" charset="0"/>
              </a:rPr>
              <a:t>,</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multi-labeling is often referred as </a:t>
            </a:r>
            <a:r>
              <a:rPr lang="en-US" sz="2200" i="1" u="sng" dirty="0">
                <a:latin typeface="Arial" panose="020B0604020202020204" pitchFamily="34" charset="0"/>
                <a:cs typeface="Arial" panose="020B0604020202020204" pitchFamily="34" charset="0"/>
              </a:rPr>
              <a:t>multi-topic classification </a:t>
            </a:r>
            <a:r>
              <a:rPr lang="en-US" sz="2200" dirty="0">
                <a:latin typeface="Arial" panose="020B0604020202020204" pitchFamily="34" charset="0"/>
                <a:cs typeface="Arial" panose="020B0604020202020204" pitchFamily="34" charset="0"/>
              </a:rPr>
              <a:t>such as for clinical texts that are assigned multiple disease</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codes from ICD-9-CM (Sasaki, Rea, &amp; </a:t>
            </a:r>
            <a:r>
              <a:rPr lang="en-US" sz="2200" dirty="0" err="1">
                <a:latin typeface="Arial" panose="020B0604020202020204" pitchFamily="34" charset="0"/>
                <a:cs typeface="Arial" panose="020B0604020202020204" pitchFamily="34" charset="0"/>
              </a:rPr>
              <a:t>Ananiadou</a:t>
            </a:r>
            <a:r>
              <a:rPr lang="en-US" sz="2200" dirty="0">
                <a:latin typeface="Arial" panose="020B0604020202020204" pitchFamily="34" charset="0"/>
                <a:cs typeface="Arial" panose="020B0604020202020204" pitchFamily="34" charset="0"/>
              </a:rPr>
              <a:t>, 2007). </a:t>
            </a:r>
          </a:p>
        </p:txBody>
      </p:sp>
      <p:sp>
        <p:nvSpPr>
          <p:cNvPr id="5" name="TextBox 4"/>
          <p:cNvSpPr txBox="1"/>
          <p:nvPr/>
        </p:nvSpPr>
        <p:spPr>
          <a:xfrm>
            <a:off x="10889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spTree>
    <p:extLst>
      <p:ext uri="{BB962C8B-B14F-4D97-AF65-F5344CB8AC3E}">
        <p14:creationId xmlns:p14="http://schemas.microsoft.com/office/powerpoint/2010/main" val="262496162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Background Information on </a:t>
            </a:r>
            <a:r>
              <a:rPr lang="en-US" b="1" dirty="0">
                <a:solidFill>
                  <a:srgbClr val="00B050"/>
                </a:solidFill>
              </a:rPr>
              <a:t>Classifiers</a:t>
            </a:r>
          </a:p>
        </p:txBody>
      </p:sp>
      <p:sp>
        <p:nvSpPr>
          <p:cNvPr id="20483" name="Rectangle 3"/>
          <p:cNvSpPr>
            <a:spLocks noGrp="1" noChangeArrowheads="1"/>
          </p:cNvSpPr>
          <p:nvPr>
            <p:ph type="body" idx="1"/>
          </p:nvPr>
        </p:nvSpPr>
        <p:spPr/>
        <p:txBody>
          <a:bodyPr>
            <a:noAutofit/>
          </a:bodyPr>
          <a:lstStyle/>
          <a:p>
            <a:pPr>
              <a:lnSpc>
                <a:spcPct val="110000"/>
              </a:lnSpc>
              <a:spcBef>
                <a:spcPts val="600"/>
              </a:spcBef>
            </a:pPr>
            <a:r>
              <a:rPr lang="en-US" sz="2200" dirty="0">
                <a:latin typeface="Arial" panose="020B0604020202020204" pitchFamily="34" charset="0"/>
                <a:cs typeface="Arial" panose="020B0604020202020204" pitchFamily="34" charset="0"/>
              </a:rPr>
              <a:t>Binary, multi-class, and multi-labeled problems form flat</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classification (Yang, 1999), in which categories are isolated and their relations are not considered important. </a:t>
            </a:r>
          </a:p>
          <a:p>
            <a:pPr>
              <a:lnSpc>
                <a:spcPct val="110000"/>
              </a:lnSpc>
              <a:spcBef>
                <a:spcPts val="600"/>
              </a:spcBef>
            </a:pPr>
            <a:r>
              <a:rPr lang="en-US" sz="2200" dirty="0">
                <a:latin typeface="Arial" panose="020B0604020202020204" pitchFamily="34" charset="0"/>
                <a:cs typeface="Arial" panose="020B0604020202020204" pitchFamily="34" charset="0"/>
              </a:rPr>
              <a:t>In flat classification, every category is treated as an equal, independent island. The model doesn't care if "Cat" and "Dog" are both types of "Mammals." It treats "Cat," "Dog," "Table," and "Chair" as four completely separate, unrelated labels.</a:t>
            </a:r>
          </a:p>
          <a:p>
            <a:pPr>
              <a:lnSpc>
                <a:spcPct val="110000"/>
              </a:lnSpc>
              <a:spcBef>
                <a:spcPts val="600"/>
              </a:spcBef>
            </a:pPr>
            <a:r>
              <a:rPr lang="en-US" sz="2200" dirty="0">
                <a:latin typeface="Arial" panose="020B0604020202020204" pitchFamily="34" charset="0"/>
                <a:cs typeface="Arial" panose="020B0604020202020204" pitchFamily="34" charset="0"/>
              </a:rPr>
              <a:t>The next,</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hierarchical, problem addresses relations among categories and includes their structure into learning targets.</a:t>
            </a:r>
          </a:p>
          <a:p>
            <a:pPr>
              <a:lnSpc>
                <a:spcPct val="110000"/>
              </a:lnSpc>
              <a:spcBef>
                <a:spcPts val="600"/>
              </a:spcBef>
            </a:pPr>
            <a:r>
              <a:rPr lang="en-US" sz="2200" dirty="0">
                <a:latin typeface="Arial" panose="020B0604020202020204" pitchFamily="34" charset="0"/>
                <a:cs typeface="Arial" panose="020B0604020202020204" pitchFamily="34" charset="0"/>
              </a:rPr>
              <a:t>Think of flat classification as a simple "checkbox" exercise, while hierarchical classification is like navigating a "family tree" or a directory.</a:t>
            </a:r>
          </a:p>
        </p:txBody>
      </p:sp>
      <p:sp>
        <p:nvSpPr>
          <p:cNvPr id="5" name="TextBox 4"/>
          <p:cNvSpPr txBox="1"/>
          <p:nvPr/>
        </p:nvSpPr>
        <p:spPr>
          <a:xfrm>
            <a:off x="10889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spTree>
    <p:extLst>
      <p:ext uri="{BB962C8B-B14F-4D97-AF65-F5344CB8AC3E}">
        <p14:creationId xmlns:p14="http://schemas.microsoft.com/office/powerpoint/2010/main" val="405756095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966A-C60E-3493-AC35-90B22703D97A}"/>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558D54CF-38F1-83B1-0516-2509E3975554}"/>
              </a:ext>
            </a:extLst>
          </p:cNvPr>
          <p:cNvSpPr>
            <a:spLocks noGrp="1" noChangeArrowheads="1"/>
          </p:cNvSpPr>
          <p:nvPr>
            <p:ph type="title"/>
          </p:nvPr>
        </p:nvSpPr>
        <p:spPr/>
        <p:txBody>
          <a:bodyPr/>
          <a:lstStyle/>
          <a:p>
            <a:r>
              <a:rPr lang="en-US" b="1" dirty="0"/>
              <a:t>Background Information on </a:t>
            </a:r>
            <a:r>
              <a:rPr lang="en-US" b="1" dirty="0">
                <a:solidFill>
                  <a:srgbClr val="00B050"/>
                </a:solidFill>
              </a:rPr>
              <a:t>Classifiers</a:t>
            </a:r>
          </a:p>
        </p:txBody>
      </p:sp>
      <p:sp>
        <p:nvSpPr>
          <p:cNvPr id="20483" name="Rectangle 3">
            <a:extLst>
              <a:ext uri="{FF2B5EF4-FFF2-40B4-BE49-F238E27FC236}">
                <a16:creationId xmlns:a16="http://schemas.microsoft.com/office/drawing/2014/main" id="{ADF482E8-02BA-159B-7223-414561261E77}"/>
              </a:ext>
            </a:extLst>
          </p:cNvPr>
          <p:cNvSpPr>
            <a:spLocks noGrp="1" noChangeArrowheads="1"/>
          </p:cNvSpPr>
          <p:nvPr>
            <p:ph type="body" idx="1"/>
          </p:nvPr>
        </p:nvSpPr>
        <p:spPr/>
        <p:txBody>
          <a:bodyPr>
            <a:noAutofit/>
          </a:bodyPr>
          <a:lstStyle/>
          <a:p>
            <a:pPr>
              <a:lnSpc>
                <a:spcPct val="110000"/>
              </a:lnSpc>
              <a:spcBef>
                <a:spcPts val="600"/>
              </a:spcBef>
            </a:pPr>
            <a:r>
              <a:rPr lang="en-US" sz="2200" b="1" u="sng" dirty="0">
                <a:latin typeface="Arial" panose="020B0604020202020204" pitchFamily="34" charset="0"/>
                <a:cs typeface="Arial" panose="020B0604020202020204" pitchFamily="34" charset="0"/>
              </a:rPr>
              <a:t>Hierarchical:</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 input is to be classified into one and only one class which are divided into subclasses or grouped into</a:t>
            </a:r>
            <a:r>
              <a:rPr lang="tr-TR"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superclasses</a:t>
            </a:r>
            <a:r>
              <a:rPr lang="en-US" sz="2200" dirty="0">
                <a:latin typeface="Arial" panose="020B0604020202020204" pitchFamily="34" charset="0"/>
                <a:cs typeface="Arial" panose="020B0604020202020204" pitchFamily="34" charset="0"/>
              </a:rPr>
              <a:t>. </a:t>
            </a:r>
          </a:p>
          <a:p>
            <a:pPr>
              <a:lnSpc>
                <a:spcPct val="110000"/>
              </a:lnSpc>
              <a:spcBef>
                <a:spcPts val="600"/>
              </a:spcBef>
            </a:pPr>
            <a:r>
              <a:rPr lang="en-US" sz="2200" dirty="0">
                <a:latin typeface="Arial" panose="020B0604020202020204" pitchFamily="34" charset="0"/>
                <a:cs typeface="Arial" panose="020B0604020202020204" pitchFamily="34" charset="0"/>
              </a:rPr>
              <a:t>Here, the relationships between categories matter. The system understands that certain classes are "parents" (</a:t>
            </a:r>
            <a:r>
              <a:rPr lang="en-US" sz="2200" dirty="0" err="1">
                <a:latin typeface="Arial" panose="020B0604020202020204" pitchFamily="34" charset="0"/>
                <a:cs typeface="Arial" panose="020B0604020202020204" pitchFamily="34" charset="0"/>
              </a:rPr>
              <a:t>superclasses</a:t>
            </a:r>
            <a:r>
              <a:rPr lang="en-US" sz="2200" dirty="0">
                <a:latin typeface="Arial" panose="020B0604020202020204" pitchFamily="34" charset="0"/>
                <a:cs typeface="Arial" panose="020B0604020202020204" pitchFamily="34" charset="0"/>
              </a:rPr>
              <a:t>) to others (subclasses). It uses the structure of the data to help make better predictions.</a:t>
            </a:r>
          </a:p>
          <a:p>
            <a:pPr>
              <a:lnSpc>
                <a:spcPct val="110000"/>
              </a:lnSpc>
              <a:spcBef>
                <a:spcPts val="600"/>
              </a:spcBef>
            </a:pPr>
            <a:r>
              <a:rPr lang="en-US" sz="2200" dirty="0">
                <a:latin typeface="Arial" panose="020B0604020202020204" pitchFamily="34" charset="0"/>
                <a:cs typeface="Arial" panose="020B0604020202020204" pitchFamily="34" charset="0"/>
              </a:rPr>
              <a:t>The hierarchy is defined and cannot be changed during classification. </a:t>
            </a:r>
          </a:p>
          <a:p>
            <a:pPr>
              <a:lnSpc>
                <a:spcPct val="110000"/>
              </a:lnSpc>
              <a:spcBef>
                <a:spcPts val="600"/>
              </a:spcBef>
            </a:pPr>
            <a:r>
              <a:rPr lang="en-US" sz="2200" dirty="0">
                <a:latin typeface="Arial" panose="020B0604020202020204" pitchFamily="34" charset="0"/>
                <a:cs typeface="Arial" panose="020B0604020202020204" pitchFamily="34" charset="0"/>
              </a:rPr>
              <a:t>Text classification and bioinformatics</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supply many examples, e.g., protein function prediction (Eisner, </a:t>
            </a:r>
            <a:r>
              <a:rPr lang="en-US" sz="2200" dirty="0" err="1">
                <a:latin typeface="Arial" panose="020B0604020202020204" pitchFamily="34" charset="0"/>
                <a:cs typeface="Arial" panose="020B0604020202020204" pitchFamily="34" charset="0"/>
              </a:rPr>
              <a:t>Poulin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Szafron</a:t>
            </a:r>
            <a:r>
              <a:rPr lang="en-US" sz="2200" dirty="0">
                <a:latin typeface="Arial" panose="020B0604020202020204" pitchFamily="34" charset="0"/>
                <a:cs typeface="Arial" panose="020B0604020202020204" pitchFamily="34" charset="0"/>
              </a:rPr>
              <a:t>, Lu, &amp; Greiner, 2005). Hierarchical</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classification can be transformed into flat classification. For example, the Reuters collection classification can be multiclass</a:t>
            </a:r>
            <a:r>
              <a:rPr lang="tr-TR"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t>
            </a:r>
            <a:r>
              <a:rPr lang="en-US" sz="2200" dirty="0" err="1">
                <a:latin typeface="Arial" panose="020B0604020202020204" pitchFamily="34" charset="0"/>
                <a:cs typeface="Arial" panose="020B0604020202020204" pitchFamily="34" charset="0"/>
              </a:rPr>
              <a:t>Bobicev</a:t>
            </a:r>
            <a:r>
              <a:rPr lang="en-US" sz="2200" dirty="0">
                <a:latin typeface="Arial" panose="020B0604020202020204" pitchFamily="34" charset="0"/>
                <a:cs typeface="Arial" panose="020B0604020202020204" pitchFamily="34" charset="0"/>
              </a:rPr>
              <a:t> &amp; Sokolova, 2008), multi-labeled (Tikk &amp; Biró, 2003), and hierarchical (Sun, Lim, &amp; Ng, 2003).</a:t>
            </a:r>
          </a:p>
        </p:txBody>
      </p:sp>
      <p:sp>
        <p:nvSpPr>
          <p:cNvPr id="5" name="TextBox 4">
            <a:extLst>
              <a:ext uri="{FF2B5EF4-FFF2-40B4-BE49-F238E27FC236}">
                <a16:creationId xmlns:a16="http://schemas.microsoft.com/office/drawing/2014/main" id="{D81C3FC6-A412-AC74-CDF6-D5FB98127922}"/>
              </a:ext>
            </a:extLst>
          </p:cNvPr>
          <p:cNvSpPr txBox="1"/>
          <p:nvPr/>
        </p:nvSpPr>
        <p:spPr>
          <a:xfrm>
            <a:off x="10889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spTree>
    <p:extLst>
      <p:ext uri="{BB962C8B-B14F-4D97-AF65-F5344CB8AC3E}">
        <p14:creationId xmlns:p14="http://schemas.microsoft.com/office/powerpoint/2010/main" val="205845681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Confusion Matrix – Binary Classifier</a:t>
            </a:r>
            <a:endParaRPr lang="en-US" b="1" dirty="0">
              <a:solidFill>
                <a:srgbClr val="00B050"/>
              </a:solidFill>
            </a:endParaRPr>
          </a:p>
        </p:txBody>
      </p:sp>
      <p:sp>
        <p:nvSpPr>
          <p:cNvPr id="20483" name="Rectangle 3"/>
          <p:cNvSpPr>
            <a:spLocks noGrp="1" noChangeArrowheads="1"/>
          </p:cNvSpPr>
          <p:nvPr>
            <p:ph type="body" idx="1"/>
          </p:nvPr>
        </p:nvSpPr>
        <p:spPr/>
        <p:txBody>
          <a:bodyPr>
            <a:noAutofit/>
          </a:bodyPr>
          <a:lstStyle/>
          <a:p>
            <a:pPr marL="457200" indent="-457200" algn="just">
              <a:lnSpc>
                <a:spcPct val="120000"/>
              </a:lnSpc>
              <a:spcBef>
                <a:spcPts val="600"/>
              </a:spcBef>
            </a:pPr>
            <a:r>
              <a:rPr lang="en-US" sz="2400" dirty="0">
                <a:latin typeface="Arial" panose="020B0604020202020204" pitchFamily="34" charset="0"/>
                <a:cs typeface="Arial" panose="020B0604020202020204" pitchFamily="34" charset="0"/>
              </a:rPr>
              <a:t>Assume that we test a binary classifier on some test set (each data instance has "+" or "-" as the output value). </a:t>
            </a:r>
          </a:p>
          <a:p>
            <a:pPr marL="457200" indent="-457200" algn="just">
              <a:lnSpc>
                <a:spcPct val="120000"/>
              </a:lnSpc>
              <a:spcBef>
                <a:spcPts val="600"/>
              </a:spcBef>
            </a:pPr>
            <a:r>
              <a:rPr lang="en-US" sz="2400" dirty="0">
                <a:latin typeface="Arial" panose="020B0604020202020204" pitchFamily="34" charset="0"/>
                <a:cs typeface="Arial" panose="020B0604020202020204" pitchFamily="34" charset="0"/>
              </a:rPr>
              <a:t>The classifier will yield either "Positive" or "Negative" as the output.</a:t>
            </a:r>
          </a:p>
          <a:p>
            <a:pPr marL="457200" indent="-457200" algn="just">
              <a:lnSpc>
                <a:spcPct val="120000"/>
              </a:lnSpc>
              <a:spcBef>
                <a:spcPts val="600"/>
              </a:spcBef>
            </a:pPr>
            <a:r>
              <a:rPr lang="en-US" sz="2400" dirty="0">
                <a:latin typeface="Arial" panose="020B0604020202020204" pitchFamily="34" charset="0"/>
                <a:cs typeface="Arial" panose="020B0604020202020204" pitchFamily="34" charset="0"/>
              </a:rPr>
              <a:t>Thus we will obtain the following </a:t>
            </a:r>
            <a:r>
              <a:rPr lang="en-US" sz="2400" i="1" u="sng" dirty="0">
                <a:latin typeface="Arial" panose="020B0604020202020204" pitchFamily="34" charset="0"/>
                <a:cs typeface="Arial" panose="020B0604020202020204" pitchFamily="34" charset="0"/>
              </a:rPr>
              <a:t>confusion matrix</a:t>
            </a:r>
            <a:r>
              <a:rPr lang="en-US" sz="2400" dirty="0">
                <a:latin typeface="Arial" panose="020B0604020202020204" pitchFamily="34" charset="0"/>
                <a:cs typeface="Arial" panose="020B0604020202020204" pitchFamily="34" charset="0"/>
              </a:rPr>
              <a:t> at the end:</a:t>
            </a:r>
          </a:p>
        </p:txBody>
      </p:sp>
      <p:grpSp>
        <p:nvGrpSpPr>
          <p:cNvPr id="3" name="Group 2"/>
          <p:cNvGrpSpPr/>
          <p:nvPr/>
        </p:nvGrpSpPr>
        <p:grpSpPr>
          <a:xfrm>
            <a:off x="7970943" y="3892009"/>
            <a:ext cx="3632075" cy="2834824"/>
            <a:chOff x="8050409" y="3788573"/>
            <a:chExt cx="3632075" cy="2834824"/>
          </a:xfrm>
        </p:grpSpPr>
        <p:graphicFrame>
          <p:nvGraphicFramePr>
            <p:cNvPr id="7" name="Group 34"/>
            <p:cNvGraphicFramePr>
              <a:graphicFrameLocks/>
            </p:cNvGraphicFramePr>
            <p:nvPr/>
          </p:nvGraphicFramePr>
          <p:xfrm>
            <a:off x="8050409" y="3788573"/>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EXAMPLE</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tr-TR"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60</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20</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30</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90</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Rectangle 7"/>
            <p:cNvSpPr/>
            <p:nvPr/>
          </p:nvSpPr>
          <p:spPr>
            <a:xfrm>
              <a:off x="8050409" y="5235325"/>
              <a:ext cx="3632075" cy="1388072"/>
            </a:xfrm>
            <a:prstGeom prst="rect">
              <a:avLst/>
            </a:prstGeom>
          </p:spPr>
          <p:txBody>
            <a:bodyPr wrap="square">
              <a:spAutoFit/>
            </a:bodyPr>
            <a:lstStyle/>
            <a:p>
              <a:pPr marL="342900" indent="-342900">
                <a:lnSpc>
                  <a:spcPct val="120000"/>
                </a:lnSpc>
                <a:spcBef>
                  <a:spcPts val="600"/>
                </a:spcBef>
              </a:pPr>
              <a:r>
                <a:rPr lang="en-US" sz="2200" b="1" dirty="0">
                  <a:latin typeface="Calibri" pitchFamily="34" charset="0"/>
                </a:rPr>
                <a:t>Accuracy </a:t>
              </a:r>
              <a:r>
                <a:rPr lang="en-US" sz="2200" dirty="0">
                  <a:latin typeface="Calibri" pitchFamily="34" charset="0"/>
                </a:rPr>
                <a:t>= (</a:t>
              </a:r>
              <a:r>
                <a:rPr lang="en-US" sz="2200" i="1" dirty="0">
                  <a:latin typeface="Calibri" pitchFamily="34" charset="0"/>
                </a:rPr>
                <a:t>TP</a:t>
              </a:r>
              <a:r>
                <a:rPr lang="en-US" sz="2200" dirty="0">
                  <a:latin typeface="Calibri" pitchFamily="34" charset="0"/>
                </a:rPr>
                <a:t>+</a:t>
              </a:r>
              <a:r>
                <a:rPr lang="en-US" sz="2200" i="1" dirty="0">
                  <a:latin typeface="Calibri" pitchFamily="34" charset="0"/>
                </a:rPr>
                <a:t>TN</a:t>
              </a:r>
              <a:r>
                <a:rPr lang="en-US" sz="2200" dirty="0">
                  <a:latin typeface="Calibri" pitchFamily="34" charset="0"/>
                </a:rPr>
                <a:t>)/(</a:t>
              </a:r>
              <a:r>
                <a:rPr lang="en-US" sz="2200" i="1" dirty="0">
                  <a:latin typeface="Calibri" pitchFamily="34" charset="0"/>
                </a:rPr>
                <a:t>P</a:t>
              </a:r>
              <a:r>
                <a:rPr lang="en-US" sz="2200" dirty="0">
                  <a:latin typeface="Calibri" pitchFamily="34" charset="0"/>
                </a:rPr>
                <a:t>+</a:t>
              </a:r>
              <a:r>
                <a:rPr lang="en-US" sz="2200" i="1" dirty="0">
                  <a:latin typeface="Calibri" pitchFamily="34" charset="0"/>
                </a:rPr>
                <a:t>N</a:t>
              </a:r>
              <a:r>
                <a:rPr lang="en-US" sz="2200" dirty="0">
                  <a:latin typeface="Calibri" pitchFamily="34" charset="0"/>
                </a:rPr>
                <a:t>)</a:t>
              </a:r>
            </a:p>
            <a:p>
              <a:pPr marL="1082675" indent="-1082675">
                <a:lnSpc>
                  <a:spcPct val="120000"/>
                </a:lnSpc>
                <a:spcBef>
                  <a:spcPts val="600"/>
                </a:spcBef>
              </a:pPr>
              <a:r>
                <a:rPr lang="en-US" sz="2200" dirty="0">
                  <a:solidFill>
                    <a:srgbClr val="FF0000"/>
                  </a:solidFill>
                  <a:latin typeface="Calibri" pitchFamily="34" charset="0"/>
                </a:rPr>
                <a:t>Accuracy </a:t>
              </a:r>
              <a:r>
                <a:rPr lang="tr-TR" sz="2200" dirty="0">
                  <a:solidFill>
                    <a:srgbClr val="FF0000"/>
                  </a:solidFill>
                  <a:latin typeface="Calibri" pitchFamily="34" charset="0"/>
                </a:rPr>
                <a:t>= (60+90)/(80+120)   = 75%</a:t>
              </a:r>
              <a:endParaRPr lang="en-US" sz="2200" dirty="0">
                <a:solidFill>
                  <a:srgbClr val="FF0000"/>
                </a:solidFill>
                <a:latin typeface="Calibri" pitchFamily="34" charset="0"/>
              </a:endParaRPr>
            </a:p>
          </p:txBody>
        </p:sp>
      </p:grpSp>
      <p:grpSp>
        <p:nvGrpSpPr>
          <p:cNvPr id="2" name="Group 1"/>
          <p:cNvGrpSpPr/>
          <p:nvPr/>
        </p:nvGrpSpPr>
        <p:grpSpPr>
          <a:xfrm>
            <a:off x="989266" y="4196365"/>
            <a:ext cx="6626137" cy="2226113"/>
            <a:chOff x="838200" y="4085787"/>
            <a:chExt cx="6626137" cy="2226113"/>
          </a:xfrm>
        </p:grpSpPr>
        <p:graphicFrame>
          <p:nvGraphicFramePr>
            <p:cNvPr id="11" name="Group 34"/>
            <p:cNvGraphicFramePr>
              <a:graphicFrameLocks/>
            </p:cNvGraphicFramePr>
            <p:nvPr/>
          </p:nvGraphicFramePr>
          <p:xfrm>
            <a:off x="838200" y="4085787"/>
            <a:ext cx="5691119" cy="2226113"/>
          </p:xfrm>
          <a:graphic>
            <a:graphicData uri="http://schemas.openxmlformats.org/drawingml/2006/table">
              <a:tbl>
                <a:tblPr/>
                <a:tblGrid>
                  <a:gridCol w="1154911">
                    <a:extLst>
                      <a:ext uri="{9D8B030D-6E8A-4147-A177-3AD203B41FA5}">
                        <a16:colId xmlns:a16="http://schemas.microsoft.com/office/drawing/2014/main" val="20000"/>
                      </a:ext>
                    </a:extLst>
                  </a:gridCol>
                  <a:gridCol w="715781">
                    <a:extLst>
                      <a:ext uri="{9D8B030D-6E8A-4147-A177-3AD203B41FA5}">
                        <a16:colId xmlns:a16="http://schemas.microsoft.com/office/drawing/2014/main" val="20001"/>
                      </a:ext>
                    </a:extLst>
                  </a:gridCol>
                  <a:gridCol w="1850199">
                    <a:extLst>
                      <a:ext uri="{9D8B030D-6E8A-4147-A177-3AD203B41FA5}">
                        <a16:colId xmlns:a16="http://schemas.microsoft.com/office/drawing/2014/main" val="20002"/>
                      </a:ext>
                    </a:extLst>
                  </a:gridCol>
                  <a:gridCol w="1970228">
                    <a:extLst>
                      <a:ext uri="{9D8B030D-6E8A-4147-A177-3AD203B41FA5}">
                        <a16:colId xmlns:a16="http://schemas.microsoft.com/office/drawing/2014/main" val="20003"/>
                      </a:ext>
                    </a:extLst>
                  </a:gridCol>
                </a:tblGrid>
                <a:tr h="40675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400" b="0" i="0" u="none" strike="noStrike" cap="none" normalizeH="0" baseline="0" noProof="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1" u="none" strike="noStrike" cap="none" normalizeH="0" baseline="0" noProof="0" dirty="0">
                            <a:ln>
                              <a:noFill/>
                            </a:ln>
                            <a:solidFill>
                              <a:schemeClr val="tx1"/>
                            </a:solidFill>
                            <a:effectLst/>
                            <a:latin typeface="Arial" panose="020B0604020202020204" pitchFamily="34" charset="0"/>
                            <a:ea typeface="ＭＳ Ｐゴシック" pitchFamily="34" charset="-128"/>
                            <a:cs typeface="Arial" panose="020B060402020202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90539">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tr-TR" sz="2400" b="0" i="1"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1" u="none" strike="noStrike" cap="none" normalizeH="0" baseline="0" noProof="0" dirty="0">
                            <a:ln>
                              <a:noFill/>
                            </a:ln>
                            <a:solidFill>
                              <a:schemeClr val="tx1"/>
                            </a:solidFill>
                            <a:effectLst/>
                            <a:latin typeface="Arial" panose="020B0604020202020204" pitchFamily="34" charset="0"/>
                            <a:ea typeface="ＭＳ Ｐゴシック" pitchFamily="34" charset="-128"/>
                            <a:cs typeface="Arial" panose="020B0604020202020204" pitchFamily="34" charset="0"/>
                          </a:rPr>
                          <a:t>Actual Class</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Arial" panose="020B0604020202020204" pitchFamily="34" charset="0"/>
                            <a:ea typeface="ＭＳ Ｐゴシック" pitchFamily="34" charset="-128"/>
                            <a:cs typeface="Arial" panose="020B060402020202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Arial" panose="020B0604020202020204" pitchFamily="34" charset="0"/>
                            <a:ea typeface="ＭＳ Ｐゴシック" pitchFamily="34" charset="-128"/>
                            <a:cs typeface="Arial" panose="020B060402020202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589187">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B050"/>
                            </a:solidFill>
                            <a:effectLst/>
                            <a:latin typeface="Arial" panose="020B0604020202020204" pitchFamily="34" charset="0"/>
                            <a:ea typeface="ＭＳ Ｐゴシック" pitchFamily="34" charset="-128"/>
                            <a:cs typeface="Arial" panose="020B0604020202020204" pitchFamily="34" charset="0"/>
                          </a:rPr>
                          <a:t>TP</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FF0000"/>
                            </a:solidFill>
                            <a:effectLst/>
                            <a:latin typeface="Arial" panose="020B0604020202020204" pitchFamily="34" charset="0"/>
                            <a:ea typeface="ＭＳ Ｐゴシック" pitchFamily="34" charset="-128"/>
                            <a:cs typeface="Arial" panose="020B0604020202020204" pitchFamily="34" charset="0"/>
                          </a:rPr>
                          <a:t>FN</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589187">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FF0000"/>
                            </a:solidFill>
                            <a:effectLst/>
                            <a:latin typeface="Arial" panose="020B0604020202020204" pitchFamily="34" charset="0"/>
                            <a:ea typeface="ＭＳ Ｐゴシック" pitchFamily="34" charset="-128"/>
                            <a:cs typeface="Arial" panose="020B0604020202020204" pitchFamily="34" charset="0"/>
                          </a:rPr>
                          <a:t>FP</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1" u="none" strike="noStrike" cap="none" normalizeH="0" baseline="0" dirty="0">
                            <a:ln>
                              <a:noFill/>
                            </a:ln>
                            <a:solidFill>
                              <a:srgbClr val="00B050"/>
                            </a:solidFill>
                            <a:effectLst/>
                            <a:latin typeface="Arial" panose="020B0604020202020204" pitchFamily="34" charset="0"/>
                            <a:ea typeface="ＭＳ Ｐゴシック" pitchFamily="34" charset="-128"/>
                            <a:cs typeface="Arial" panose="020B0604020202020204" pitchFamily="34" charset="0"/>
                          </a:rPr>
                          <a:t>TN</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2" name="Text Box 36"/>
            <p:cNvSpPr txBox="1">
              <a:spLocks noChangeArrowheads="1"/>
            </p:cNvSpPr>
            <p:nvPr/>
          </p:nvSpPr>
          <p:spPr bwMode="auto">
            <a:xfrm>
              <a:off x="6778537" y="5155629"/>
              <a:ext cx="685800" cy="461665"/>
            </a:xfrm>
            <a:prstGeom prst="rect">
              <a:avLst/>
            </a:prstGeom>
            <a:noFill/>
            <a:ln w="9525">
              <a:noFill/>
              <a:miter lim="800000"/>
              <a:headEnd/>
              <a:tailEnd/>
            </a:ln>
          </p:spPr>
          <p:txBody>
            <a:bodyPr>
              <a:spAutoFit/>
            </a:bodyPr>
            <a:lstStyle/>
            <a:p>
              <a:pPr>
                <a:spcBef>
                  <a:spcPct val="50000"/>
                </a:spcBef>
              </a:pPr>
              <a:r>
                <a:rPr lang="en-US" sz="2400" i="1" dirty="0">
                  <a:latin typeface="Calibri" panose="020F0502020204030204" pitchFamily="34" charset="0"/>
                  <a:cs typeface="Calibri" panose="020F0502020204030204" pitchFamily="34" charset="0"/>
                </a:rPr>
                <a:t>P</a:t>
              </a:r>
            </a:p>
          </p:txBody>
        </p:sp>
        <p:sp>
          <p:nvSpPr>
            <p:cNvPr id="13" name="Text Box 37"/>
            <p:cNvSpPr txBox="1">
              <a:spLocks noChangeArrowheads="1"/>
            </p:cNvSpPr>
            <p:nvPr/>
          </p:nvSpPr>
          <p:spPr bwMode="auto">
            <a:xfrm>
              <a:off x="6778537" y="5818783"/>
              <a:ext cx="685800" cy="461665"/>
            </a:xfrm>
            <a:prstGeom prst="rect">
              <a:avLst/>
            </a:prstGeom>
            <a:noFill/>
            <a:ln w="9525">
              <a:noFill/>
              <a:miter lim="800000"/>
              <a:headEnd/>
              <a:tailEnd/>
            </a:ln>
          </p:spPr>
          <p:txBody>
            <a:bodyPr>
              <a:spAutoFit/>
            </a:bodyPr>
            <a:lstStyle/>
            <a:p>
              <a:pPr>
                <a:spcBef>
                  <a:spcPct val="50000"/>
                </a:spcBef>
              </a:pPr>
              <a:r>
                <a:rPr lang="en-US" sz="2400" i="1" dirty="0">
                  <a:latin typeface="Calibri" panose="020F0502020204030204" pitchFamily="34" charset="0"/>
                  <a:cs typeface="Calibri" panose="020F0502020204030204" pitchFamily="34" charset="0"/>
                </a:rPr>
                <a:t>N</a:t>
              </a:r>
            </a:p>
          </p:txBody>
        </p:sp>
      </p:grpSp>
    </p:spTree>
    <p:extLst>
      <p:ext uri="{BB962C8B-B14F-4D97-AF65-F5344CB8AC3E}">
        <p14:creationId xmlns:p14="http://schemas.microsoft.com/office/powerpoint/2010/main" val="142291048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Consider a binary classifier which has 99% accuracy. </a:t>
            </a:r>
            <a:endParaRPr lang="tr-TR" sz="2400" dirty="0">
              <a:latin typeface="Arial" panose="020B0604020202020204" pitchFamily="34" charset="0"/>
              <a:cs typeface="Arial" panose="020B0604020202020204" pitchFamily="34" charset="0"/>
            </a:endParaRP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Is this a good classifier in terms of the predictive performance?</a:t>
            </a:r>
          </a:p>
        </p:txBody>
      </p:sp>
    </p:spTree>
    <p:extLst>
      <p:ext uri="{BB962C8B-B14F-4D97-AF65-F5344CB8AC3E}">
        <p14:creationId xmlns:p14="http://schemas.microsoft.com/office/powerpoint/2010/main" val="106147539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Consider a binary classifier which has 99% accuracy. </a:t>
            </a:r>
            <a:endParaRPr lang="tr-TR" sz="2400" dirty="0">
              <a:latin typeface="Arial" panose="020B0604020202020204" pitchFamily="34" charset="0"/>
              <a:cs typeface="Arial" panose="020B0604020202020204" pitchFamily="34" charset="0"/>
            </a:endParaRP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Is this a good classifier in terms of the predictive performance?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The only correct answer to this question is </a:t>
            </a:r>
            <a:r>
              <a:rPr lang="tr-TR" sz="2400" dirty="0">
                <a:latin typeface="Arial" panose="020B0604020202020204" pitchFamily="34" charset="0"/>
                <a:cs typeface="Arial" panose="020B0604020202020204" pitchFamily="34" charset="0"/>
              </a:rPr>
              <a:t>"</a:t>
            </a:r>
            <a:r>
              <a:rPr lang="en-US" sz="2400" b="1" u="sng" dirty="0">
                <a:latin typeface="Arial" panose="020B0604020202020204" pitchFamily="34" charset="0"/>
                <a:cs typeface="Arial" panose="020B0604020202020204" pitchFamily="34" charset="0"/>
              </a:rPr>
              <a:t>IT DEPENDS!</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03214751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Consider a binary classifier which has 99% accuracy. </a:t>
            </a:r>
            <a:endParaRPr lang="tr-TR" sz="2400" dirty="0">
              <a:latin typeface="Arial" panose="020B0604020202020204" pitchFamily="34" charset="0"/>
              <a:cs typeface="Arial" panose="020B0604020202020204" pitchFamily="34" charset="0"/>
            </a:endParaRP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Is this a good classifier in terms of the predictive performance?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The only correct answer to this question is "</a:t>
            </a:r>
            <a:r>
              <a:rPr lang="en-US" sz="2400" b="1" u="sng" dirty="0">
                <a:latin typeface="Arial" panose="020B0604020202020204" pitchFamily="34" charset="0"/>
                <a:cs typeface="Arial" panose="020B0604020202020204" pitchFamily="34" charset="0"/>
              </a:rPr>
              <a:t>IT DEPENDS!</a:t>
            </a:r>
            <a:r>
              <a:rPr lang="en-US" sz="2400" b="1" dirty="0">
                <a:latin typeface="Arial" panose="020B0604020202020204" pitchFamily="34" charset="0"/>
                <a:cs typeface="Arial" panose="020B0604020202020204" pitchFamily="34" charset="0"/>
              </a:rPr>
              <a:t>".</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Suppose that 99% of the whole data is "+" and only 1% is "-".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In that case a simple classifier that yields "Everyone is Positive" would also have accuracy of 99%!</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400" dirty="0">
                <a:latin typeface="Arial" panose="020B0604020202020204" pitchFamily="34" charset="0"/>
                <a:cs typeface="Arial" panose="020B0604020202020204" pitchFamily="34" charset="0"/>
              </a:rPr>
              <a:t>Thus when the data is </a:t>
            </a:r>
            <a:r>
              <a:rPr lang="en-US" sz="2400" b="1" i="1" dirty="0">
                <a:latin typeface="Arial" panose="020B0604020202020204" pitchFamily="34" charset="0"/>
                <a:cs typeface="Arial" panose="020B0604020202020204" pitchFamily="34" charset="0"/>
              </a:rPr>
              <a:t>imbalanced</a:t>
            </a:r>
            <a:r>
              <a:rPr lang="en-US" sz="2400" dirty="0">
                <a:latin typeface="Arial" panose="020B0604020202020204" pitchFamily="34" charset="0"/>
                <a:cs typeface="Arial" panose="020B0604020202020204" pitchFamily="34" charset="0"/>
              </a:rPr>
              <a:t> in that case </a:t>
            </a:r>
            <a:r>
              <a:rPr lang="en-US" sz="2400" i="1" dirty="0">
                <a:solidFill>
                  <a:srgbClr val="00B050"/>
                </a:solidFill>
                <a:latin typeface="Arial" panose="020B0604020202020204" pitchFamily="34" charset="0"/>
                <a:cs typeface="Arial" panose="020B0604020202020204" pitchFamily="34" charset="0"/>
              </a:rPr>
              <a:t>accuracy</a:t>
            </a:r>
            <a:r>
              <a:rPr lang="en-US" sz="2400" dirty="0">
                <a:solidFill>
                  <a:srgbClr val="00B05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doesn’t say much about the predictive performance!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endParaRPr lang="en-US" sz="2400" dirty="0">
              <a:latin typeface="Arial" panose="020B0604020202020204" pitchFamily="34" charset="0"/>
              <a:cs typeface="Arial" panose="020B0604020202020204" pitchFamily="34" charset="0"/>
            </a:endParaRPr>
          </a:p>
        </p:txBody>
      </p:sp>
      <p:graphicFrame>
        <p:nvGraphicFramePr>
          <p:cNvPr id="4" name="Group 34"/>
          <p:cNvGraphicFramePr>
            <a:graphicFrameLocks/>
          </p:cNvGraphicFramePr>
          <p:nvPr/>
        </p:nvGraphicFramePr>
        <p:xfrm>
          <a:off x="7727945" y="5311376"/>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EXAMPLE</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tr-TR"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99</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1</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0857899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a:xfrm>
            <a:off x="838200" y="1825625"/>
            <a:ext cx="7514229" cy="4351338"/>
          </a:xfrm>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Consider </a:t>
            </a:r>
            <a:r>
              <a:rPr lang="en-US" sz="1800" b="1" dirty="0">
                <a:latin typeface="Arial" panose="020B0604020202020204" pitchFamily="34" charset="0"/>
                <a:cs typeface="Arial" panose="020B0604020202020204" pitchFamily="34" charset="0"/>
              </a:rPr>
              <a:t>two binary classifiers</a:t>
            </a:r>
            <a:r>
              <a:rPr lang="en-US" sz="1800" dirty="0">
                <a:latin typeface="Arial" panose="020B0604020202020204" pitchFamily="34" charset="0"/>
                <a:cs typeface="Arial" panose="020B0604020202020204" pitchFamily="34" charset="0"/>
              </a:rPr>
              <a:t>. One has </a:t>
            </a:r>
            <a:r>
              <a:rPr lang="en-US" sz="1800" i="1" u="sng" dirty="0">
                <a:latin typeface="Arial" panose="020B0604020202020204" pitchFamily="34" charset="0"/>
                <a:cs typeface="Arial" panose="020B0604020202020204" pitchFamily="34" charset="0"/>
              </a:rPr>
              <a:t>99% accuracy</a:t>
            </a:r>
            <a:r>
              <a:rPr lang="en-US" sz="1800" u="sng"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and the other one has </a:t>
            </a:r>
            <a:r>
              <a:rPr lang="en-US" sz="1800" i="1" u="sng" dirty="0">
                <a:latin typeface="Arial" panose="020B0604020202020204" pitchFamily="34" charset="0"/>
                <a:cs typeface="Arial" panose="020B0604020202020204" pitchFamily="34" charset="0"/>
              </a:rPr>
              <a:t>1% accuracy</a:t>
            </a:r>
            <a:r>
              <a:rPr lang="en-US" sz="1800" dirty="0">
                <a:latin typeface="Arial" panose="020B0604020202020204" pitchFamily="34" charset="0"/>
                <a:cs typeface="Arial" panose="020B0604020202020204" pitchFamily="34" charset="0"/>
              </a:rPr>
              <a:t>.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Which one is a better classifier, i.e., should be preferred in practice?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56825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a:xfrm>
            <a:off x="838200" y="1825625"/>
            <a:ext cx="7514229" cy="4351338"/>
          </a:xfrm>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Consider </a:t>
            </a:r>
            <a:r>
              <a:rPr lang="en-US" sz="1800" b="1" dirty="0">
                <a:latin typeface="Arial" panose="020B0604020202020204" pitchFamily="34" charset="0"/>
                <a:cs typeface="Arial" panose="020B0604020202020204" pitchFamily="34" charset="0"/>
              </a:rPr>
              <a:t>two binary classifiers</a:t>
            </a:r>
            <a:r>
              <a:rPr lang="en-US" sz="1800" dirty="0">
                <a:latin typeface="Arial" panose="020B0604020202020204" pitchFamily="34" charset="0"/>
                <a:cs typeface="Arial" panose="020B0604020202020204" pitchFamily="34" charset="0"/>
              </a:rPr>
              <a:t>. One has </a:t>
            </a:r>
            <a:r>
              <a:rPr lang="en-US" sz="1800" i="1" u="sng" dirty="0">
                <a:latin typeface="Arial" panose="020B0604020202020204" pitchFamily="34" charset="0"/>
                <a:cs typeface="Arial" panose="020B0604020202020204" pitchFamily="34" charset="0"/>
              </a:rPr>
              <a:t>99% accuracy</a:t>
            </a:r>
            <a:r>
              <a:rPr lang="en-US" sz="1800" u="sng"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and the other one has </a:t>
            </a:r>
            <a:r>
              <a:rPr lang="en-US" sz="1800" i="1" u="sng" dirty="0">
                <a:latin typeface="Arial" panose="020B0604020202020204" pitchFamily="34" charset="0"/>
                <a:cs typeface="Arial" panose="020B0604020202020204" pitchFamily="34" charset="0"/>
              </a:rPr>
              <a:t>1% accuracy</a:t>
            </a:r>
            <a:r>
              <a:rPr lang="en-US" sz="1800" dirty="0">
                <a:latin typeface="Arial" panose="020B0604020202020204" pitchFamily="34" charset="0"/>
                <a:cs typeface="Arial" panose="020B0604020202020204" pitchFamily="34" charset="0"/>
              </a:rPr>
              <a:t>.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Which one is a better classifier, i.e., should be preferred in practice?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The only correct answer to this question is "</a:t>
            </a:r>
            <a:r>
              <a:rPr lang="en-US" sz="1800" b="1" u="sng" dirty="0">
                <a:latin typeface="Arial" panose="020B0604020202020204" pitchFamily="34" charset="0"/>
                <a:cs typeface="Arial" panose="020B0604020202020204" pitchFamily="34" charset="0"/>
              </a:rPr>
              <a:t>IT DEPENDS!</a:t>
            </a:r>
            <a:r>
              <a:rPr lang="en-US" sz="18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3101913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a:xfrm>
            <a:off x="838200" y="1825625"/>
            <a:ext cx="7514229" cy="4351338"/>
          </a:xfrm>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Consider </a:t>
            </a:r>
            <a:r>
              <a:rPr lang="en-US" sz="1800" b="1" dirty="0">
                <a:latin typeface="Arial" panose="020B0604020202020204" pitchFamily="34" charset="0"/>
                <a:cs typeface="Arial" panose="020B0604020202020204" pitchFamily="34" charset="0"/>
              </a:rPr>
              <a:t>two binary classifiers</a:t>
            </a:r>
            <a:r>
              <a:rPr lang="en-US" sz="1800" dirty="0">
                <a:latin typeface="Arial" panose="020B0604020202020204" pitchFamily="34" charset="0"/>
                <a:cs typeface="Arial" panose="020B0604020202020204" pitchFamily="34" charset="0"/>
              </a:rPr>
              <a:t>. One has </a:t>
            </a:r>
            <a:r>
              <a:rPr lang="en-US" sz="1800" i="1" u="sng" dirty="0">
                <a:latin typeface="Arial" panose="020B0604020202020204" pitchFamily="34" charset="0"/>
                <a:cs typeface="Arial" panose="020B0604020202020204" pitchFamily="34" charset="0"/>
              </a:rPr>
              <a:t>99% accuracy</a:t>
            </a:r>
            <a:r>
              <a:rPr lang="en-US" sz="1800" u="sng"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and the other one has </a:t>
            </a:r>
            <a:r>
              <a:rPr lang="en-US" sz="1800" i="1" u="sng" dirty="0">
                <a:latin typeface="Arial" panose="020B0604020202020204" pitchFamily="34" charset="0"/>
                <a:cs typeface="Arial" panose="020B0604020202020204" pitchFamily="34" charset="0"/>
              </a:rPr>
              <a:t>1% accuracy</a:t>
            </a:r>
            <a:r>
              <a:rPr lang="en-US" sz="1800" dirty="0">
                <a:latin typeface="Arial" panose="020B0604020202020204" pitchFamily="34" charset="0"/>
                <a:cs typeface="Arial" panose="020B0604020202020204" pitchFamily="34" charset="0"/>
              </a:rPr>
              <a:t>.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Which one is a better classifier, i.e., should be preferred in practice?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The only correct answer to this question is "</a:t>
            </a:r>
            <a:r>
              <a:rPr lang="en-US" sz="1800" b="1" u="sng" dirty="0">
                <a:latin typeface="Arial" panose="020B0604020202020204" pitchFamily="34" charset="0"/>
                <a:cs typeface="Arial" panose="020B0604020202020204" pitchFamily="34" charset="0"/>
              </a:rPr>
              <a:t>IT DEPENDS!</a:t>
            </a:r>
            <a:r>
              <a:rPr lang="en-US" sz="1800" b="1" dirty="0">
                <a:latin typeface="Arial" panose="020B0604020202020204" pitchFamily="34" charset="0"/>
                <a:cs typeface="Arial" panose="020B0604020202020204" pitchFamily="34" charset="0"/>
              </a:rPr>
              <a:t>".</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Suppose that 99% of the whole data is "+" (indicating </a:t>
            </a:r>
            <a:r>
              <a:rPr lang="en-US" sz="1800" b="1" dirty="0">
                <a:latin typeface="Arial" panose="020B0604020202020204" pitchFamily="34" charset="0"/>
                <a:cs typeface="Arial" panose="020B0604020202020204" pitchFamily="34" charset="0"/>
              </a:rPr>
              <a:t>healthy</a:t>
            </a:r>
            <a:r>
              <a:rPr lang="en-US" sz="1800" dirty="0">
                <a:latin typeface="Arial" panose="020B0604020202020204" pitchFamily="34" charset="0"/>
                <a:cs typeface="Arial" panose="020B0604020202020204" pitchFamily="34" charset="0"/>
              </a:rPr>
              <a:t>) and only 1% is "-" (indicating </a:t>
            </a:r>
            <a:r>
              <a:rPr lang="en-US" sz="1800" b="1" dirty="0">
                <a:latin typeface="Arial" panose="020B0604020202020204" pitchFamily="34" charset="0"/>
                <a:cs typeface="Arial" panose="020B0604020202020204" pitchFamily="34" charset="0"/>
              </a:rPr>
              <a:t>sick</a:t>
            </a:r>
            <a:r>
              <a:rPr lang="en-US" sz="1800" dirty="0">
                <a:latin typeface="Arial" panose="020B0604020202020204" pitchFamily="34" charset="0"/>
                <a:cs typeface="Arial" panose="020B0604020202020204" pitchFamily="34" charset="0"/>
              </a:rPr>
              <a:t>).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Furthermore, suppose that you will </a:t>
            </a:r>
            <a:r>
              <a:rPr lang="en-US" sz="1800" i="1" u="sng" dirty="0">
                <a:latin typeface="Arial" panose="020B0604020202020204" pitchFamily="34" charset="0"/>
                <a:cs typeface="Arial" panose="020B0604020202020204" pitchFamily="34" charset="0"/>
              </a:rPr>
              <a:t>start a treatment </a:t>
            </a:r>
            <a:r>
              <a:rPr lang="en-US" sz="1800" dirty="0">
                <a:latin typeface="Arial" panose="020B0604020202020204" pitchFamily="34" charset="0"/>
                <a:cs typeface="Arial" panose="020B0604020202020204" pitchFamily="34" charset="0"/>
              </a:rPr>
              <a:t>for the instances who are predicted to be "Positive" and </a:t>
            </a:r>
            <a:r>
              <a:rPr lang="en-US" sz="1800" i="1" u="sng" dirty="0">
                <a:latin typeface="Arial" panose="020B0604020202020204" pitchFamily="34" charset="0"/>
                <a:cs typeface="Arial" panose="020B0604020202020204" pitchFamily="34" charset="0"/>
              </a:rPr>
              <a:t>do nothing </a:t>
            </a:r>
            <a:r>
              <a:rPr lang="en-US" sz="1800" dirty="0">
                <a:latin typeface="Arial" panose="020B0604020202020204" pitchFamily="34" charset="0"/>
                <a:cs typeface="Arial" panose="020B0604020202020204" pitchFamily="34" charset="0"/>
              </a:rPr>
              <a:t>who are predicted to be "Negative".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Suppose that the side effect of the treatment is </a:t>
            </a:r>
            <a:r>
              <a:rPr lang="en-US" sz="1800" b="1" dirty="0">
                <a:latin typeface="Arial" panose="020B0604020202020204" pitchFamily="34" charset="0"/>
                <a:cs typeface="Arial" panose="020B0604020202020204" pitchFamily="34" charset="0"/>
              </a:rPr>
              <a:t>"Headache" </a:t>
            </a:r>
            <a:r>
              <a:rPr lang="en-US" sz="1800" dirty="0">
                <a:latin typeface="Arial" panose="020B0604020202020204" pitchFamily="34" charset="0"/>
                <a:cs typeface="Arial" panose="020B0604020202020204" pitchFamily="34" charset="0"/>
              </a:rPr>
              <a:t>and in case you don’t treat a person who is sick </a:t>
            </a:r>
            <a:r>
              <a:rPr lang="en-US" sz="1800" b="1" dirty="0">
                <a:latin typeface="Arial" panose="020B0604020202020204" pitchFamily="34" charset="0"/>
                <a:cs typeface="Arial" panose="020B0604020202020204" pitchFamily="34" charset="0"/>
              </a:rPr>
              <a:t>"Dies". </a:t>
            </a:r>
          </a:p>
        </p:txBody>
      </p:sp>
    </p:spTree>
    <p:extLst>
      <p:ext uri="{BB962C8B-B14F-4D97-AF65-F5344CB8AC3E}">
        <p14:creationId xmlns:p14="http://schemas.microsoft.com/office/powerpoint/2010/main" val="4113447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Autofit/>
          </a:bodyPr>
          <a:lstStyle/>
          <a:p>
            <a:r>
              <a:rPr lang="en-US" b="1" dirty="0"/>
              <a:t>Accuracy Might Not Be Enough…</a:t>
            </a:r>
          </a:p>
        </p:txBody>
      </p:sp>
      <p:sp>
        <p:nvSpPr>
          <p:cNvPr id="20483" name="Rectangle 3"/>
          <p:cNvSpPr>
            <a:spLocks noGrp="1" noChangeArrowheads="1"/>
          </p:cNvSpPr>
          <p:nvPr>
            <p:ph type="body" idx="1"/>
          </p:nvPr>
        </p:nvSpPr>
        <p:spPr>
          <a:xfrm>
            <a:off x="838200" y="1825625"/>
            <a:ext cx="7514229" cy="4351338"/>
          </a:xfrm>
        </p:spPr>
        <p:txBody>
          <a:bodyPr>
            <a:noAutofit/>
          </a:bodyPr>
          <a:lstStyle/>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Consider </a:t>
            </a:r>
            <a:r>
              <a:rPr lang="en-US" sz="1800" b="1" dirty="0">
                <a:latin typeface="Arial" panose="020B0604020202020204" pitchFamily="34" charset="0"/>
                <a:cs typeface="Arial" panose="020B0604020202020204" pitchFamily="34" charset="0"/>
              </a:rPr>
              <a:t>two binary classifiers</a:t>
            </a:r>
            <a:r>
              <a:rPr lang="en-US" sz="1800" dirty="0">
                <a:latin typeface="Arial" panose="020B0604020202020204" pitchFamily="34" charset="0"/>
                <a:cs typeface="Arial" panose="020B0604020202020204" pitchFamily="34" charset="0"/>
              </a:rPr>
              <a:t>. One has </a:t>
            </a:r>
            <a:r>
              <a:rPr lang="en-US" sz="1800" i="1" u="sng" dirty="0">
                <a:latin typeface="Arial" panose="020B0604020202020204" pitchFamily="34" charset="0"/>
                <a:cs typeface="Arial" panose="020B0604020202020204" pitchFamily="34" charset="0"/>
              </a:rPr>
              <a:t>99% accuracy</a:t>
            </a:r>
            <a:r>
              <a:rPr lang="en-US" sz="1800" u="sng"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and the other one has </a:t>
            </a:r>
            <a:r>
              <a:rPr lang="en-US" sz="1800" i="1" u="sng" dirty="0">
                <a:latin typeface="Arial" panose="020B0604020202020204" pitchFamily="34" charset="0"/>
                <a:cs typeface="Arial" panose="020B0604020202020204" pitchFamily="34" charset="0"/>
              </a:rPr>
              <a:t>1% accuracy</a:t>
            </a:r>
            <a:r>
              <a:rPr lang="en-US" sz="1800" dirty="0">
                <a:latin typeface="Arial" panose="020B0604020202020204" pitchFamily="34" charset="0"/>
                <a:cs typeface="Arial" panose="020B0604020202020204" pitchFamily="34" charset="0"/>
              </a:rPr>
              <a:t>.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Which one is a better classifier, i.e., should be preferred in practice?</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The only correct answer to this question is "</a:t>
            </a:r>
            <a:r>
              <a:rPr lang="en-US" sz="1800" b="1" u="sng" dirty="0">
                <a:latin typeface="Arial" panose="020B0604020202020204" pitchFamily="34" charset="0"/>
                <a:cs typeface="Arial" panose="020B0604020202020204" pitchFamily="34" charset="0"/>
              </a:rPr>
              <a:t>IT DEPENDS!</a:t>
            </a:r>
            <a:r>
              <a:rPr lang="en-US" sz="1800" b="1" dirty="0">
                <a:latin typeface="Arial" panose="020B0604020202020204" pitchFamily="34" charset="0"/>
                <a:cs typeface="Arial" panose="020B0604020202020204" pitchFamily="34" charset="0"/>
              </a:rPr>
              <a:t>".</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Suppose that 99% of the whole data is "+" (indicating </a:t>
            </a:r>
            <a:r>
              <a:rPr lang="en-US" sz="1800" b="1" dirty="0">
                <a:latin typeface="Arial" panose="020B0604020202020204" pitchFamily="34" charset="0"/>
                <a:cs typeface="Arial" panose="020B0604020202020204" pitchFamily="34" charset="0"/>
              </a:rPr>
              <a:t>healthy</a:t>
            </a:r>
            <a:r>
              <a:rPr lang="en-US" sz="1800" dirty="0">
                <a:latin typeface="Arial" panose="020B0604020202020204" pitchFamily="34" charset="0"/>
                <a:cs typeface="Arial" panose="020B0604020202020204" pitchFamily="34" charset="0"/>
              </a:rPr>
              <a:t>) and only 1% is "-" (indicating </a:t>
            </a:r>
            <a:r>
              <a:rPr lang="en-US" sz="1800" b="1" dirty="0">
                <a:latin typeface="Arial" panose="020B0604020202020204" pitchFamily="34" charset="0"/>
                <a:cs typeface="Arial" panose="020B0604020202020204" pitchFamily="34" charset="0"/>
              </a:rPr>
              <a:t>sick</a:t>
            </a:r>
            <a:r>
              <a:rPr lang="en-US" sz="1800" dirty="0">
                <a:latin typeface="Arial" panose="020B0604020202020204" pitchFamily="34" charset="0"/>
                <a:cs typeface="Arial" panose="020B0604020202020204" pitchFamily="34" charset="0"/>
              </a:rPr>
              <a:t>).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Furthermore, suppose that you will </a:t>
            </a:r>
            <a:r>
              <a:rPr lang="en-US" sz="1800" i="1" u="sng" dirty="0">
                <a:latin typeface="Arial" panose="020B0604020202020204" pitchFamily="34" charset="0"/>
                <a:cs typeface="Arial" panose="020B0604020202020204" pitchFamily="34" charset="0"/>
              </a:rPr>
              <a:t>start a treatment </a:t>
            </a:r>
            <a:r>
              <a:rPr lang="en-US" sz="1800" dirty="0">
                <a:latin typeface="Arial" panose="020B0604020202020204" pitchFamily="34" charset="0"/>
                <a:cs typeface="Arial" panose="020B0604020202020204" pitchFamily="34" charset="0"/>
              </a:rPr>
              <a:t>for the instances who are predicted to be "Positive" and </a:t>
            </a:r>
            <a:r>
              <a:rPr lang="en-US" sz="1800" i="1" u="sng" dirty="0">
                <a:latin typeface="Arial" panose="020B0604020202020204" pitchFamily="34" charset="0"/>
                <a:cs typeface="Arial" panose="020B0604020202020204" pitchFamily="34" charset="0"/>
              </a:rPr>
              <a:t>do nothing </a:t>
            </a:r>
            <a:r>
              <a:rPr lang="en-US" sz="1800" dirty="0">
                <a:latin typeface="Arial" panose="020B0604020202020204" pitchFamily="34" charset="0"/>
                <a:cs typeface="Arial" panose="020B0604020202020204" pitchFamily="34" charset="0"/>
              </a:rPr>
              <a:t>who are predicted to be "Negative".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dirty="0">
                <a:latin typeface="Arial" panose="020B0604020202020204" pitchFamily="34" charset="0"/>
                <a:cs typeface="Arial" panose="020B0604020202020204" pitchFamily="34" charset="0"/>
              </a:rPr>
              <a:t>Suppose that the side effect of the treatment is </a:t>
            </a:r>
            <a:r>
              <a:rPr lang="en-US" sz="1800" b="1" dirty="0">
                <a:latin typeface="Arial" panose="020B0604020202020204" pitchFamily="34" charset="0"/>
                <a:cs typeface="Arial" panose="020B0604020202020204" pitchFamily="34" charset="0"/>
              </a:rPr>
              <a:t>"Headache" </a:t>
            </a:r>
            <a:r>
              <a:rPr lang="en-US" sz="1800" dirty="0">
                <a:latin typeface="Arial" panose="020B0604020202020204" pitchFamily="34" charset="0"/>
                <a:cs typeface="Arial" panose="020B0604020202020204" pitchFamily="34" charset="0"/>
              </a:rPr>
              <a:t>and in case you don’t treat a person who is sick </a:t>
            </a:r>
            <a:r>
              <a:rPr lang="en-US" sz="1800" b="1" dirty="0">
                <a:latin typeface="Arial" panose="020B0604020202020204" pitchFamily="34" charset="0"/>
                <a:cs typeface="Arial" panose="020B0604020202020204" pitchFamily="34" charset="0"/>
              </a:rPr>
              <a:t>"Dies". </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b="1" dirty="0">
                <a:latin typeface="Arial" panose="020B0604020202020204" pitchFamily="34" charset="0"/>
                <a:cs typeface="Arial" panose="020B0604020202020204" pitchFamily="34" charset="0"/>
              </a:rPr>
              <a:t>Classifier A: "All is Positive" (99% Accurate) → 1 Dead!</a:t>
            </a: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1800" b="1" dirty="0">
                <a:latin typeface="Arial" panose="020B0604020202020204" pitchFamily="34" charset="0"/>
                <a:cs typeface="Arial" panose="020B0604020202020204" pitchFamily="34" charset="0"/>
              </a:rPr>
              <a:t>Classifier B: "All is Negative" (1% Accurate) → 99 Headache!</a:t>
            </a:r>
          </a:p>
          <a:p>
            <a:pPr marL="94737" indent="0" defTabSz="401239">
              <a:lnSpc>
                <a:spcPct val="120000"/>
              </a:lnSpc>
              <a:spcBef>
                <a:spcPts val="600"/>
              </a:spcBef>
              <a:buNone/>
              <a:tabLst>
                <a:tab pos="635295" algn="l"/>
                <a:tab pos="1270589" algn="l"/>
                <a:tab pos="1905884" algn="l"/>
                <a:tab pos="2541179" algn="l"/>
                <a:tab pos="3176473" algn="l"/>
                <a:tab pos="3811768" algn="l"/>
                <a:tab pos="4447062" algn="l"/>
                <a:tab pos="5082357" algn="l"/>
                <a:tab pos="5717652" algn="l"/>
                <a:tab pos="6352946" algn="l"/>
                <a:tab pos="6988241" algn="l"/>
              </a:tabLst>
              <a:defRPr/>
            </a:pPr>
            <a:endParaRPr lang="en-US" sz="2400" dirty="0">
              <a:latin typeface="Arial" panose="020B0604020202020204" pitchFamily="34" charset="0"/>
              <a:cs typeface="Arial" panose="020B0604020202020204" pitchFamily="34" charset="0"/>
            </a:endParaRPr>
          </a:p>
        </p:txBody>
      </p:sp>
      <p:sp>
        <p:nvSpPr>
          <p:cNvPr id="8" name="TextBox 7"/>
          <p:cNvSpPr txBox="1"/>
          <p:nvPr/>
        </p:nvSpPr>
        <p:spPr>
          <a:xfrm>
            <a:off x="8352430" y="1808470"/>
            <a:ext cx="3625854" cy="369332"/>
          </a:xfrm>
          <a:prstGeom prst="rect">
            <a:avLst/>
          </a:prstGeom>
          <a:noFill/>
        </p:spPr>
        <p:txBody>
          <a:bodyPr wrap="square" rtlCol="0">
            <a:spAutoFit/>
          </a:bodyPr>
          <a:lstStyle/>
          <a:p>
            <a:pPr algn="ctr"/>
            <a:r>
              <a:rPr lang="en-US" b="1" dirty="0">
                <a:solidFill>
                  <a:schemeClr val="accent1">
                    <a:lumMod val="75000"/>
                  </a:schemeClr>
                </a:solidFill>
                <a:latin typeface="Arial" panose="020B0604020202020204" pitchFamily="34" charset="0"/>
                <a:cs typeface="Arial" panose="020B0604020202020204" pitchFamily="34" charset="0"/>
              </a:rPr>
              <a:t>CLASSIFIER</a:t>
            </a:r>
            <a:r>
              <a:rPr lang="tr-TR" b="1" dirty="0">
                <a:solidFill>
                  <a:schemeClr val="accent1">
                    <a:lumMod val="75000"/>
                  </a:schemeClr>
                </a:solidFill>
                <a:latin typeface="Arial" panose="020B0604020202020204" pitchFamily="34" charset="0"/>
                <a:cs typeface="Arial" panose="020B0604020202020204" pitchFamily="34" charset="0"/>
              </a:rPr>
              <a:t> A: </a:t>
            </a:r>
            <a:r>
              <a:rPr lang="en-US" b="1" dirty="0">
                <a:solidFill>
                  <a:schemeClr val="accent1">
                    <a:lumMod val="75000"/>
                  </a:schemeClr>
                </a:solidFill>
                <a:latin typeface="Arial" panose="020B0604020202020204" pitchFamily="34" charset="0"/>
                <a:cs typeface="Arial" panose="020B0604020202020204" pitchFamily="34" charset="0"/>
              </a:rPr>
              <a:t>99% Accuracy</a:t>
            </a:r>
          </a:p>
        </p:txBody>
      </p:sp>
      <p:grpSp>
        <p:nvGrpSpPr>
          <p:cNvPr id="15" name="Group 14"/>
          <p:cNvGrpSpPr/>
          <p:nvPr/>
        </p:nvGrpSpPr>
        <p:grpSpPr>
          <a:xfrm>
            <a:off x="8352429" y="3976731"/>
            <a:ext cx="3625855" cy="1816084"/>
            <a:chOff x="8352429" y="1825625"/>
            <a:chExt cx="3625855" cy="1816084"/>
          </a:xfrm>
        </p:grpSpPr>
        <p:sp>
          <p:nvSpPr>
            <p:cNvPr id="16" name="TextBox 15"/>
            <p:cNvSpPr txBox="1"/>
            <p:nvPr/>
          </p:nvSpPr>
          <p:spPr>
            <a:xfrm>
              <a:off x="8352430" y="1825625"/>
              <a:ext cx="3625854" cy="369332"/>
            </a:xfrm>
            <a:prstGeom prst="rect">
              <a:avLst/>
            </a:prstGeom>
            <a:noFill/>
          </p:spPr>
          <p:txBody>
            <a:bodyPr wrap="square" rtlCol="0">
              <a:spAutoFit/>
            </a:bodyPr>
            <a:lstStyle/>
            <a:p>
              <a:pPr algn="ctr"/>
              <a:r>
                <a:rPr lang="en-US" b="1" dirty="0">
                  <a:solidFill>
                    <a:schemeClr val="accent1">
                      <a:lumMod val="75000"/>
                    </a:schemeClr>
                  </a:solidFill>
                  <a:latin typeface="Arial" panose="020B0604020202020204" pitchFamily="34" charset="0"/>
                  <a:cs typeface="Arial" panose="020B0604020202020204" pitchFamily="34" charset="0"/>
                </a:rPr>
                <a:t>CLASSIFIER </a:t>
              </a:r>
              <a:r>
                <a:rPr lang="tr-TR" b="1" dirty="0">
                  <a:solidFill>
                    <a:schemeClr val="accent1">
                      <a:lumMod val="75000"/>
                    </a:schemeClr>
                  </a:solidFill>
                  <a:latin typeface="Arial" panose="020B0604020202020204" pitchFamily="34" charset="0"/>
                  <a:cs typeface="Arial" panose="020B0604020202020204" pitchFamily="34" charset="0"/>
                </a:rPr>
                <a:t>B: 1</a:t>
              </a:r>
              <a:r>
                <a:rPr lang="en-US" b="1" dirty="0">
                  <a:solidFill>
                    <a:schemeClr val="accent1">
                      <a:lumMod val="75000"/>
                    </a:schemeClr>
                  </a:solidFill>
                  <a:latin typeface="Arial" panose="020B0604020202020204" pitchFamily="34" charset="0"/>
                  <a:cs typeface="Arial" panose="020B0604020202020204" pitchFamily="34" charset="0"/>
                </a:rPr>
                <a:t>% Accuracy</a:t>
              </a:r>
            </a:p>
          </p:txBody>
        </p:sp>
        <p:graphicFrame>
          <p:nvGraphicFramePr>
            <p:cNvPr id="17" name="Group 34"/>
            <p:cNvGraphicFramePr>
              <a:graphicFrameLocks/>
            </p:cNvGraphicFramePr>
            <p:nvPr/>
          </p:nvGraphicFramePr>
          <p:xfrm>
            <a:off x="8352429" y="2194957"/>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EXAMPLE</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1" u="none" strike="noStrike" cap="none" normalizeH="0" baseline="0" noProof="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99 (Headache)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1</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grpSp>
      <p:sp>
        <p:nvSpPr>
          <p:cNvPr id="11" name="TextBox 10"/>
          <p:cNvSpPr txBox="1"/>
          <p:nvPr/>
        </p:nvSpPr>
        <p:spPr>
          <a:xfrm>
            <a:off x="8091985" y="6045872"/>
            <a:ext cx="4098878" cy="646331"/>
          </a:xfrm>
          <a:prstGeom prst="rect">
            <a:avLst/>
          </a:prstGeom>
          <a:noFill/>
        </p:spPr>
        <p:txBody>
          <a:bodyPr wrap="square" rtlCol="0">
            <a:spAutoFit/>
          </a:bodyPr>
          <a:lstStyle/>
          <a:p>
            <a:r>
              <a:rPr lang="tr-TR" b="1" dirty="0">
                <a:solidFill>
                  <a:srgbClr val="00B050"/>
                </a:solidFill>
              </a:rPr>
              <a:t>WHEN THERE IS COST, ACCURACY MIGHT NOT BE ENOUGH!</a:t>
            </a:r>
            <a:endParaRPr lang="en-US" b="1" dirty="0">
              <a:solidFill>
                <a:srgbClr val="00B050"/>
              </a:solidFill>
            </a:endParaRPr>
          </a:p>
        </p:txBody>
      </p:sp>
      <p:graphicFrame>
        <p:nvGraphicFramePr>
          <p:cNvPr id="20" name="Group 34"/>
          <p:cNvGraphicFramePr>
            <a:graphicFrameLocks/>
          </p:cNvGraphicFramePr>
          <p:nvPr/>
        </p:nvGraphicFramePr>
        <p:xfrm>
          <a:off x="8352429" y="2177802"/>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EXAMPLE</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99</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1 (Dead)</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2427583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r>
              <a:rPr lang="en-US" b="1" dirty="0"/>
              <a:t>Shortcomings of Accuracy</a:t>
            </a:r>
          </a:p>
        </p:txBody>
      </p:sp>
      <p:sp>
        <p:nvSpPr>
          <p:cNvPr id="20483" name="Rectangle 3"/>
          <p:cNvSpPr>
            <a:spLocks noGrp="1" noChangeArrowheads="1"/>
          </p:cNvSpPr>
          <p:nvPr>
            <p:ph type="body" idx="1"/>
          </p:nvPr>
        </p:nvSpPr>
        <p:spPr/>
        <p:txBody>
          <a:bodyPr>
            <a:noAutofit/>
          </a:bodyPr>
          <a:lstStyle/>
          <a:p>
            <a:pPr marL="231775" indent="-231775"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200" dirty="0">
                <a:latin typeface="Arial" panose="020B0604020202020204" pitchFamily="34" charset="0"/>
                <a:cs typeface="Arial" panose="020B0604020202020204" pitchFamily="34" charset="0"/>
              </a:rPr>
              <a:t>Accuracy is a </a:t>
            </a:r>
            <a:r>
              <a:rPr lang="en-US" sz="2200" i="1" dirty="0">
                <a:latin typeface="Arial" panose="020B0604020202020204" pitchFamily="34" charset="0"/>
                <a:cs typeface="Arial" panose="020B0604020202020204" pitchFamily="34" charset="0"/>
              </a:rPr>
              <a:t>relative</a:t>
            </a:r>
            <a:r>
              <a:rPr lang="en-US" sz="2200" dirty="0">
                <a:latin typeface="Arial" panose="020B0604020202020204" pitchFamily="34" charset="0"/>
                <a:cs typeface="Arial" panose="020B0604020202020204" pitchFamily="34" charset="0"/>
              </a:rPr>
              <a:t> measure</a:t>
            </a:r>
          </a:p>
          <a:p>
            <a:pPr marL="757895" lvl="1" indent="-252168" defTabSz="401239">
              <a:lnSpc>
                <a:spcPct val="120000"/>
              </a:lnSpc>
              <a:spcBef>
                <a:spcPts val="600"/>
              </a:spcBef>
              <a:buFont typeface="Arial"/>
              <a:buChar char="–"/>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200" dirty="0">
                <a:latin typeface="Arial" panose="020B0604020202020204" pitchFamily="34" charset="0"/>
                <a:cs typeface="Arial" panose="020B0604020202020204" pitchFamily="34" charset="0"/>
              </a:rPr>
              <a:t>Should be compared with "base accuracy" of always predicting the majority class (or compared with a very simple classifier!)</a:t>
            </a:r>
          </a:p>
          <a:p>
            <a:pPr marL="757895" lvl="1" indent="-252168" defTabSz="401239">
              <a:lnSpc>
                <a:spcPct val="120000"/>
              </a:lnSpc>
              <a:spcBef>
                <a:spcPts val="600"/>
              </a:spcBef>
              <a:buNone/>
              <a:tabLst>
                <a:tab pos="635295" algn="l"/>
                <a:tab pos="1270589" algn="l"/>
                <a:tab pos="1905884" algn="l"/>
                <a:tab pos="2541179" algn="l"/>
                <a:tab pos="3176473" algn="l"/>
                <a:tab pos="3811768" algn="l"/>
                <a:tab pos="4447062" algn="l"/>
                <a:tab pos="5082357" algn="l"/>
                <a:tab pos="5717652" algn="l"/>
                <a:tab pos="6352946" algn="l"/>
                <a:tab pos="6988241" algn="l"/>
              </a:tabLst>
              <a:defRPr/>
            </a:pPr>
            <a:r>
              <a:rPr lang="en-US" sz="2200" dirty="0">
                <a:latin typeface="Arial" panose="020B0604020202020204" pitchFamily="34" charset="0"/>
                <a:cs typeface="Arial" panose="020B0604020202020204" pitchFamily="34" charset="0"/>
              </a:rPr>
              <a:t>			base accuracy in table = max{P,N} / T</a:t>
            </a:r>
          </a:p>
          <a:p>
            <a:pPr defTabSz="400050">
              <a:lnSpc>
                <a:spcPct val="120000"/>
              </a:lnSpc>
              <a:spcBef>
                <a:spcPts val="600"/>
              </a:spcBef>
              <a:tabLst>
                <a:tab pos="635000" algn="l"/>
                <a:tab pos="1270000" algn="l"/>
                <a:tab pos="1905000" algn="l"/>
                <a:tab pos="2540000" algn="l"/>
                <a:tab pos="3175000" algn="l"/>
                <a:tab pos="3811588" algn="l"/>
                <a:tab pos="4446588" algn="l"/>
                <a:tab pos="5081588" algn="l"/>
                <a:tab pos="5716588" algn="l"/>
                <a:tab pos="6351588" algn="l"/>
                <a:tab pos="6988175" algn="l"/>
              </a:tabLst>
            </a:pPr>
            <a:r>
              <a:rPr lang="en-US" sz="2200" dirty="0">
                <a:latin typeface="Arial" panose="020B0604020202020204" pitchFamily="34" charset="0"/>
                <a:cs typeface="Arial" panose="020B0604020202020204" pitchFamily="34" charset="0"/>
              </a:rPr>
              <a:t>Accuracy ignores possibility of </a:t>
            </a:r>
            <a:r>
              <a:rPr lang="en-US" sz="2200" i="1" dirty="0">
                <a:latin typeface="Arial" panose="020B0604020202020204" pitchFamily="34" charset="0"/>
                <a:cs typeface="Arial" panose="020B0604020202020204" pitchFamily="34" charset="0"/>
              </a:rPr>
              <a:t>different misclassification costs</a:t>
            </a:r>
            <a:endParaRPr lang="en-US" sz="2200" dirty="0">
              <a:latin typeface="Arial" panose="020B0604020202020204" pitchFamily="34" charset="0"/>
              <a:cs typeface="Arial" panose="020B0604020202020204" pitchFamily="34" charset="0"/>
            </a:endParaRPr>
          </a:p>
          <a:p>
            <a:pPr marL="1136650" lvl="2" indent="-188913" defTabSz="400050">
              <a:lnSpc>
                <a:spcPct val="120000"/>
              </a:lnSpc>
              <a:spcBef>
                <a:spcPts val="600"/>
              </a:spcBef>
              <a:tabLst>
                <a:tab pos="635000" algn="l"/>
                <a:tab pos="1270000" algn="l"/>
                <a:tab pos="1905000" algn="l"/>
                <a:tab pos="2540000" algn="l"/>
                <a:tab pos="3175000" algn="l"/>
                <a:tab pos="3811588" algn="l"/>
                <a:tab pos="4446588" algn="l"/>
                <a:tab pos="5081588" algn="l"/>
                <a:tab pos="5716588" algn="l"/>
                <a:tab pos="6351588" algn="l"/>
                <a:tab pos="6988175" algn="l"/>
              </a:tabLst>
            </a:pPr>
            <a:r>
              <a:rPr lang="en-US" sz="2200" dirty="0">
                <a:latin typeface="Arial" panose="020B0604020202020204" pitchFamily="34" charset="0"/>
                <a:cs typeface="Arial" panose="020B0604020202020204" pitchFamily="34" charset="0"/>
              </a:rPr>
              <a:t>Not treating an ill patient vs. treating a healthy patient</a:t>
            </a:r>
          </a:p>
          <a:p>
            <a:pPr marL="1136650" lvl="2" indent="-188913" defTabSz="400050">
              <a:lnSpc>
                <a:spcPct val="120000"/>
              </a:lnSpc>
              <a:spcBef>
                <a:spcPts val="600"/>
              </a:spcBef>
              <a:tabLst>
                <a:tab pos="635000" algn="l"/>
                <a:tab pos="1270000" algn="l"/>
                <a:tab pos="1905000" algn="l"/>
                <a:tab pos="2540000" algn="l"/>
                <a:tab pos="3175000" algn="l"/>
                <a:tab pos="3811588" algn="l"/>
                <a:tab pos="4446588" algn="l"/>
                <a:tab pos="5081588" algn="l"/>
                <a:tab pos="5716588" algn="l"/>
                <a:tab pos="6351588" algn="l"/>
                <a:tab pos="6988175" algn="l"/>
              </a:tabLst>
            </a:pPr>
            <a:r>
              <a:rPr lang="en-US" sz="2200" dirty="0">
                <a:latin typeface="Arial" panose="020B0604020202020204" pitchFamily="34" charset="0"/>
                <a:cs typeface="Arial" panose="020B0604020202020204" pitchFamily="34" charset="0"/>
              </a:rPr>
              <a:t>Refusing credit to client who would have paid back vs. assigning credit to client who won't pay back</a:t>
            </a:r>
          </a:p>
          <a:p>
            <a:pPr defTabSz="400050">
              <a:lnSpc>
                <a:spcPct val="120000"/>
              </a:lnSpc>
              <a:spcBef>
                <a:spcPts val="600"/>
              </a:spcBef>
              <a:tabLst>
                <a:tab pos="635000" algn="l"/>
                <a:tab pos="1270000" algn="l"/>
                <a:tab pos="1905000" algn="l"/>
                <a:tab pos="2540000" algn="l"/>
                <a:tab pos="3175000" algn="l"/>
                <a:tab pos="3811588" algn="l"/>
                <a:tab pos="4446588" algn="l"/>
                <a:tab pos="5081588" algn="l"/>
                <a:tab pos="5716588" algn="l"/>
                <a:tab pos="6351588" algn="l"/>
                <a:tab pos="6988175" algn="l"/>
              </a:tabLst>
            </a:pPr>
            <a:r>
              <a:rPr lang="en-US" sz="2200" i="1" u="sng" dirty="0">
                <a:latin typeface="Arial" panose="020B0604020202020204" pitchFamily="34" charset="0"/>
                <a:cs typeface="Arial" panose="020B0604020202020204" pitchFamily="34" charset="0"/>
              </a:rPr>
              <a:t>Need to distinguish probability of making different types of errors.</a:t>
            </a:r>
          </a:p>
          <a:p>
            <a:pPr defTabSz="400050">
              <a:lnSpc>
                <a:spcPct val="120000"/>
              </a:lnSpc>
              <a:spcBef>
                <a:spcPts val="600"/>
              </a:spcBef>
              <a:tabLst>
                <a:tab pos="635000" algn="l"/>
                <a:tab pos="1270000" algn="l"/>
                <a:tab pos="1905000" algn="l"/>
                <a:tab pos="2540000" algn="l"/>
                <a:tab pos="3175000" algn="l"/>
                <a:tab pos="3811588" algn="l"/>
                <a:tab pos="4446588" algn="l"/>
                <a:tab pos="5081588" algn="l"/>
                <a:tab pos="5716588" algn="l"/>
                <a:tab pos="6351588" algn="l"/>
                <a:tab pos="6988175" algn="l"/>
              </a:tabLst>
            </a:pPr>
            <a:r>
              <a:rPr lang="en-US" sz="2200" b="1" dirty="0">
                <a:latin typeface="Arial" panose="020B0604020202020204" pitchFamily="34" charset="0"/>
                <a:cs typeface="Arial" panose="020B0604020202020204" pitchFamily="34" charset="0"/>
              </a:rPr>
              <a:t>Note that cost metrics are mostly assumed to be SYMMETRIC (e.g., RMSE, MSE, etc.) in Regression as well, which is disputable!</a:t>
            </a:r>
          </a:p>
          <a:p>
            <a:pPr lvl="1">
              <a:lnSpc>
                <a:spcPct val="120000"/>
              </a:lnSpc>
              <a:spcBef>
                <a:spcPts val="600"/>
              </a:spcBef>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971105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r>
              <a:rPr lang="en-US" b="1" dirty="0"/>
              <a:t>Misclassification Costs</a:t>
            </a:r>
          </a:p>
        </p:txBody>
      </p:sp>
      <p:sp>
        <p:nvSpPr>
          <p:cNvPr id="20483" name="Rectangle 3"/>
          <p:cNvSpPr>
            <a:spLocks noGrp="1" noChangeArrowheads="1"/>
          </p:cNvSpPr>
          <p:nvPr>
            <p:ph type="body" idx="1"/>
          </p:nvPr>
        </p:nvSpPr>
        <p:spPr/>
        <p:txBody>
          <a:bodyPr>
            <a:noAutofit/>
          </a:bodyPr>
          <a:lstStyle/>
          <a:p>
            <a:pPr>
              <a:lnSpc>
                <a:spcPct val="120000"/>
              </a:lnSpc>
              <a:spcBef>
                <a:spcPts val="600"/>
              </a:spcBef>
            </a:pPr>
            <a:r>
              <a:rPr lang="en-US" sz="2200" dirty="0">
                <a:latin typeface="Arial" panose="020B0604020202020204" pitchFamily="34" charset="0"/>
                <a:cs typeface="Arial" panose="020B0604020202020204" pitchFamily="34" charset="0"/>
              </a:rPr>
              <a:t>Distinguish “predictive accuracy” for </a:t>
            </a:r>
            <a:r>
              <a:rPr lang="en-US" sz="2200" b="1" u="sng" dirty="0">
                <a:latin typeface="Arial" panose="020B0604020202020204" pitchFamily="34" charset="0"/>
                <a:cs typeface="Arial" panose="020B0604020202020204" pitchFamily="34" charset="0"/>
              </a:rPr>
              <a:t>different classes</a:t>
            </a:r>
          </a:p>
          <a:p>
            <a:pPr lvl="1">
              <a:lnSpc>
                <a:spcPct val="120000"/>
              </a:lnSpc>
              <a:spcBef>
                <a:spcPts val="600"/>
              </a:spcBef>
            </a:pPr>
            <a:r>
              <a:rPr lang="en-US" sz="2200" dirty="0">
                <a:latin typeface="Arial" panose="020B0604020202020204" pitchFamily="34" charset="0"/>
                <a:cs typeface="Arial" panose="020B0604020202020204" pitchFamily="34" charset="0"/>
              </a:rPr>
              <a:t>Accuracy: probability that </a:t>
            </a:r>
            <a:r>
              <a:rPr lang="en-US" sz="2200" i="1" dirty="0">
                <a:solidFill>
                  <a:srgbClr val="0000FF"/>
                </a:solidFill>
                <a:latin typeface="Arial" panose="020B0604020202020204" pitchFamily="34" charset="0"/>
                <a:cs typeface="Arial" panose="020B0604020202020204" pitchFamily="34" charset="0"/>
              </a:rPr>
              <a:t>some</a:t>
            </a:r>
            <a:r>
              <a:rPr lang="en-US" sz="2200" dirty="0">
                <a:latin typeface="Arial" panose="020B0604020202020204" pitchFamily="34" charset="0"/>
                <a:cs typeface="Arial" panose="020B0604020202020204" pitchFamily="34" charset="0"/>
              </a:rPr>
              <a:t> instance is classified correctly</a:t>
            </a:r>
          </a:p>
          <a:p>
            <a:pPr lvl="1">
              <a:lnSpc>
                <a:spcPct val="120000"/>
              </a:lnSpc>
              <a:spcBef>
                <a:spcPts val="600"/>
              </a:spcBef>
            </a:pPr>
            <a:r>
              <a:rPr lang="en-US" sz="2200" dirty="0">
                <a:latin typeface="Arial" panose="020B0604020202020204" pitchFamily="34" charset="0"/>
                <a:cs typeface="Arial" panose="020B0604020202020204" pitchFamily="34" charset="0"/>
              </a:rPr>
              <a:t>Decomposed into</a:t>
            </a:r>
          </a:p>
          <a:p>
            <a:pPr lvl="2">
              <a:lnSpc>
                <a:spcPct val="120000"/>
              </a:lnSpc>
              <a:spcBef>
                <a:spcPts val="600"/>
              </a:spcBef>
            </a:pPr>
            <a:r>
              <a:rPr lang="en-US" sz="2200" i="1" dirty="0">
                <a:solidFill>
                  <a:srgbClr val="FF0000"/>
                </a:solidFill>
                <a:latin typeface="Arial" panose="020B0604020202020204" pitchFamily="34" charset="0"/>
                <a:cs typeface="Arial" panose="020B0604020202020204" pitchFamily="34" charset="0"/>
              </a:rPr>
              <a:t>TP</a:t>
            </a:r>
            <a:r>
              <a:rPr lang="tr-TR" sz="2200" i="1" dirty="0">
                <a:solidFill>
                  <a:srgbClr val="FF0000"/>
                </a:solidFill>
                <a:latin typeface="Arial" panose="020B0604020202020204" pitchFamily="34" charset="0"/>
                <a:cs typeface="Arial" panose="020B0604020202020204" pitchFamily="34" charset="0"/>
              </a:rPr>
              <a:t>R</a:t>
            </a:r>
            <a:r>
              <a:rPr lang="en-US" sz="2200" dirty="0">
                <a:latin typeface="Arial" panose="020B0604020202020204" pitchFamily="34" charset="0"/>
                <a:cs typeface="Arial" panose="020B0604020202020204" pitchFamily="34" charset="0"/>
              </a:rPr>
              <a:t>: “true positive rate</a:t>
            </a:r>
            <a:r>
              <a:rPr lang="tr-TR" sz="2200" dirty="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 (estimated) probability that a </a:t>
            </a:r>
            <a:r>
              <a:rPr lang="en-US" sz="2200" i="1" dirty="0">
                <a:solidFill>
                  <a:srgbClr val="0000FF"/>
                </a:solidFill>
                <a:latin typeface="Arial" panose="020B0604020202020204" pitchFamily="34" charset="0"/>
                <a:cs typeface="Arial" panose="020B0604020202020204" pitchFamily="34" charset="0"/>
              </a:rPr>
              <a:t>positive</a:t>
            </a:r>
            <a:r>
              <a:rPr lang="en-US" sz="2200" dirty="0">
                <a:latin typeface="Arial" panose="020B0604020202020204" pitchFamily="34" charset="0"/>
                <a:cs typeface="Arial" panose="020B0604020202020204" pitchFamily="34" charset="0"/>
              </a:rPr>
              <a:t> instance is classified correctly, TP/P=TP/(TP+FN)</a:t>
            </a:r>
          </a:p>
          <a:p>
            <a:pPr lvl="2">
              <a:lnSpc>
                <a:spcPct val="120000"/>
              </a:lnSpc>
              <a:spcBef>
                <a:spcPts val="600"/>
              </a:spcBef>
            </a:pPr>
            <a:r>
              <a:rPr lang="en-US" sz="2200" i="1" dirty="0">
                <a:solidFill>
                  <a:srgbClr val="FF0000"/>
                </a:solidFill>
                <a:latin typeface="Arial" panose="020B0604020202020204" pitchFamily="34" charset="0"/>
                <a:cs typeface="Arial" panose="020B0604020202020204" pitchFamily="34" charset="0"/>
              </a:rPr>
              <a:t>TN</a:t>
            </a:r>
            <a:r>
              <a:rPr lang="tr-TR" sz="2200" i="1" dirty="0">
                <a:solidFill>
                  <a:srgbClr val="FF0000"/>
                </a:solidFill>
                <a:latin typeface="Arial" panose="020B0604020202020204" pitchFamily="34" charset="0"/>
                <a:cs typeface="Arial" panose="020B0604020202020204" pitchFamily="34" charset="0"/>
              </a:rPr>
              <a:t>R</a:t>
            </a:r>
            <a:r>
              <a:rPr lang="en-US" sz="2200" dirty="0">
                <a:latin typeface="Arial" panose="020B0604020202020204" pitchFamily="34" charset="0"/>
                <a:cs typeface="Arial" panose="020B0604020202020204" pitchFamily="34" charset="0"/>
              </a:rPr>
              <a:t>: “true negative rate</a:t>
            </a:r>
            <a:r>
              <a:rPr lang="tr-TR" sz="2200" dirty="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 (estimated) probability that a </a:t>
            </a:r>
            <a:r>
              <a:rPr lang="en-US" sz="2200" i="1" dirty="0">
                <a:solidFill>
                  <a:srgbClr val="0000FF"/>
                </a:solidFill>
                <a:latin typeface="Arial" panose="020B0604020202020204" pitchFamily="34" charset="0"/>
                <a:cs typeface="Arial" panose="020B0604020202020204" pitchFamily="34" charset="0"/>
              </a:rPr>
              <a:t>negative</a:t>
            </a:r>
            <a:r>
              <a:rPr lang="en-US" sz="2200" dirty="0">
                <a:latin typeface="Arial" panose="020B0604020202020204" pitchFamily="34" charset="0"/>
                <a:cs typeface="Arial" panose="020B0604020202020204" pitchFamily="34" charset="0"/>
              </a:rPr>
              <a:t> instance is classified correctly, TN/N=TN/(TN+FP)</a:t>
            </a:r>
          </a:p>
          <a:p>
            <a:pPr lvl="1">
              <a:lnSpc>
                <a:spcPct val="120000"/>
              </a:lnSpc>
              <a:spcBef>
                <a:spcPts val="600"/>
              </a:spcBef>
            </a:pPr>
            <a:r>
              <a:rPr lang="en-US" sz="2200" dirty="0">
                <a:latin typeface="Arial" panose="020B0604020202020204" pitchFamily="34" charset="0"/>
                <a:cs typeface="Arial" panose="020B0604020202020204" pitchFamily="34" charset="0"/>
              </a:rPr>
              <a:t>We also define </a:t>
            </a:r>
          </a:p>
          <a:p>
            <a:pPr lvl="2">
              <a:lnSpc>
                <a:spcPct val="120000"/>
              </a:lnSpc>
              <a:spcBef>
                <a:spcPts val="600"/>
              </a:spcBef>
            </a:pPr>
            <a:r>
              <a:rPr lang="en-US" sz="2200" i="1" dirty="0">
                <a:solidFill>
                  <a:srgbClr val="FF0000"/>
                </a:solidFill>
                <a:latin typeface="Arial" panose="020B0604020202020204" pitchFamily="34" charset="0"/>
                <a:cs typeface="Arial" panose="020B0604020202020204" pitchFamily="34" charset="0"/>
              </a:rPr>
              <a:t>FP</a:t>
            </a:r>
            <a:r>
              <a:rPr lang="tr-TR" sz="2200" i="1" dirty="0">
                <a:solidFill>
                  <a:srgbClr val="FF0000"/>
                </a:solidFill>
                <a:latin typeface="Arial" panose="020B0604020202020204" pitchFamily="34" charset="0"/>
                <a:cs typeface="Arial" panose="020B0604020202020204" pitchFamily="34" charset="0"/>
              </a:rPr>
              <a:t>R</a:t>
            </a:r>
            <a:r>
              <a:rPr lang="en-US" sz="2200" i="1" dirty="0">
                <a:solidFill>
                  <a:srgbClr val="0000FF"/>
                </a:solidFill>
                <a:latin typeface="Arial" panose="020B0604020202020204" pitchFamily="34" charset="0"/>
                <a:cs typeface="Arial" panose="020B0604020202020204" pitchFamily="34" charset="0"/>
              </a:rPr>
              <a:t> = 1-TN</a:t>
            </a:r>
            <a:r>
              <a:rPr lang="tr-TR" sz="2200" i="1" dirty="0">
                <a:solidFill>
                  <a:srgbClr val="0000FF"/>
                </a:solidFill>
                <a:latin typeface="Arial" panose="020B0604020202020204" pitchFamily="34" charset="0"/>
                <a:cs typeface="Arial" panose="020B0604020202020204" pitchFamily="34" charset="0"/>
              </a:rPr>
              <a:t>R</a:t>
            </a:r>
            <a:r>
              <a:rPr lang="en-US" sz="2200" dirty="0">
                <a:latin typeface="Arial" panose="020B0604020202020204" pitchFamily="34" charset="0"/>
                <a:cs typeface="Arial" panose="020B0604020202020204" pitchFamily="34" charset="0"/>
              </a:rPr>
              <a:t>: “false positive rate”: estimated probability that a negative is classified as positive (FP/N = FP/(FP+TN))</a:t>
            </a:r>
          </a:p>
          <a:p>
            <a:pPr lvl="2">
              <a:lnSpc>
                <a:spcPct val="120000"/>
              </a:lnSpc>
              <a:spcBef>
                <a:spcPts val="600"/>
              </a:spcBef>
            </a:pPr>
            <a:r>
              <a:rPr lang="en-US" sz="2200" dirty="0">
                <a:latin typeface="Arial" panose="020B0604020202020204" pitchFamily="34" charset="0"/>
                <a:cs typeface="Arial" panose="020B0604020202020204" pitchFamily="34" charset="0"/>
              </a:rPr>
              <a:t>analogously </a:t>
            </a:r>
            <a:r>
              <a:rPr lang="en-US" sz="2200" i="1" dirty="0">
                <a:solidFill>
                  <a:srgbClr val="FF0000"/>
                </a:solidFill>
                <a:latin typeface="Arial" panose="020B0604020202020204" pitchFamily="34" charset="0"/>
                <a:cs typeface="Arial" panose="020B0604020202020204" pitchFamily="34" charset="0"/>
              </a:rPr>
              <a:t>FN</a:t>
            </a:r>
            <a:r>
              <a:rPr lang="tr-TR" sz="2200" i="1" dirty="0">
                <a:solidFill>
                  <a:srgbClr val="FF0000"/>
                </a:solidFill>
                <a:latin typeface="Arial" panose="020B0604020202020204" pitchFamily="34" charset="0"/>
                <a:cs typeface="Arial" panose="020B0604020202020204" pitchFamily="34" charset="0"/>
              </a:rPr>
              <a:t>R</a:t>
            </a:r>
            <a:r>
              <a:rPr lang="en-US" sz="2200" i="1" dirty="0">
                <a:solidFill>
                  <a:srgbClr val="0000FF"/>
                </a:solidFill>
                <a:latin typeface="Arial" panose="020B0604020202020204" pitchFamily="34" charset="0"/>
                <a:cs typeface="Arial" panose="020B0604020202020204" pitchFamily="34" charset="0"/>
              </a:rPr>
              <a:t> = 1-TP</a:t>
            </a:r>
            <a:r>
              <a:rPr lang="tr-TR" sz="2200" i="1" dirty="0">
                <a:solidFill>
                  <a:srgbClr val="0000FF"/>
                </a:solidFill>
                <a:latin typeface="Arial" panose="020B0604020202020204" pitchFamily="34" charset="0"/>
                <a:cs typeface="Arial" panose="020B0604020202020204" pitchFamily="34" charset="0"/>
              </a:rPr>
              <a:t>R</a:t>
            </a:r>
            <a:endParaRPr lang="en-US" sz="2200" dirty="0">
              <a:latin typeface="Arial" panose="020B0604020202020204" pitchFamily="34" charset="0"/>
              <a:cs typeface="Arial" panose="020B0604020202020204" pitchFamily="34" charset="0"/>
            </a:endParaRPr>
          </a:p>
          <a:p>
            <a:pPr lvl="1">
              <a:lnSpc>
                <a:spcPct val="120000"/>
              </a:lnSpc>
              <a:spcBef>
                <a:spcPts val="600"/>
              </a:spcBef>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393807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r>
              <a:rPr lang="en-US" b="1" dirty="0"/>
              <a:t>Misclassification Costs (2</a:t>
            </a:r>
            <a:r>
              <a:rPr lang="en-US" dirty="0"/>
              <a:t>)</a:t>
            </a:r>
            <a:endParaRPr lang="en-US" b="1" dirty="0"/>
          </a:p>
        </p:txBody>
      </p:sp>
      <p:sp>
        <p:nvSpPr>
          <p:cNvPr id="20483" name="Rectangle 3"/>
          <p:cNvSpPr>
            <a:spLocks noGrp="1" noChangeArrowheads="1"/>
          </p:cNvSpPr>
          <p:nvPr>
            <p:ph type="body" idx="1"/>
          </p:nvPr>
        </p:nvSpPr>
        <p:spPr/>
        <p:txBody>
          <a:bodyPr>
            <a:noAutofit/>
          </a:bodyPr>
          <a:lstStyle/>
          <a:p>
            <a:pPr>
              <a:lnSpc>
                <a:spcPct val="120000"/>
              </a:lnSpc>
              <a:spcBef>
                <a:spcPts val="600"/>
              </a:spcBef>
            </a:pPr>
            <a:r>
              <a:rPr lang="en-US" sz="2200" dirty="0">
                <a:latin typeface="Arial" panose="020B0604020202020204" pitchFamily="34" charset="0"/>
                <a:cs typeface="Arial" panose="020B0604020202020204" pitchFamily="34" charset="0"/>
              </a:rPr>
              <a:t>Consider costs C</a:t>
            </a:r>
            <a:r>
              <a:rPr lang="en-US" sz="2200" baseline="-25000" dirty="0">
                <a:latin typeface="Arial" panose="020B0604020202020204" pitchFamily="34" charset="0"/>
                <a:cs typeface="Arial" panose="020B0604020202020204" pitchFamily="34" charset="0"/>
              </a:rPr>
              <a:t>FP</a:t>
            </a:r>
            <a:r>
              <a:rPr lang="en-US" sz="2200" dirty="0">
                <a:latin typeface="Arial" panose="020B0604020202020204" pitchFamily="34" charset="0"/>
                <a:cs typeface="Arial" panose="020B0604020202020204" pitchFamily="34" charset="0"/>
              </a:rPr>
              <a:t> and C</a:t>
            </a:r>
            <a:r>
              <a:rPr lang="en-US" sz="2200" baseline="-25000" dirty="0">
                <a:latin typeface="Arial" panose="020B0604020202020204" pitchFamily="34" charset="0"/>
                <a:cs typeface="Arial" panose="020B0604020202020204" pitchFamily="34" charset="0"/>
              </a:rPr>
              <a:t>FN</a:t>
            </a:r>
            <a:endParaRPr lang="en-US" sz="2200" dirty="0">
              <a:latin typeface="Arial" panose="020B0604020202020204" pitchFamily="34" charset="0"/>
              <a:cs typeface="Arial" panose="020B0604020202020204" pitchFamily="34" charset="0"/>
            </a:endParaRPr>
          </a:p>
          <a:p>
            <a:pPr lvl="1">
              <a:lnSpc>
                <a:spcPct val="120000"/>
              </a:lnSpc>
              <a:spcBef>
                <a:spcPts val="600"/>
              </a:spcBef>
              <a:buNone/>
            </a:pPr>
            <a:r>
              <a:rPr lang="en-US" sz="2200" dirty="0">
                <a:latin typeface="Arial" panose="020B0604020202020204" pitchFamily="34" charset="0"/>
                <a:cs typeface="Arial" panose="020B0604020202020204" pitchFamily="34" charset="0"/>
              </a:rPr>
              <a:t>= cost of false positive and false negative</a:t>
            </a:r>
          </a:p>
          <a:p>
            <a:pPr>
              <a:lnSpc>
                <a:spcPct val="120000"/>
              </a:lnSpc>
              <a:spcBef>
                <a:spcPts val="600"/>
              </a:spcBef>
            </a:pPr>
            <a:r>
              <a:rPr lang="en-US" sz="2200" dirty="0">
                <a:latin typeface="Arial" panose="020B0604020202020204" pitchFamily="34" charset="0"/>
                <a:cs typeface="Arial" panose="020B0604020202020204" pitchFamily="34" charset="0"/>
              </a:rPr>
              <a:t>Expected cost of a single prediction:</a:t>
            </a:r>
          </a:p>
          <a:p>
            <a:pPr lvl="1">
              <a:lnSpc>
                <a:spcPct val="120000"/>
              </a:lnSpc>
              <a:spcBef>
                <a:spcPts val="600"/>
              </a:spcBef>
              <a:buNone/>
            </a:pPr>
            <a:r>
              <a:rPr lang="en-US" sz="2200" dirty="0">
                <a:latin typeface="Arial" panose="020B0604020202020204" pitchFamily="34" charset="0"/>
                <a:cs typeface="Arial" panose="020B0604020202020204" pitchFamily="34" charset="0"/>
              </a:rPr>
              <a:t>		C = C</a:t>
            </a:r>
            <a:r>
              <a:rPr lang="en-US" sz="2200" baseline="-25000" dirty="0">
                <a:latin typeface="Arial" panose="020B0604020202020204" pitchFamily="34" charset="0"/>
                <a:cs typeface="Arial" panose="020B0604020202020204" pitchFamily="34" charset="0"/>
              </a:rPr>
              <a:t>FP</a:t>
            </a:r>
            <a:r>
              <a:rPr lang="en-US" sz="2200" dirty="0">
                <a:latin typeface="Arial" panose="020B0604020202020204" pitchFamily="34" charset="0"/>
                <a:cs typeface="Arial" panose="020B0604020202020204" pitchFamily="34" charset="0"/>
              </a:rPr>
              <a:t> </a:t>
            </a:r>
            <a:r>
              <a:rPr lang="en-US" sz="2200" dirty="0">
                <a:solidFill>
                  <a:srgbClr val="0066FF"/>
                </a:solidFill>
                <a:latin typeface="Arial" panose="020B0604020202020204" pitchFamily="34" charset="0"/>
                <a:cs typeface="Arial" panose="020B0604020202020204" pitchFamily="34" charset="0"/>
              </a:rPr>
              <a:t>P(</a:t>
            </a:r>
            <a:r>
              <a:rPr lang="en-US" sz="2200" dirty="0" err="1">
                <a:solidFill>
                  <a:srgbClr val="0066FF"/>
                </a:solidFill>
                <a:latin typeface="Arial" panose="020B0604020202020204" pitchFamily="34" charset="0"/>
                <a:cs typeface="Arial" panose="020B0604020202020204" pitchFamily="34" charset="0"/>
              </a:rPr>
              <a:t>pos</a:t>
            </a:r>
            <a:r>
              <a:rPr lang="en-US" sz="2200" dirty="0">
                <a:solidFill>
                  <a:srgbClr val="0066FF"/>
                </a:solidFill>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 </a:t>
            </a:r>
            <a:r>
              <a:rPr lang="en-US" sz="2200" dirty="0">
                <a:solidFill>
                  <a:srgbClr val="CC00CC"/>
                </a:solidFill>
                <a:latin typeface="Arial" panose="020B0604020202020204" pitchFamily="34" charset="0"/>
                <a:cs typeface="Arial" panose="020B0604020202020204" pitchFamily="34" charset="0"/>
              </a:rPr>
              <a:t>P(-)</a:t>
            </a:r>
            <a:r>
              <a:rPr lang="en-US" sz="2200" dirty="0">
                <a:latin typeface="Arial" panose="020B0604020202020204" pitchFamily="34" charset="0"/>
                <a:cs typeface="Arial" panose="020B0604020202020204" pitchFamily="34" charset="0"/>
              </a:rPr>
              <a:t> + C</a:t>
            </a:r>
            <a:r>
              <a:rPr lang="en-US" sz="2200" baseline="-25000" dirty="0">
                <a:latin typeface="Arial" panose="020B0604020202020204" pitchFamily="34" charset="0"/>
                <a:cs typeface="Arial" panose="020B0604020202020204" pitchFamily="34" charset="0"/>
              </a:rPr>
              <a:t>FN</a:t>
            </a:r>
            <a:r>
              <a:rPr lang="en-US" sz="2200" dirty="0">
                <a:latin typeface="Arial" panose="020B0604020202020204" pitchFamily="34" charset="0"/>
                <a:cs typeface="Arial" panose="020B0604020202020204" pitchFamily="34" charset="0"/>
              </a:rPr>
              <a:t> </a:t>
            </a:r>
            <a:r>
              <a:rPr lang="en-US" sz="2200" dirty="0">
                <a:solidFill>
                  <a:srgbClr val="0066FF"/>
                </a:solidFill>
                <a:latin typeface="Arial" panose="020B0604020202020204" pitchFamily="34" charset="0"/>
                <a:cs typeface="Arial" panose="020B0604020202020204" pitchFamily="34" charset="0"/>
              </a:rPr>
              <a:t>P(</a:t>
            </a:r>
            <a:r>
              <a:rPr lang="en-US" sz="2200" dirty="0" err="1">
                <a:solidFill>
                  <a:srgbClr val="0066FF"/>
                </a:solidFill>
                <a:latin typeface="Arial" panose="020B0604020202020204" pitchFamily="34" charset="0"/>
                <a:cs typeface="Arial" panose="020B0604020202020204" pitchFamily="34" charset="0"/>
              </a:rPr>
              <a:t>neg</a:t>
            </a:r>
            <a:r>
              <a:rPr lang="en-US" sz="2200" dirty="0">
                <a:solidFill>
                  <a:srgbClr val="0066FF"/>
                </a:solidFill>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 </a:t>
            </a:r>
            <a:r>
              <a:rPr lang="en-US" sz="2200" dirty="0">
                <a:solidFill>
                  <a:srgbClr val="CC00CC"/>
                </a:solidFill>
                <a:latin typeface="Arial" panose="020B0604020202020204" pitchFamily="34" charset="0"/>
                <a:cs typeface="Arial" panose="020B0604020202020204" pitchFamily="34" charset="0"/>
              </a:rPr>
              <a:t>P(+)</a:t>
            </a:r>
          </a:p>
          <a:p>
            <a:pPr lvl="1">
              <a:lnSpc>
                <a:spcPct val="120000"/>
              </a:lnSpc>
              <a:spcBef>
                <a:spcPts val="600"/>
              </a:spcBef>
            </a:pPr>
            <a:r>
              <a:rPr lang="en-US" sz="2200" dirty="0">
                <a:latin typeface="Arial" panose="020B0604020202020204" pitchFamily="34" charset="0"/>
                <a:cs typeface="Arial" panose="020B0604020202020204" pitchFamily="34" charset="0"/>
              </a:rPr>
              <a:t>estimated by C = C</a:t>
            </a:r>
            <a:r>
              <a:rPr lang="en-US" sz="2200" baseline="-25000" dirty="0">
                <a:latin typeface="Arial" panose="020B0604020202020204" pitchFamily="34" charset="0"/>
                <a:cs typeface="Arial" panose="020B0604020202020204" pitchFamily="34" charset="0"/>
              </a:rPr>
              <a:t>FP</a:t>
            </a:r>
            <a:r>
              <a:rPr lang="en-US" sz="2200" dirty="0">
                <a:latin typeface="Arial" panose="020B0604020202020204" pitchFamily="34" charset="0"/>
                <a:cs typeface="Arial" panose="020B0604020202020204" pitchFamily="34" charset="0"/>
              </a:rPr>
              <a:t> </a:t>
            </a:r>
            <a:r>
              <a:rPr lang="en-US" sz="2200" dirty="0">
                <a:solidFill>
                  <a:srgbClr val="0066FF"/>
                </a:solidFill>
                <a:latin typeface="Arial" panose="020B0604020202020204" pitchFamily="34" charset="0"/>
                <a:cs typeface="Arial" panose="020B0604020202020204" pitchFamily="34" charset="0"/>
              </a:rPr>
              <a:t>FPR</a:t>
            </a:r>
            <a:r>
              <a:rPr lang="en-US" sz="2200" dirty="0">
                <a:latin typeface="Arial" panose="020B0604020202020204" pitchFamily="34" charset="0"/>
                <a:cs typeface="Arial" panose="020B0604020202020204" pitchFamily="34" charset="0"/>
              </a:rPr>
              <a:t> </a:t>
            </a:r>
            <a:r>
              <a:rPr lang="en-US" sz="2200" dirty="0">
                <a:solidFill>
                  <a:srgbClr val="CC00CC"/>
                </a:solidFill>
                <a:latin typeface="Arial" panose="020B0604020202020204" pitchFamily="34" charset="0"/>
                <a:cs typeface="Arial" panose="020B0604020202020204" pitchFamily="34" charset="0"/>
              </a:rPr>
              <a:t>T</a:t>
            </a:r>
            <a:r>
              <a:rPr lang="en-US" sz="2200" baseline="-25000" dirty="0">
                <a:solidFill>
                  <a:srgbClr val="CC00CC"/>
                </a:solidFill>
                <a:latin typeface="Arial" panose="020B0604020202020204" pitchFamily="34" charset="0"/>
                <a:cs typeface="Arial" panose="020B0604020202020204" pitchFamily="34" charset="0"/>
              </a:rPr>
              <a:t>-</a:t>
            </a:r>
            <a:r>
              <a:rPr lang="en-US" sz="2200" dirty="0">
                <a:solidFill>
                  <a:srgbClr val="CC00CC"/>
                </a:solidFill>
                <a:latin typeface="Arial" panose="020B0604020202020204" pitchFamily="34" charset="0"/>
                <a:cs typeface="Arial" panose="020B0604020202020204" pitchFamily="34" charset="0"/>
              </a:rPr>
              <a:t>/T</a:t>
            </a:r>
            <a:r>
              <a:rPr lang="en-US" sz="2200" dirty="0">
                <a:latin typeface="Arial" panose="020B0604020202020204" pitchFamily="34" charset="0"/>
                <a:cs typeface="Arial" panose="020B0604020202020204" pitchFamily="34" charset="0"/>
              </a:rPr>
              <a:t> + C</a:t>
            </a:r>
            <a:r>
              <a:rPr lang="en-US" sz="2200" baseline="-25000" dirty="0">
                <a:latin typeface="Arial" panose="020B0604020202020204" pitchFamily="34" charset="0"/>
                <a:cs typeface="Arial" panose="020B0604020202020204" pitchFamily="34" charset="0"/>
              </a:rPr>
              <a:t>FN</a:t>
            </a:r>
            <a:r>
              <a:rPr lang="en-US" sz="2200" dirty="0">
                <a:latin typeface="Arial" panose="020B0604020202020204" pitchFamily="34" charset="0"/>
                <a:cs typeface="Arial" panose="020B0604020202020204" pitchFamily="34" charset="0"/>
              </a:rPr>
              <a:t> </a:t>
            </a:r>
            <a:r>
              <a:rPr lang="en-US" sz="2200" dirty="0">
                <a:solidFill>
                  <a:srgbClr val="0066FF"/>
                </a:solidFill>
                <a:latin typeface="Arial" panose="020B0604020202020204" pitchFamily="34" charset="0"/>
                <a:cs typeface="Arial" panose="020B0604020202020204" pitchFamily="34" charset="0"/>
              </a:rPr>
              <a:t>FNR</a:t>
            </a:r>
            <a:r>
              <a:rPr lang="en-US" sz="2200" dirty="0">
                <a:latin typeface="Arial" panose="020B0604020202020204" pitchFamily="34" charset="0"/>
                <a:cs typeface="Arial" panose="020B0604020202020204" pitchFamily="34" charset="0"/>
              </a:rPr>
              <a:t> </a:t>
            </a:r>
            <a:r>
              <a:rPr lang="en-US" sz="2200" dirty="0">
                <a:solidFill>
                  <a:srgbClr val="CC00CC"/>
                </a:solidFill>
                <a:latin typeface="Arial" panose="020B0604020202020204" pitchFamily="34" charset="0"/>
                <a:cs typeface="Arial" panose="020B0604020202020204" pitchFamily="34" charset="0"/>
              </a:rPr>
              <a:t>T</a:t>
            </a:r>
            <a:r>
              <a:rPr lang="en-US" sz="2200" baseline="-25000" dirty="0">
                <a:solidFill>
                  <a:srgbClr val="CC00CC"/>
                </a:solidFill>
                <a:latin typeface="Arial" panose="020B0604020202020204" pitchFamily="34" charset="0"/>
                <a:cs typeface="Arial" panose="020B0604020202020204" pitchFamily="34" charset="0"/>
              </a:rPr>
              <a:t>+</a:t>
            </a:r>
            <a:r>
              <a:rPr lang="en-US" sz="2200" dirty="0">
                <a:solidFill>
                  <a:srgbClr val="CC00CC"/>
                </a:solidFill>
                <a:latin typeface="Arial" panose="020B0604020202020204" pitchFamily="34" charset="0"/>
                <a:cs typeface="Arial" panose="020B0604020202020204" pitchFamily="34" charset="0"/>
              </a:rPr>
              <a:t> /T</a:t>
            </a:r>
            <a:endParaRPr lang="en-US" sz="2200" dirty="0">
              <a:latin typeface="Arial" panose="020B0604020202020204" pitchFamily="34" charset="0"/>
              <a:cs typeface="Arial" panose="020B0604020202020204" pitchFamily="34" charset="0"/>
            </a:endParaRPr>
          </a:p>
          <a:p>
            <a:pPr>
              <a:lnSpc>
                <a:spcPct val="120000"/>
              </a:lnSpc>
              <a:spcBef>
                <a:spcPts val="600"/>
              </a:spcBef>
              <a:buNone/>
            </a:pPr>
            <a:r>
              <a:rPr lang="en-US" sz="2200" dirty="0">
                <a:latin typeface="Arial" panose="020B0604020202020204" pitchFamily="34" charset="0"/>
                <a:cs typeface="Arial" panose="020B0604020202020204" pitchFamily="34" charset="0"/>
              </a:rPr>
              <a:t>Note : </a:t>
            </a:r>
          </a:p>
          <a:p>
            <a:pPr lvl="1">
              <a:lnSpc>
                <a:spcPct val="120000"/>
              </a:lnSpc>
              <a:spcBef>
                <a:spcPts val="600"/>
              </a:spcBef>
            </a:pPr>
            <a:r>
              <a:rPr lang="en-US" sz="2200" dirty="0">
                <a:latin typeface="Arial" panose="020B0604020202020204" pitchFamily="34" charset="0"/>
                <a:cs typeface="Arial" panose="020B0604020202020204" pitchFamily="34" charset="0"/>
              </a:rPr>
              <a:t>Accuracy is weighted average of TPR and TNR</a:t>
            </a:r>
          </a:p>
          <a:p>
            <a:pPr lvl="2">
              <a:lnSpc>
                <a:spcPct val="120000"/>
              </a:lnSpc>
              <a:spcBef>
                <a:spcPts val="600"/>
              </a:spcBef>
              <a:buNone/>
            </a:pPr>
            <a:r>
              <a:rPr lang="en-US" sz="2200" dirty="0">
                <a:latin typeface="Arial" panose="020B0604020202020204" pitchFamily="34" charset="0"/>
                <a:cs typeface="Arial" panose="020B0604020202020204" pitchFamily="34" charset="0"/>
              </a:rPr>
              <a:t>			Accuracy = TPR*T</a:t>
            </a:r>
            <a:r>
              <a:rPr lang="en-US" sz="2200" baseline="-25000" dirty="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/T + TNR*T</a:t>
            </a:r>
            <a:r>
              <a:rPr lang="en-US" sz="2200" baseline="-25000" dirty="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rPr>
              <a:t>/T</a:t>
            </a:r>
          </a:p>
          <a:p>
            <a:pPr lvl="1">
              <a:lnSpc>
                <a:spcPct val="120000"/>
              </a:lnSpc>
              <a:spcBef>
                <a:spcPts val="600"/>
              </a:spcBef>
            </a:pPr>
            <a:r>
              <a:rPr lang="en-US" sz="2200" dirty="0">
                <a:latin typeface="Arial" panose="020B0604020202020204" pitchFamily="34" charset="0"/>
                <a:cs typeface="Arial" panose="020B0604020202020204" pitchFamily="34" charset="0"/>
              </a:rPr>
              <a:t>C is not computable from Accuracy alone</a:t>
            </a:r>
          </a:p>
        </p:txBody>
      </p:sp>
    </p:spTree>
    <p:extLst>
      <p:ext uri="{BB962C8B-B14F-4D97-AF65-F5344CB8AC3E}">
        <p14:creationId xmlns:p14="http://schemas.microsoft.com/office/powerpoint/2010/main" val="334675495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p:txBody>
          <a:bodyPr>
            <a:noAutofit/>
          </a:bodyPr>
          <a:lstStyle/>
          <a:p>
            <a:pPr marL="0" indent="0">
              <a:lnSpc>
                <a:spcPct val="120000"/>
              </a:lnSpc>
              <a:spcBef>
                <a:spcPts val="600"/>
              </a:spcBef>
              <a:buNone/>
            </a:pPr>
            <a:r>
              <a:rPr lang="en-US" sz="2200" b="1" dirty="0">
                <a:latin typeface="Calibri" pitchFamily="34" charset="0"/>
              </a:rPr>
              <a:t>Accuracy </a:t>
            </a:r>
            <a:r>
              <a:rPr lang="en-US" sz="2200" dirty="0">
                <a:latin typeface="Calibri" pitchFamily="34" charset="0"/>
              </a:rPr>
              <a:t>= (</a:t>
            </a:r>
            <a:r>
              <a:rPr lang="en-US" sz="2200" i="1" dirty="0">
                <a:latin typeface="Calibri" pitchFamily="34" charset="0"/>
              </a:rPr>
              <a:t>TP</a:t>
            </a:r>
            <a:r>
              <a:rPr lang="en-US" sz="2200" dirty="0">
                <a:latin typeface="Calibri" pitchFamily="34" charset="0"/>
              </a:rPr>
              <a:t>+</a:t>
            </a:r>
            <a:r>
              <a:rPr lang="en-US" sz="2200" i="1" dirty="0">
                <a:latin typeface="Calibri" pitchFamily="34" charset="0"/>
              </a:rPr>
              <a:t>TN</a:t>
            </a:r>
            <a:r>
              <a:rPr lang="en-US" sz="2200" dirty="0">
                <a:latin typeface="Calibri" pitchFamily="34" charset="0"/>
              </a:rPr>
              <a:t>)/(</a:t>
            </a:r>
            <a:r>
              <a:rPr lang="en-US" sz="2200" i="1" dirty="0">
                <a:latin typeface="Calibri" pitchFamily="34" charset="0"/>
              </a:rPr>
              <a:t>P</a:t>
            </a:r>
            <a:r>
              <a:rPr lang="en-US" sz="2200" dirty="0">
                <a:latin typeface="Calibri" pitchFamily="34" charset="0"/>
              </a:rPr>
              <a:t>+</a:t>
            </a:r>
            <a:r>
              <a:rPr lang="en-US" sz="2200" i="1" dirty="0">
                <a:latin typeface="Calibri" pitchFamily="34" charset="0"/>
              </a:rPr>
              <a:t>N</a:t>
            </a:r>
            <a:r>
              <a:rPr lang="en-US" sz="2200" dirty="0">
                <a:latin typeface="Calibri" pitchFamily="34" charset="0"/>
              </a:rPr>
              <a:t>)</a:t>
            </a:r>
            <a:endParaRPr lang="en-US" sz="2200" dirty="0">
              <a:solidFill>
                <a:srgbClr val="FF0000"/>
              </a:solidFill>
              <a:latin typeface="Calibri" pitchFamily="34" charset="0"/>
            </a:endParaRPr>
          </a:p>
          <a:p>
            <a:pPr marL="0" indent="0">
              <a:lnSpc>
                <a:spcPct val="120000"/>
              </a:lnSpc>
              <a:spcBef>
                <a:spcPts val="600"/>
              </a:spcBef>
              <a:buNone/>
            </a:pPr>
            <a:r>
              <a:rPr lang="en-US" sz="2200" b="1" dirty="0">
                <a:latin typeface="Calibri" pitchFamily="34" charset="0"/>
              </a:rPr>
              <a:t>Error</a:t>
            </a:r>
            <a:r>
              <a:rPr lang="en-US" sz="2200" dirty="0">
                <a:latin typeface="Calibri" pitchFamily="34" charset="0"/>
              </a:rPr>
              <a:t> = (</a:t>
            </a:r>
            <a:r>
              <a:rPr lang="en-US" sz="2200" i="1" dirty="0">
                <a:latin typeface="Calibri" pitchFamily="34" charset="0"/>
              </a:rPr>
              <a:t>FP</a:t>
            </a:r>
            <a:r>
              <a:rPr lang="en-US" sz="2200" dirty="0">
                <a:latin typeface="Calibri" pitchFamily="34" charset="0"/>
              </a:rPr>
              <a:t>+</a:t>
            </a:r>
            <a:r>
              <a:rPr lang="en-US" sz="2200" i="1" dirty="0">
                <a:latin typeface="Calibri" pitchFamily="34" charset="0"/>
              </a:rPr>
              <a:t>FN</a:t>
            </a:r>
            <a:r>
              <a:rPr lang="en-US" sz="2200" dirty="0">
                <a:latin typeface="Calibri" pitchFamily="34" charset="0"/>
              </a:rPr>
              <a:t>)/(</a:t>
            </a:r>
            <a:r>
              <a:rPr lang="en-US" sz="2200" i="1" dirty="0">
                <a:latin typeface="Calibri" pitchFamily="34" charset="0"/>
              </a:rPr>
              <a:t>P</a:t>
            </a:r>
            <a:r>
              <a:rPr lang="en-US" sz="2200" dirty="0">
                <a:latin typeface="Calibri" pitchFamily="34" charset="0"/>
              </a:rPr>
              <a:t>+</a:t>
            </a:r>
            <a:r>
              <a:rPr lang="en-US" sz="2200" i="1" dirty="0">
                <a:latin typeface="Calibri" pitchFamily="34" charset="0"/>
              </a:rPr>
              <a:t>N</a:t>
            </a:r>
            <a:r>
              <a:rPr lang="en-US" sz="2200" dirty="0">
                <a:latin typeface="Calibri" pitchFamily="34" charset="0"/>
              </a:rPr>
              <a:t>)</a:t>
            </a:r>
            <a:r>
              <a:rPr lang="tr-TR" sz="2200" dirty="0">
                <a:latin typeface="Calibri" pitchFamily="34" charset="0"/>
              </a:rPr>
              <a:t> </a:t>
            </a:r>
          </a:p>
          <a:p>
            <a:pPr marL="342900" indent="-342900">
              <a:lnSpc>
                <a:spcPct val="120000"/>
              </a:lnSpc>
              <a:spcBef>
                <a:spcPts val="600"/>
              </a:spcBef>
            </a:pPr>
            <a:endParaRPr lang="tr-TR" sz="2200" dirty="0">
              <a:latin typeface="Calibri" pitchFamily="34" charset="0"/>
            </a:endParaRPr>
          </a:p>
          <a:p>
            <a:pPr marL="342900" indent="-342900">
              <a:lnSpc>
                <a:spcPct val="120000"/>
              </a:lnSpc>
              <a:spcBef>
                <a:spcPts val="600"/>
              </a:spcBef>
            </a:pPr>
            <a:r>
              <a:rPr lang="en-US" sz="2200" b="1" i="1" dirty="0">
                <a:latin typeface="Calibri" pitchFamily="34" charset="0"/>
              </a:rPr>
              <a:t>Sensitivity</a:t>
            </a:r>
            <a:r>
              <a:rPr lang="en-US" sz="2200" b="1" dirty="0">
                <a:latin typeface="Calibri" pitchFamily="34" charset="0"/>
              </a:rPr>
              <a:t> / </a:t>
            </a:r>
            <a:r>
              <a:rPr lang="en-US" sz="2200" b="1" u="sng" dirty="0">
                <a:latin typeface="Calibri" pitchFamily="34" charset="0"/>
              </a:rPr>
              <a:t>Recall</a:t>
            </a:r>
            <a:r>
              <a:rPr lang="en-US" sz="2200" b="1" dirty="0">
                <a:latin typeface="Calibri" pitchFamily="34" charset="0"/>
              </a:rPr>
              <a:t> / TP Rate</a:t>
            </a:r>
            <a:r>
              <a:rPr lang="en-US" sz="2200" dirty="0">
                <a:latin typeface="Calibri" pitchFamily="34" charset="0"/>
              </a:rPr>
              <a:t> = </a:t>
            </a:r>
            <a:r>
              <a:rPr lang="en-US" sz="2200" i="1" dirty="0">
                <a:latin typeface="Calibri" pitchFamily="34" charset="0"/>
              </a:rPr>
              <a:t>TP</a:t>
            </a:r>
            <a:r>
              <a:rPr lang="en-US" sz="2200" dirty="0">
                <a:latin typeface="Calibri" pitchFamily="34" charset="0"/>
              </a:rPr>
              <a:t>/</a:t>
            </a:r>
            <a:r>
              <a:rPr lang="en-US" sz="2200" i="1" dirty="0">
                <a:latin typeface="Calibri" pitchFamily="34" charset="0"/>
              </a:rPr>
              <a:t>P = TP</a:t>
            </a:r>
            <a:r>
              <a:rPr lang="en-US" sz="2200" dirty="0">
                <a:latin typeface="Calibri" pitchFamily="34" charset="0"/>
              </a:rPr>
              <a:t>/(</a:t>
            </a:r>
            <a:r>
              <a:rPr lang="en-US" sz="2200" i="1" dirty="0">
                <a:latin typeface="Calibri" pitchFamily="34" charset="0"/>
              </a:rPr>
              <a:t>TP</a:t>
            </a:r>
            <a:r>
              <a:rPr lang="en-US" sz="2200" dirty="0">
                <a:latin typeface="Calibri" pitchFamily="34" charset="0"/>
              </a:rPr>
              <a:t>+</a:t>
            </a:r>
            <a:r>
              <a:rPr lang="en-US" sz="2200" i="1" dirty="0">
                <a:latin typeface="Calibri" pitchFamily="34" charset="0"/>
              </a:rPr>
              <a:t>FN</a:t>
            </a:r>
            <a:r>
              <a:rPr lang="en-US" sz="2200" dirty="0">
                <a:latin typeface="Calibri" pitchFamily="34" charset="0"/>
              </a:rPr>
              <a:t>)</a:t>
            </a:r>
          </a:p>
          <a:p>
            <a:pPr marL="342900" indent="-342900">
              <a:lnSpc>
                <a:spcPct val="120000"/>
              </a:lnSpc>
              <a:spcBef>
                <a:spcPts val="600"/>
              </a:spcBef>
            </a:pPr>
            <a:r>
              <a:rPr lang="en-US" sz="2200" b="1" i="1" dirty="0">
                <a:latin typeface="Calibri" pitchFamily="34" charset="0"/>
              </a:rPr>
              <a:t>Specificity</a:t>
            </a:r>
            <a:r>
              <a:rPr lang="en-US" sz="2200" b="1" dirty="0">
                <a:latin typeface="Calibri" pitchFamily="34" charset="0"/>
              </a:rPr>
              <a:t> / TN Rate</a:t>
            </a:r>
            <a:r>
              <a:rPr lang="en-US" sz="2200" dirty="0">
                <a:latin typeface="Calibri" pitchFamily="34" charset="0"/>
              </a:rPr>
              <a:t> =</a:t>
            </a:r>
            <a:r>
              <a:rPr lang="en-US" sz="2200" i="1" dirty="0">
                <a:latin typeface="Calibri" pitchFamily="34" charset="0"/>
              </a:rPr>
              <a:t> TN</a:t>
            </a:r>
            <a:r>
              <a:rPr lang="en-US" sz="2200" dirty="0">
                <a:latin typeface="Calibri" pitchFamily="34" charset="0"/>
              </a:rPr>
              <a:t>/</a:t>
            </a:r>
            <a:r>
              <a:rPr lang="en-US" sz="2200" i="1" dirty="0">
                <a:latin typeface="Calibri" pitchFamily="34" charset="0"/>
              </a:rPr>
              <a:t>N = TN</a:t>
            </a:r>
            <a:r>
              <a:rPr lang="en-US" sz="2200" dirty="0">
                <a:latin typeface="Calibri" pitchFamily="34" charset="0"/>
              </a:rPr>
              <a:t>/(</a:t>
            </a:r>
            <a:r>
              <a:rPr lang="en-US" sz="2200" i="1" dirty="0">
                <a:latin typeface="Calibri" pitchFamily="34" charset="0"/>
              </a:rPr>
              <a:t>FP</a:t>
            </a:r>
            <a:r>
              <a:rPr lang="en-US" sz="2200" dirty="0">
                <a:latin typeface="Calibri" pitchFamily="34" charset="0"/>
              </a:rPr>
              <a:t>+</a:t>
            </a:r>
            <a:r>
              <a:rPr lang="en-US" sz="2200" i="1" dirty="0">
                <a:latin typeface="Calibri" pitchFamily="34" charset="0"/>
              </a:rPr>
              <a:t>TN)</a:t>
            </a:r>
            <a:endParaRPr lang="en-US" sz="2200" b="1" dirty="0">
              <a:latin typeface="Calibri" pitchFamily="34" charset="0"/>
            </a:endParaRPr>
          </a:p>
          <a:p>
            <a:pPr marL="342900" indent="-342900">
              <a:lnSpc>
                <a:spcPct val="120000"/>
              </a:lnSpc>
              <a:spcBef>
                <a:spcPts val="600"/>
              </a:spcBef>
            </a:pPr>
            <a:r>
              <a:rPr lang="en-US" sz="2200" b="1" dirty="0">
                <a:latin typeface="Calibri" pitchFamily="34" charset="0"/>
              </a:rPr>
              <a:t>Precision / Positive Predicted Value (PPV)</a:t>
            </a:r>
            <a:r>
              <a:rPr lang="en-US" sz="2200" dirty="0">
                <a:latin typeface="Calibri" pitchFamily="34" charset="0"/>
              </a:rPr>
              <a:t> = </a:t>
            </a:r>
            <a:r>
              <a:rPr lang="en-US" sz="2200" i="1" dirty="0">
                <a:latin typeface="Calibri" pitchFamily="34" charset="0"/>
              </a:rPr>
              <a:t>TP</a:t>
            </a:r>
            <a:r>
              <a:rPr lang="en-US" sz="2200" dirty="0">
                <a:latin typeface="Calibri" pitchFamily="34" charset="0"/>
              </a:rPr>
              <a:t>/(</a:t>
            </a:r>
            <a:r>
              <a:rPr lang="en-US" sz="2200" i="1" dirty="0">
                <a:latin typeface="Calibri" pitchFamily="34" charset="0"/>
              </a:rPr>
              <a:t>TP</a:t>
            </a:r>
            <a:r>
              <a:rPr lang="en-US" sz="2200" dirty="0">
                <a:latin typeface="Calibri" pitchFamily="34" charset="0"/>
              </a:rPr>
              <a:t>+</a:t>
            </a:r>
            <a:r>
              <a:rPr lang="en-US" sz="2200" i="1" dirty="0">
                <a:latin typeface="Calibri" pitchFamily="34" charset="0"/>
              </a:rPr>
              <a:t>FP</a:t>
            </a:r>
            <a:r>
              <a:rPr lang="en-US" sz="2200" dirty="0">
                <a:latin typeface="Calibri" pitchFamily="34" charset="0"/>
              </a:rPr>
              <a:t>)</a:t>
            </a:r>
          </a:p>
          <a:p>
            <a:pPr marL="342900" indent="-342900">
              <a:lnSpc>
                <a:spcPct val="120000"/>
              </a:lnSpc>
              <a:spcBef>
                <a:spcPts val="600"/>
              </a:spcBef>
            </a:pPr>
            <a:r>
              <a:rPr lang="en-US" sz="2200" b="1" dirty="0">
                <a:latin typeface="Calibri" pitchFamily="34" charset="0"/>
              </a:rPr>
              <a:t>Negative Predicted Value (NPV)</a:t>
            </a:r>
            <a:r>
              <a:rPr lang="en-US" sz="2200" dirty="0">
                <a:latin typeface="Calibri" pitchFamily="34" charset="0"/>
              </a:rPr>
              <a:t> = </a:t>
            </a:r>
            <a:r>
              <a:rPr lang="en-US" sz="2200" i="1" dirty="0">
                <a:latin typeface="Calibri" pitchFamily="34" charset="0"/>
              </a:rPr>
              <a:t>TN</a:t>
            </a:r>
            <a:r>
              <a:rPr lang="en-US" sz="2200" dirty="0">
                <a:latin typeface="Calibri" pitchFamily="34" charset="0"/>
              </a:rPr>
              <a:t>/(</a:t>
            </a:r>
            <a:r>
              <a:rPr lang="en-US" sz="2200" i="1" dirty="0">
                <a:latin typeface="Calibri" pitchFamily="34" charset="0"/>
              </a:rPr>
              <a:t>FN</a:t>
            </a:r>
            <a:r>
              <a:rPr lang="en-US" sz="2200" dirty="0">
                <a:latin typeface="Calibri" pitchFamily="34" charset="0"/>
              </a:rPr>
              <a:t>+</a:t>
            </a:r>
            <a:r>
              <a:rPr lang="en-US" sz="2200" i="1" dirty="0">
                <a:latin typeface="Calibri" pitchFamily="34" charset="0"/>
              </a:rPr>
              <a:t>TN</a:t>
            </a:r>
            <a:r>
              <a:rPr lang="en-US" sz="2200" dirty="0">
                <a:latin typeface="Calibri" pitchFamily="34" charset="0"/>
              </a:rPr>
              <a:t>)</a:t>
            </a:r>
            <a:r>
              <a:rPr lang="tr-TR" sz="2200" dirty="0">
                <a:latin typeface="Calibri" pitchFamily="34" charset="0"/>
              </a:rPr>
              <a:t> </a:t>
            </a:r>
            <a:endParaRPr lang="en-US" sz="2200" b="1" dirty="0">
              <a:latin typeface="Calibri" pitchFamily="34" charset="0"/>
            </a:endParaRPr>
          </a:p>
          <a:p>
            <a:pPr marL="342900" indent="-342900">
              <a:lnSpc>
                <a:spcPct val="120000"/>
              </a:lnSpc>
              <a:spcBef>
                <a:spcPts val="600"/>
              </a:spcBef>
            </a:pPr>
            <a:r>
              <a:rPr lang="en-US" sz="2200" b="1" dirty="0">
                <a:latin typeface="Calibri" pitchFamily="34" charset="0"/>
              </a:rPr>
              <a:t>FP Rate</a:t>
            </a:r>
            <a:r>
              <a:rPr lang="en-US" sz="2200" dirty="0">
                <a:latin typeface="Calibri" pitchFamily="34" charset="0"/>
              </a:rPr>
              <a:t> =  </a:t>
            </a:r>
            <a:r>
              <a:rPr lang="en-US" sz="2200" i="1" dirty="0">
                <a:latin typeface="Calibri" pitchFamily="34" charset="0"/>
              </a:rPr>
              <a:t>FP</a:t>
            </a:r>
            <a:r>
              <a:rPr lang="en-US" sz="2200" dirty="0">
                <a:latin typeface="Calibri" pitchFamily="34" charset="0"/>
              </a:rPr>
              <a:t>/</a:t>
            </a:r>
            <a:r>
              <a:rPr lang="en-US" sz="2200" i="1" dirty="0">
                <a:latin typeface="Calibri" pitchFamily="34" charset="0"/>
              </a:rPr>
              <a:t>N = FP</a:t>
            </a:r>
            <a:r>
              <a:rPr lang="en-US" sz="2200" dirty="0">
                <a:latin typeface="Calibri" pitchFamily="34" charset="0"/>
              </a:rPr>
              <a:t>/(</a:t>
            </a:r>
            <a:r>
              <a:rPr lang="en-US" sz="2200" i="1" dirty="0">
                <a:latin typeface="Calibri" pitchFamily="34" charset="0"/>
              </a:rPr>
              <a:t>FP</a:t>
            </a:r>
            <a:r>
              <a:rPr lang="en-US" sz="2200" dirty="0">
                <a:latin typeface="Calibri" pitchFamily="34" charset="0"/>
              </a:rPr>
              <a:t>+</a:t>
            </a:r>
            <a:r>
              <a:rPr lang="en-US" sz="2200" i="1" dirty="0">
                <a:latin typeface="Calibri" pitchFamily="34" charset="0"/>
              </a:rPr>
              <a:t>TN) = 1-</a:t>
            </a:r>
            <a:r>
              <a:rPr lang="en-US" sz="2200" b="1" dirty="0">
                <a:latin typeface="Calibri" pitchFamily="34" charset="0"/>
              </a:rPr>
              <a:t>Specificity</a:t>
            </a:r>
            <a:endParaRPr lang="en-US" sz="2200" i="1" dirty="0">
              <a:latin typeface="Calibri" pitchFamily="34" charset="0"/>
            </a:endParaRPr>
          </a:p>
          <a:p>
            <a:pPr marL="342900" indent="-342900">
              <a:lnSpc>
                <a:spcPct val="120000"/>
              </a:lnSpc>
              <a:spcBef>
                <a:spcPts val="600"/>
              </a:spcBef>
            </a:pPr>
            <a:r>
              <a:rPr lang="en-US" sz="2200" b="1" dirty="0">
                <a:latin typeface="Calibri" pitchFamily="34" charset="0"/>
              </a:rPr>
              <a:t>F-Score =</a:t>
            </a:r>
            <a:r>
              <a:rPr lang="en-US" sz="2200" i="1" dirty="0">
                <a:latin typeface="Calibri" pitchFamily="34" charset="0"/>
              </a:rPr>
              <a:t> 2*(Precision*Recall/</a:t>
            </a:r>
            <a:r>
              <a:rPr lang="en-US" sz="2200" i="1" dirty="0" err="1">
                <a:latin typeface="Calibri" pitchFamily="34" charset="0"/>
              </a:rPr>
              <a:t>Precision+Recall</a:t>
            </a:r>
            <a:r>
              <a:rPr lang="en-US" sz="2200" i="1" dirty="0">
                <a:latin typeface="Calibri" pitchFamily="34" charset="0"/>
              </a:rPr>
              <a:t>)</a:t>
            </a:r>
            <a:r>
              <a:rPr lang="tr-TR" sz="2200" i="1" dirty="0">
                <a:latin typeface="Calibri" pitchFamily="34" charset="0"/>
              </a:rPr>
              <a:t> </a:t>
            </a:r>
            <a:br>
              <a:rPr lang="tr-TR" sz="2200" i="1" dirty="0">
                <a:latin typeface="Calibri" pitchFamily="34" charset="0"/>
              </a:rPr>
            </a:br>
            <a:endParaRPr lang="tr-TR" sz="2200" i="1" dirty="0">
              <a:latin typeface="Calibri" pitchFamily="34" charset="0"/>
            </a:endParaRP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endParaRPr lang="en-US" sz="2200" dirty="0">
              <a:latin typeface="Arial" panose="020B0604020202020204" pitchFamily="34" charset="0"/>
              <a:cs typeface="Arial" panose="020B0604020202020204" pitchFamily="34" charset="0"/>
            </a:endParaRPr>
          </a:p>
        </p:txBody>
      </p:sp>
      <p:graphicFrame>
        <p:nvGraphicFramePr>
          <p:cNvPr id="6" name="Group 34"/>
          <p:cNvGraphicFramePr>
            <a:graphicFrameLocks/>
          </p:cNvGraphicFramePr>
          <p:nvPr/>
        </p:nvGraphicFramePr>
        <p:xfrm>
          <a:off x="8401179" y="1690688"/>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EXAMPLE</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60</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20</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30</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90</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 name="Group 34"/>
          <p:cNvGraphicFramePr>
            <a:graphicFrameLocks/>
          </p:cNvGraphicFramePr>
          <p:nvPr/>
        </p:nvGraphicFramePr>
        <p:xfrm>
          <a:off x="8401179" y="5230741"/>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TP</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FN</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FP</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TN</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Rectangle 2"/>
          <p:cNvSpPr>
            <a:spLocks noGrp="1" noChangeArrowheads="1"/>
          </p:cNvSpPr>
          <p:nvPr>
            <p:ph type="title"/>
          </p:nvPr>
        </p:nvSpPr>
        <p:spPr>
          <a:xfrm>
            <a:off x="838200" y="365125"/>
            <a:ext cx="10515600" cy="1325563"/>
          </a:xfrm>
        </p:spPr>
        <p:txBody>
          <a:bodyPr>
            <a:noAutofit/>
          </a:bodyPr>
          <a:lstStyle/>
          <a:p>
            <a:r>
              <a:rPr lang="en-US" sz="4200" b="1" dirty="0"/>
              <a:t>Metrics for Binary Classifier’s Evaluation</a:t>
            </a:r>
          </a:p>
        </p:txBody>
      </p:sp>
    </p:spTree>
    <p:extLst>
      <p:ext uri="{BB962C8B-B14F-4D97-AF65-F5344CB8AC3E}">
        <p14:creationId xmlns:p14="http://schemas.microsoft.com/office/powerpoint/2010/main" val="420255959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330B6-D1CA-B65B-D654-07CC81553D91}"/>
            </a:ext>
          </a:extLst>
        </p:cNvPr>
        <p:cNvGrpSpPr/>
        <p:nvPr/>
      </p:nvGrpSpPr>
      <p:grpSpPr>
        <a:xfrm>
          <a:off x="0" y="0"/>
          <a:ext cx="0" cy="0"/>
          <a:chOff x="0" y="0"/>
          <a:chExt cx="0" cy="0"/>
        </a:xfrm>
      </p:grpSpPr>
      <p:sp>
        <p:nvSpPr>
          <p:cNvPr id="20483" name="Rectangle 3">
            <a:extLst>
              <a:ext uri="{FF2B5EF4-FFF2-40B4-BE49-F238E27FC236}">
                <a16:creationId xmlns:a16="http://schemas.microsoft.com/office/drawing/2014/main" id="{CAB7B828-0303-C18F-CEA7-711C5503218B}"/>
              </a:ext>
            </a:extLst>
          </p:cNvPr>
          <p:cNvSpPr>
            <a:spLocks noGrp="1" noChangeArrowheads="1"/>
          </p:cNvSpPr>
          <p:nvPr>
            <p:ph type="body" idx="1"/>
          </p:nvPr>
        </p:nvSpPr>
        <p:spPr/>
        <p:txBody>
          <a:bodyPr>
            <a:noAutofit/>
          </a:bodyPr>
          <a:lstStyle/>
          <a:p>
            <a:pPr>
              <a:lnSpc>
                <a:spcPct val="120000"/>
              </a:lnSpc>
              <a:spcBef>
                <a:spcPts val="600"/>
              </a:spcBef>
            </a:pPr>
            <a:r>
              <a:rPr lang="en-US" sz="2200" dirty="0">
                <a:latin typeface="Calibri" pitchFamily="34" charset="0"/>
              </a:rPr>
              <a:t>The point of the F-score (or F-measure) is to provide a single, balanced metric to evaluate a classification model when simple "accuracy" gives a misleading picture.</a:t>
            </a:r>
          </a:p>
          <a:p>
            <a:pPr>
              <a:lnSpc>
                <a:spcPct val="120000"/>
              </a:lnSpc>
              <a:spcBef>
                <a:spcPts val="600"/>
              </a:spcBef>
            </a:pPr>
            <a:endParaRPr lang="en-US" sz="2200" dirty="0">
              <a:latin typeface="Calibri" pitchFamily="34" charset="0"/>
            </a:endParaRPr>
          </a:p>
          <a:p>
            <a:pPr>
              <a:lnSpc>
                <a:spcPct val="120000"/>
              </a:lnSpc>
              <a:spcBef>
                <a:spcPts val="600"/>
              </a:spcBef>
            </a:pPr>
            <a:r>
              <a:rPr lang="en-US" sz="2200" dirty="0">
                <a:latin typeface="Calibri" pitchFamily="34" charset="0"/>
              </a:rPr>
              <a:t>It is particularly essential when you have a class imbalance, meaning one category (the "positive" case) is much rarer than the other.</a:t>
            </a:r>
          </a:p>
          <a:p>
            <a:pPr>
              <a:lnSpc>
                <a:spcPct val="120000"/>
              </a:lnSpc>
              <a:spcBef>
                <a:spcPts val="600"/>
              </a:spcBef>
            </a:pPr>
            <a:endParaRPr lang="en-US" sz="2200" dirty="0">
              <a:latin typeface="Calibri" pitchFamily="34" charset="0"/>
            </a:endParaRPr>
          </a:p>
          <a:p>
            <a:pPr>
              <a:lnSpc>
                <a:spcPct val="120000"/>
              </a:lnSpc>
              <a:spcBef>
                <a:spcPts val="600"/>
              </a:spcBef>
            </a:pPr>
            <a:r>
              <a:rPr lang="en-US" sz="2200" dirty="0">
                <a:latin typeface="Calibri" pitchFamily="34" charset="0"/>
              </a:rPr>
              <a:t>The F-score is the harmonic mean of Precision and Recall. It penalizes extreme values: if either Precision or Recall is very low, the F-score drops significantly.</a:t>
            </a:r>
          </a:p>
          <a:p>
            <a:pPr>
              <a:lnSpc>
                <a:spcPct val="120000"/>
              </a:lnSpc>
              <a:spcBef>
                <a:spcPts val="600"/>
              </a:spcBef>
            </a:pPr>
            <a:endParaRPr lang="en-US" sz="2200" dirty="0">
              <a:latin typeface="Arial" panose="020B0604020202020204" pitchFamily="34" charset="0"/>
              <a:cs typeface="Arial" panose="020B0604020202020204" pitchFamily="34" charset="0"/>
            </a:endParaRPr>
          </a:p>
        </p:txBody>
      </p:sp>
      <p:sp>
        <p:nvSpPr>
          <p:cNvPr id="9" name="Rectangle 2">
            <a:extLst>
              <a:ext uri="{FF2B5EF4-FFF2-40B4-BE49-F238E27FC236}">
                <a16:creationId xmlns:a16="http://schemas.microsoft.com/office/drawing/2014/main" id="{F183BEE1-ADED-8E3E-3F7B-62C95D4997CE}"/>
              </a:ext>
            </a:extLst>
          </p:cNvPr>
          <p:cNvSpPr>
            <a:spLocks noGrp="1" noChangeArrowheads="1"/>
          </p:cNvSpPr>
          <p:nvPr>
            <p:ph type="title"/>
          </p:nvPr>
        </p:nvSpPr>
        <p:spPr>
          <a:xfrm>
            <a:off x="838200" y="365125"/>
            <a:ext cx="10515600" cy="1325563"/>
          </a:xfrm>
        </p:spPr>
        <p:txBody>
          <a:bodyPr>
            <a:noAutofit/>
          </a:bodyPr>
          <a:lstStyle/>
          <a:p>
            <a:r>
              <a:rPr lang="en-US" sz="4200" b="1" dirty="0"/>
              <a:t>Metrics for Binary Classifier’s Evaluation</a:t>
            </a:r>
          </a:p>
        </p:txBody>
      </p:sp>
    </p:spTree>
    <p:extLst>
      <p:ext uri="{BB962C8B-B14F-4D97-AF65-F5344CB8AC3E}">
        <p14:creationId xmlns:p14="http://schemas.microsoft.com/office/powerpoint/2010/main" val="47134035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p:txBody>
          <a:bodyPr>
            <a:noAutofit/>
          </a:bodyPr>
          <a:lstStyle/>
          <a:p>
            <a:pPr marL="342900" indent="-342900">
              <a:lnSpc>
                <a:spcPct val="120000"/>
              </a:lnSpc>
              <a:spcBef>
                <a:spcPts val="600"/>
              </a:spcBef>
            </a:pPr>
            <a:r>
              <a:rPr lang="en-US" sz="2200" b="1" dirty="0">
                <a:latin typeface="Calibri" pitchFamily="34" charset="0"/>
              </a:rPr>
              <a:t>Accuracy </a:t>
            </a:r>
            <a:r>
              <a:rPr lang="en-US" sz="2200" dirty="0">
                <a:latin typeface="Calibri" pitchFamily="34" charset="0"/>
              </a:rPr>
              <a:t>= (</a:t>
            </a:r>
            <a:r>
              <a:rPr lang="en-US" sz="2200" i="1" dirty="0">
                <a:latin typeface="Calibri" pitchFamily="34" charset="0"/>
              </a:rPr>
              <a:t>TP</a:t>
            </a:r>
            <a:r>
              <a:rPr lang="en-US" sz="2200" dirty="0">
                <a:latin typeface="Calibri" pitchFamily="34" charset="0"/>
              </a:rPr>
              <a:t>+</a:t>
            </a:r>
            <a:r>
              <a:rPr lang="en-US" sz="2200" i="1" dirty="0">
                <a:latin typeface="Calibri" pitchFamily="34" charset="0"/>
              </a:rPr>
              <a:t>TN</a:t>
            </a:r>
            <a:r>
              <a:rPr lang="en-US" sz="2200" dirty="0">
                <a:latin typeface="Calibri" pitchFamily="34" charset="0"/>
              </a:rPr>
              <a:t>)/(</a:t>
            </a:r>
            <a:r>
              <a:rPr lang="en-US" sz="2200" i="1" dirty="0">
                <a:latin typeface="Calibri" pitchFamily="34" charset="0"/>
              </a:rPr>
              <a:t>P</a:t>
            </a:r>
            <a:r>
              <a:rPr lang="en-US" sz="2200" dirty="0">
                <a:latin typeface="Calibri" pitchFamily="34" charset="0"/>
              </a:rPr>
              <a:t>+</a:t>
            </a:r>
            <a:r>
              <a:rPr lang="en-US" sz="2200" i="1" dirty="0">
                <a:latin typeface="Calibri" pitchFamily="34" charset="0"/>
              </a:rPr>
              <a:t>N</a:t>
            </a:r>
            <a:r>
              <a:rPr lang="en-US" sz="2200" dirty="0">
                <a:latin typeface="Calibri" pitchFamily="34" charset="0"/>
              </a:rPr>
              <a:t>)</a:t>
            </a:r>
            <a:r>
              <a:rPr lang="tr-TR" sz="2200" dirty="0">
                <a:latin typeface="Calibri" pitchFamily="34" charset="0"/>
              </a:rPr>
              <a:t> </a:t>
            </a:r>
            <a:r>
              <a:rPr lang="tr-TR" sz="2200" dirty="0">
                <a:solidFill>
                  <a:srgbClr val="FF0000"/>
                </a:solidFill>
                <a:latin typeface="Calibri" pitchFamily="34" charset="0"/>
              </a:rPr>
              <a:t>= (60+90)/(80+120) = 75%</a:t>
            </a:r>
            <a:endParaRPr lang="en-US" sz="2200" dirty="0">
              <a:solidFill>
                <a:srgbClr val="FF0000"/>
              </a:solidFill>
              <a:latin typeface="Calibri" pitchFamily="34" charset="0"/>
            </a:endParaRPr>
          </a:p>
          <a:p>
            <a:pPr marL="342900" indent="-342900">
              <a:lnSpc>
                <a:spcPct val="120000"/>
              </a:lnSpc>
              <a:spcBef>
                <a:spcPts val="600"/>
              </a:spcBef>
            </a:pPr>
            <a:r>
              <a:rPr lang="en-US" sz="2200" b="1" dirty="0">
                <a:latin typeface="Calibri" pitchFamily="34" charset="0"/>
              </a:rPr>
              <a:t>Error</a:t>
            </a:r>
            <a:r>
              <a:rPr lang="en-US" sz="2200" dirty="0">
                <a:latin typeface="Calibri" pitchFamily="34" charset="0"/>
              </a:rPr>
              <a:t> = (</a:t>
            </a:r>
            <a:r>
              <a:rPr lang="en-US" sz="2200" i="1" dirty="0">
                <a:latin typeface="Calibri" pitchFamily="34" charset="0"/>
              </a:rPr>
              <a:t>FP</a:t>
            </a:r>
            <a:r>
              <a:rPr lang="en-US" sz="2200" dirty="0">
                <a:latin typeface="Calibri" pitchFamily="34" charset="0"/>
              </a:rPr>
              <a:t>+</a:t>
            </a:r>
            <a:r>
              <a:rPr lang="en-US" sz="2200" i="1" dirty="0">
                <a:latin typeface="Calibri" pitchFamily="34" charset="0"/>
              </a:rPr>
              <a:t>FN</a:t>
            </a:r>
            <a:r>
              <a:rPr lang="en-US" sz="2200" dirty="0">
                <a:latin typeface="Calibri" pitchFamily="34" charset="0"/>
              </a:rPr>
              <a:t>)/(</a:t>
            </a:r>
            <a:r>
              <a:rPr lang="en-US" sz="2200" i="1" dirty="0">
                <a:latin typeface="Calibri" pitchFamily="34" charset="0"/>
              </a:rPr>
              <a:t>P</a:t>
            </a:r>
            <a:r>
              <a:rPr lang="en-US" sz="2200" dirty="0">
                <a:latin typeface="Calibri" pitchFamily="34" charset="0"/>
              </a:rPr>
              <a:t>+</a:t>
            </a:r>
            <a:r>
              <a:rPr lang="en-US" sz="2200" i="1" dirty="0">
                <a:latin typeface="Calibri" pitchFamily="34" charset="0"/>
              </a:rPr>
              <a:t>N</a:t>
            </a:r>
            <a:r>
              <a:rPr lang="en-US" sz="2200" dirty="0">
                <a:latin typeface="Calibri" pitchFamily="34" charset="0"/>
              </a:rPr>
              <a:t>)</a:t>
            </a:r>
            <a:r>
              <a:rPr lang="tr-TR" sz="2200" dirty="0">
                <a:latin typeface="Calibri" pitchFamily="34" charset="0"/>
              </a:rPr>
              <a:t> </a:t>
            </a:r>
            <a:r>
              <a:rPr lang="tr-TR" sz="2200" dirty="0">
                <a:solidFill>
                  <a:srgbClr val="FF0000"/>
                </a:solidFill>
                <a:latin typeface="Calibri" pitchFamily="34" charset="0"/>
              </a:rPr>
              <a:t>= (30+20)/(80+120) = 25%</a:t>
            </a:r>
            <a:r>
              <a:rPr lang="tr-TR" sz="2200" dirty="0">
                <a:latin typeface="Calibri" pitchFamily="34" charset="0"/>
              </a:rPr>
              <a:t> </a:t>
            </a:r>
          </a:p>
          <a:p>
            <a:pPr marL="342900" indent="-342900">
              <a:lnSpc>
                <a:spcPct val="120000"/>
              </a:lnSpc>
              <a:spcBef>
                <a:spcPts val="600"/>
              </a:spcBef>
            </a:pPr>
            <a:endParaRPr lang="tr-TR" sz="2200" dirty="0">
              <a:latin typeface="Calibri" pitchFamily="34" charset="0"/>
            </a:endParaRPr>
          </a:p>
          <a:p>
            <a:pPr marL="342900" indent="-342900">
              <a:lnSpc>
                <a:spcPct val="120000"/>
              </a:lnSpc>
              <a:spcBef>
                <a:spcPts val="600"/>
              </a:spcBef>
            </a:pPr>
            <a:r>
              <a:rPr lang="en-US" sz="2200" b="1" dirty="0">
                <a:latin typeface="Calibri" pitchFamily="34" charset="0"/>
              </a:rPr>
              <a:t>Precision / Positive Predicted Value (PPV)</a:t>
            </a:r>
            <a:r>
              <a:rPr lang="en-US" sz="2200" dirty="0">
                <a:latin typeface="Calibri" pitchFamily="34" charset="0"/>
              </a:rPr>
              <a:t> = </a:t>
            </a:r>
            <a:r>
              <a:rPr lang="en-US" sz="2200" i="1" dirty="0">
                <a:latin typeface="Calibri" pitchFamily="34" charset="0"/>
              </a:rPr>
              <a:t>TP</a:t>
            </a:r>
            <a:r>
              <a:rPr lang="en-US" sz="2200" dirty="0">
                <a:latin typeface="Calibri" pitchFamily="34" charset="0"/>
              </a:rPr>
              <a:t>/(</a:t>
            </a:r>
            <a:r>
              <a:rPr lang="en-US" sz="2200" i="1" dirty="0">
                <a:latin typeface="Calibri" pitchFamily="34" charset="0"/>
              </a:rPr>
              <a:t>TP</a:t>
            </a:r>
            <a:r>
              <a:rPr lang="en-US" sz="2200" dirty="0">
                <a:latin typeface="Calibri" pitchFamily="34" charset="0"/>
              </a:rPr>
              <a:t>+</a:t>
            </a:r>
            <a:r>
              <a:rPr lang="en-US" sz="2200" i="1" dirty="0">
                <a:latin typeface="Calibri" pitchFamily="34" charset="0"/>
              </a:rPr>
              <a:t>FP</a:t>
            </a:r>
            <a:r>
              <a:rPr lang="en-US" sz="2200" dirty="0">
                <a:latin typeface="Calibri" pitchFamily="34" charset="0"/>
              </a:rPr>
              <a:t>)</a:t>
            </a:r>
            <a:r>
              <a:rPr lang="tr-TR" sz="2200" dirty="0">
                <a:latin typeface="Calibri" pitchFamily="34" charset="0"/>
              </a:rPr>
              <a:t> </a:t>
            </a:r>
            <a:r>
              <a:rPr lang="tr-TR" sz="2200" dirty="0">
                <a:solidFill>
                  <a:srgbClr val="FF0000"/>
                </a:solidFill>
                <a:latin typeface="Calibri" pitchFamily="34" charset="0"/>
              </a:rPr>
              <a:t>= 60/(60+30) = 67%</a:t>
            </a:r>
            <a:endParaRPr lang="en-US" sz="2200" dirty="0">
              <a:latin typeface="Calibri" pitchFamily="34" charset="0"/>
            </a:endParaRPr>
          </a:p>
          <a:p>
            <a:pPr marL="342900" indent="-342900">
              <a:lnSpc>
                <a:spcPct val="120000"/>
              </a:lnSpc>
              <a:spcBef>
                <a:spcPts val="600"/>
              </a:spcBef>
            </a:pPr>
            <a:r>
              <a:rPr lang="en-US" sz="2200" b="1" dirty="0">
                <a:latin typeface="Calibri" pitchFamily="34" charset="0"/>
              </a:rPr>
              <a:t>Negative Predicted Value (NPV)</a:t>
            </a:r>
            <a:r>
              <a:rPr lang="en-US" sz="2200" dirty="0">
                <a:latin typeface="Calibri" pitchFamily="34" charset="0"/>
              </a:rPr>
              <a:t> = </a:t>
            </a:r>
            <a:r>
              <a:rPr lang="en-US" sz="2200" i="1" dirty="0">
                <a:latin typeface="Calibri" pitchFamily="34" charset="0"/>
              </a:rPr>
              <a:t>TN</a:t>
            </a:r>
            <a:r>
              <a:rPr lang="en-US" sz="2200" dirty="0">
                <a:latin typeface="Calibri" pitchFamily="34" charset="0"/>
              </a:rPr>
              <a:t>/(</a:t>
            </a:r>
            <a:r>
              <a:rPr lang="en-US" sz="2200" i="1" dirty="0">
                <a:latin typeface="Calibri" pitchFamily="34" charset="0"/>
              </a:rPr>
              <a:t>FN</a:t>
            </a:r>
            <a:r>
              <a:rPr lang="en-US" sz="2200" dirty="0">
                <a:latin typeface="Calibri" pitchFamily="34" charset="0"/>
              </a:rPr>
              <a:t>+</a:t>
            </a:r>
            <a:r>
              <a:rPr lang="en-US" sz="2200" i="1" dirty="0">
                <a:latin typeface="Calibri" pitchFamily="34" charset="0"/>
              </a:rPr>
              <a:t>TN</a:t>
            </a:r>
            <a:r>
              <a:rPr lang="en-US" sz="2200" dirty="0">
                <a:latin typeface="Calibri" pitchFamily="34" charset="0"/>
              </a:rPr>
              <a:t>)</a:t>
            </a:r>
            <a:r>
              <a:rPr lang="tr-TR" sz="2200" dirty="0">
                <a:latin typeface="Calibri" pitchFamily="34" charset="0"/>
              </a:rPr>
              <a:t> </a:t>
            </a:r>
            <a:r>
              <a:rPr lang="tr-TR" sz="2200" dirty="0">
                <a:solidFill>
                  <a:srgbClr val="FF0000"/>
                </a:solidFill>
                <a:latin typeface="Calibri" pitchFamily="34" charset="0"/>
              </a:rPr>
              <a:t>= 90/(90+20) = 82%</a:t>
            </a:r>
            <a:r>
              <a:rPr lang="tr-TR" sz="2200" dirty="0">
                <a:latin typeface="Calibri" pitchFamily="34" charset="0"/>
              </a:rPr>
              <a:t> </a:t>
            </a:r>
            <a:endParaRPr lang="en-US" sz="2200" b="1" dirty="0">
              <a:latin typeface="Calibri" pitchFamily="34" charset="0"/>
            </a:endParaRPr>
          </a:p>
          <a:p>
            <a:pPr marL="342900" indent="-342900">
              <a:lnSpc>
                <a:spcPct val="120000"/>
              </a:lnSpc>
              <a:spcBef>
                <a:spcPts val="600"/>
              </a:spcBef>
            </a:pPr>
            <a:r>
              <a:rPr lang="en-US" sz="2200" b="1" dirty="0">
                <a:latin typeface="Calibri" pitchFamily="34" charset="0"/>
              </a:rPr>
              <a:t>Sensitivity / Recall / TP Rate</a:t>
            </a:r>
            <a:r>
              <a:rPr lang="en-US" sz="2200" dirty="0">
                <a:latin typeface="Calibri" pitchFamily="34" charset="0"/>
              </a:rPr>
              <a:t> = </a:t>
            </a:r>
            <a:r>
              <a:rPr lang="en-US" sz="2200" i="1" dirty="0">
                <a:latin typeface="Calibri" pitchFamily="34" charset="0"/>
              </a:rPr>
              <a:t>TP</a:t>
            </a:r>
            <a:r>
              <a:rPr lang="en-US" sz="2200" dirty="0">
                <a:latin typeface="Calibri" pitchFamily="34" charset="0"/>
              </a:rPr>
              <a:t>/</a:t>
            </a:r>
            <a:r>
              <a:rPr lang="en-US" sz="2200" i="1" dirty="0">
                <a:latin typeface="Calibri" pitchFamily="34" charset="0"/>
              </a:rPr>
              <a:t>P = TP</a:t>
            </a:r>
            <a:r>
              <a:rPr lang="en-US" sz="2200" dirty="0">
                <a:latin typeface="Calibri" pitchFamily="34" charset="0"/>
              </a:rPr>
              <a:t>/(</a:t>
            </a:r>
            <a:r>
              <a:rPr lang="en-US" sz="2200" i="1" dirty="0">
                <a:latin typeface="Calibri" pitchFamily="34" charset="0"/>
              </a:rPr>
              <a:t>TP</a:t>
            </a:r>
            <a:r>
              <a:rPr lang="en-US" sz="2200" dirty="0">
                <a:latin typeface="Calibri" pitchFamily="34" charset="0"/>
              </a:rPr>
              <a:t>+</a:t>
            </a:r>
            <a:r>
              <a:rPr lang="en-US" sz="2200" i="1" dirty="0">
                <a:latin typeface="Calibri" pitchFamily="34" charset="0"/>
              </a:rPr>
              <a:t>FN</a:t>
            </a:r>
            <a:r>
              <a:rPr lang="en-US" sz="2200" dirty="0">
                <a:latin typeface="Calibri" pitchFamily="34" charset="0"/>
              </a:rPr>
              <a:t>)</a:t>
            </a:r>
            <a:r>
              <a:rPr lang="tr-TR" sz="2200" dirty="0">
                <a:solidFill>
                  <a:srgbClr val="FF0000"/>
                </a:solidFill>
                <a:latin typeface="Calibri" pitchFamily="34" charset="0"/>
              </a:rPr>
              <a:t> = 60/(60+20) = 75%</a:t>
            </a:r>
            <a:endParaRPr lang="en-US" sz="2200" dirty="0">
              <a:latin typeface="Calibri" pitchFamily="34" charset="0"/>
            </a:endParaRPr>
          </a:p>
          <a:p>
            <a:pPr marL="342900" indent="-342900">
              <a:lnSpc>
                <a:spcPct val="120000"/>
              </a:lnSpc>
              <a:spcBef>
                <a:spcPts val="600"/>
              </a:spcBef>
            </a:pPr>
            <a:r>
              <a:rPr lang="en-US" sz="2200" b="1" dirty="0">
                <a:latin typeface="Calibri" pitchFamily="34" charset="0"/>
              </a:rPr>
              <a:t>Specificity / TN Rate</a:t>
            </a:r>
            <a:r>
              <a:rPr lang="en-US" sz="2200" dirty="0">
                <a:latin typeface="Calibri" pitchFamily="34" charset="0"/>
              </a:rPr>
              <a:t> =</a:t>
            </a:r>
            <a:r>
              <a:rPr lang="en-US" sz="2200" i="1" dirty="0">
                <a:latin typeface="Calibri" pitchFamily="34" charset="0"/>
              </a:rPr>
              <a:t> TN</a:t>
            </a:r>
            <a:r>
              <a:rPr lang="en-US" sz="2200" dirty="0">
                <a:latin typeface="Calibri" pitchFamily="34" charset="0"/>
              </a:rPr>
              <a:t>/</a:t>
            </a:r>
            <a:r>
              <a:rPr lang="en-US" sz="2200" i="1" dirty="0">
                <a:latin typeface="Calibri" pitchFamily="34" charset="0"/>
              </a:rPr>
              <a:t>N = TN</a:t>
            </a:r>
            <a:r>
              <a:rPr lang="en-US" sz="2200" dirty="0">
                <a:latin typeface="Calibri" pitchFamily="34" charset="0"/>
              </a:rPr>
              <a:t>/(</a:t>
            </a:r>
            <a:r>
              <a:rPr lang="en-US" sz="2200" i="1" dirty="0">
                <a:latin typeface="Calibri" pitchFamily="34" charset="0"/>
              </a:rPr>
              <a:t>FP</a:t>
            </a:r>
            <a:r>
              <a:rPr lang="en-US" sz="2200" dirty="0">
                <a:latin typeface="Calibri" pitchFamily="34" charset="0"/>
              </a:rPr>
              <a:t>+</a:t>
            </a:r>
            <a:r>
              <a:rPr lang="en-US" sz="2200" i="1" dirty="0">
                <a:latin typeface="Calibri" pitchFamily="34" charset="0"/>
              </a:rPr>
              <a:t>TN)</a:t>
            </a:r>
            <a:r>
              <a:rPr lang="tr-TR" sz="2200" i="1" dirty="0">
                <a:latin typeface="Calibri" pitchFamily="34" charset="0"/>
              </a:rPr>
              <a:t> </a:t>
            </a:r>
            <a:r>
              <a:rPr lang="tr-TR" sz="2200" dirty="0">
                <a:solidFill>
                  <a:srgbClr val="FF0000"/>
                </a:solidFill>
                <a:latin typeface="Calibri" pitchFamily="34" charset="0"/>
              </a:rPr>
              <a:t>= 90/(90+30) = 75%</a:t>
            </a:r>
            <a:r>
              <a:rPr lang="tr-TR" sz="2200" i="1" dirty="0">
                <a:latin typeface="Calibri" pitchFamily="34" charset="0"/>
              </a:rPr>
              <a:t> </a:t>
            </a:r>
            <a:endParaRPr lang="en-US" sz="2200" b="1" dirty="0">
              <a:latin typeface="Calibri" pitchFamily="34" charset="0"/>
            </a:endParaRPr>
          </a:p>
          <a:p>
            <a:pPr marL="342900" indent="-342900">
              <a:lnSpc>
                <a:spcPct val="120000"/>
              </a:lnSpc>
              <a:spcBef>
                <a:spcPts val="600"/>
              </a:spcBef>
            </a:pPr>
            <a:r>
              <a:rPr lang="en-US" sz="2200" b="1" dirty="0">
                <a:latin typeface="Calibri" pitchFamily="34" charset="0"/>
              </a:rPr>
              <a:t>FP Rate</a:t>
            </a:r>
            <a:r>
              <a:rPr lang="en-US" sz="2200" dirty="0">
                <a:latin typeface="Calibri" pitchFamily="34" charset="0"/>
              </a:rPr>
              <a:t> =  </a:t>
            </a:r>
            <a:r>
              <a:rPr lang="en-US" sz="2200" i="1" dirty="0">
                <a:latin typeface="Calibri" pitchFamily="34" charset="0"/>
              </a:rPr>
              <a:t>FP</a:t>
            </a:r>
            <a:r>
              <a:rPr lang="en-US" sz="2200" dirty="0">
                <a:latin typeface="Calibri" pitchFamily="34" charset="0"/>
              </a:rPr>
              <a:t>/</a:t>
            </a:r>
            <a:r>
              <a:rPr lang="en-US" sz="2200" i="1" dirty="0">
                <a:latin typeface="Calibri" pitchFamily="34" charset="0"/>
              </a:rPr>
              <a:t>N = FP</a:t>
            </a:r>
            <a:r>
              <a:rPr lang="en-US" sz="2200" dirty="0">
                <a:latin typeface="Calibri" pitchFamily="34" charset="0"/>
              </a:rPr>
              <a:t>/(</a:t>
            </a:r>
            <a:r>
              <a:rPr lang="en-US" sz="2200" i="1" dirty="0">
                <a:latin typeface="Calibri" pitchFamily="34" charset="0"/>
              </a:rPr>
              <a:t>FP</a:t>
            </a:r>
            <a:r>
              <a:rPr lang="en-US" sz="2200" dirty="0">
                <a:latin typeface="Calibri" pitchFamily="34" charset="0"/>
              </a:rPr>
              <a:t>+</a:t>
            </a:r>
            <a:r>
              <a:rPr lang="en-US" sz="2200" i="1" dirty="0">
                <a:latin typeface="Calibri" pitchFamily="34" charset="0"/>
              </a:rPr>
              <a:t>TN) = 1- SPC</a:t>
            </a:r>
            <a:r>
              <a:rPr lang="tr-TR" sz="2200" i="1" dirty="0">
                <a:latin typeface="Calibri" pitchFamily="34" charset="0"/>
              </a:rPr>
              <a:t> </a:t>
            </a:r>
            <a:r>
              <a:rPr lang="tr-TR" sz="2200" dirty="0">
                <a:solidFill>
                  <a:srgbClr val="FF0000"/>
                </a:solidFill>
                <a:latin typeface="Calibri" pitchFamily="34" charset="0"/>
              </a:rPr>
              <a:t>= 30/(30+90) = 25%</a:t>
            </a:r>
            <a:endParaRPr lang="en-US" sz="2200" i="1" dirty="0">
              <a:latin typeface="Calibri" pitchFamily="34" charset="0"/>
            </a:endParaRPr>
          </a:p>
          <a:p>
            <a:pPr marL="342900" indent="-342900">
              <a:lnSpc>
                <a:spcPct val="120000"/>
              </a:lnSpc>
              <a:spcBef>
                <a:spcPts val="600"/>
              </a:spcBef>
            </a:pPr>
            <a:r>
              <a:rPr lang="en-US" sz="2200" b="1" dirty="0">
                <a:latin typeface="Calibri" pitchFamily="34" charset="0"/>
              </a:rPr>
              <a:t>F-Score =</a:t>
            </a:r>
            <a:r>
              <a:rPr lang="en-US" sz="2200" i="1" dirty="0">
                <a:latin typeface="Calibri" pitchFamily="34" charset="0"/>
              </a:rPr>
              <a:t> 2*(PPV*Recall/ </a:t>
            </a:r>
            <a:r>
              <a:rPr lang="en-US" sz="2200" i="1" dirty="0" err="1">
                <a:latin typeface="Calibri" pitchFamily="34" charset="0"/>
              </a:rPr>
              <a:t>PPV+Recall</a:t>
            </a:r>
            <a:r>
              <a:rPr lang="en-US" sz="2200" i="1" dirty="0">
                <a:latin typeface="Calibri" pitchFamily="34" charset="0"/>
              </a:rPr>
              <a:t>)</a:t>
            </a:r>
            <a:r>
              <a:rPr lang="tr-TR" sz="2200" i="1" dirty="0">
                <a:latin typeface="Calibri" pitchFamily="34" charset="0"/>
              </a:rPr>
              <a:t> </a:t>
            </a:r>
          </a:p>
          <a:p>
            <a:pPr marL="342900" indent="-342900">
              <a:lnSpc>
                <a:spcPct val="120000"/>
              </a:lnSpc>
              <a:spcBef>
                <a:spcPts val="600"/>
              </a:spcBef>
            </a:pPr>
            <a:r>
              <a:rPr lang="en-US" sz="2200" b="1" dirty="0">
                <a:latin typeface="Calibri" pitchFamily="34" charset="0"/>
              </a:rPr>
              <a:t>F-Score =</a:t>
            </a:r>
            <a:r>
              <a:rPr lang="tr-TR" sz="2200" dirty="0">
                <a:solidFill>
                  <a:srgbClr val="FF0000"/>
                </a:solidFill>
                <a:latin typeface="Calibri" pitchFamily="34" charset="0"/>
              </a:rPr>
              <a:t> (2* 0.67*0.75)/ (0.67+0.75) = 0.71</a:t>
            </a:r>
            <a:endParaRPr lang="en-US" sz="2200" i="1" dirty="0">
              <a:latin typeface="Calibri" pitchFamily="34" charset="0"/>
            </a:endParaRPr>
          </a:p>
          <a:p>
            <a:pPr marL="437637" indent="-342900" defTabSz="401239">
              <a:lnSpc>
                <a:spcPct val="120000"/>
              </a:lnSpc>
              <a:spcBef>
                <a:spcPts val="600"/>
              </a:spcBef>
              <a:tabLst>
                <a:tab pos="635295" algn="l"/>
                <a:tab pos="1270589" algn="l"/>
                <a:tab pos="1905884" algn="l"/>
                <a:tab pos="2541179" algn="l"/>
                <a:tab pos="3176473" algn="l"/>
                <a:tab pos="3811768" algn="l"/>
                <a:tab pos="4447062" algn="l"/>
                <a:tab pos="5082357" algn="l"/>
                <a:tab pos="5717652" algn="l"/>
                <a:tab pos="6352946" algn="l"/>
                <a:tab pos="6988241" algn="l"/>
              </a:tabLst>
              <a:defRPr/>
            </a:pPr>
            <a:endParaRPr lang="en-US" sz="2200" dirty="0">
              <a:latin typeface="Arial" panose="020B0604020202020204" pitchFamily="34" charset="0"/>
              <a:cs typeface="Arial" panose="020B0604020202020204" pitchFamily="34" charset="0"/>
            </a:endParaRPr>
          </a:p>
        </p:txBody>
      </p:sp>
      <p:graphicFrame>
        <p:nvGraphicFramePr>
          <p:cNvPr id="6" name="Group 34"/>
          <p:cNvGraphicFramePr>
            <a:graphicFrameLocks/>
          </p:cNvGraphicFramePr>
          <p:nvPr/>
        </p:nvGraphicFramePr>
        <p:xfrm>
          <a:off x="8401179" y="1690688"/>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EXAMPLE</a:t>
                      </a: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60</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20</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30</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90</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 name="Group 34"/>
          <p:cNvGraphicFramePr>
            <a:graphicFrameLocks/>
          </p:cNvGraphicFramePr>
          <p:nvPr/>
        </p:nvGraphicFramePr>
        <p:xfrm>
          <a:off x="8401179" y="5230741"/>
          <a:ext cx="3625855" cy="1446752"/>
        </p:xfrm>
        <a:graphic>
          <a:graphicData uri="http://schemas.openxmlformats.org/drawingml/2006/table">
            <a:tbl>
              <a:tblPr/>
              <a:tblGrid>
                <a:gridCol w="735803">
                  <a:extLst>
                    <a:ext uri="{9D8B030D-6E8A-4147-A177-3AD203B41FA5}">
                      <a16:colId xmlns:a16="http://schemas.microsoft.com/office/drawing/2014/main" val="20000"/>
                    </a:ext>
                  </a:extLst>
                </a:gridCol>
                <a:gridCol w="456029">
                  <a:extLst>
                    <a:ext uri="{9D8B030D-6E8A-4147-A177-3AD203B41FA5}">
                      <a16:colId xmlns:a16="http://schemas.microsoft.com/office/drawing/2014/main" val="20001"/>
                    </a:ext>
                  </a:extLst>
                </a:gridCol>
                <a:gridCol w="1178776">
                  <a:extLst>
                    <a:ext uri="{9D8B030D-6E8A-4147-A177-3AD203B41FA5}">
                      <a16:colId xmlns:a16="http://schemas.microsoft.com/office/drawing/2014/main" val="20002"/>
                    </a:ext>
                  </a:extLst>
                </a:gridCol>
                <a:gridCol w="1255247">
                  <a:extLst>
                    <a:ext uri="{9D8B030D-6E8A-4147-A177-3AD203B41FA5}">
                      <a16:colId xmlns:a16="http://schemas.microsoft.com/office/drawing/2014/main" val="20003"/>
                    </a:ext>
                  </a:extLst>
                </a:gridCol>
              </a:tblGrid>
              <a:tr h="284746">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Predicted Class</a:t>
                      </a:r>
                    </a:p>
                  </a:txBody>
                  <a:tcPr anchor="ctr" horzOverflow="overflow">
                    <a:lnL>
                      <a:noFill/>
                    </a:lnL>
                    <a:lnR>
                      <a:noFill/>
                    </a:lnR>
                    <a:lnT>
                      <a:noFill/>
                    </a:lnT>
                    <a:lnB w="12700"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81232">
                <a:tc rowSpan="3">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1400" b="0" i="1"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Actual Class</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1"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a:noFill/>
                    </a:lnL>
                    <a:lnR w="12700" cap="flat" cmpd="sng" algn="ctr">
                      <a:solidFill>
                        <a:schemeClr val="tx1"/>
                      </a:solidFill>
                      <a:prstDash val="solid"/>
                      <a:round/>
                      <a:headEnd type="none" w="med" len="med"/>
                      <a:tailEnd type="none" w="lg" len="lg"/>
                    </a:lnR>
                    <a:lnT>
                      <a:noFill/>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Positive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noProof="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Negative</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TP</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FN</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80360">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Calibri" panose="020F0502020204030204" pitchFamily="34" charset="0"/>
                          <a:ea typeface="ＭＳ Ｐゴシック" pitchFamily="34" charset="-128"/>
                          <a:cs typeface="Calibri" panose="020F0502020204030204" pitchFamily="34" charset="0"/>
                        </a:rPr>
                        <a:t>-</a:t>
                      </a: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rPr>
                        <a:t>FP</a:t>
                      </a:r>
                      <a:endParaRPr kumimoji="0" lang="en-US" sz="1400" b="1" i="1" u="none" strike="noStrike" cap="none" normalizeH="0" baseline="0" dirty="0">
                        <a:ln>
                          <a:noFill/>
                        </a:ln>
                        <a:solidFill>
                          <a:srgbClr val="FF000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tr-TR"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rPr>
                        <a:t>TN</a:t>
                      </a:r>
                      <a:endParaRPr kumimoji="0" lang="en-US" sz="1400" b="1" i="1" u="none" strike="noStrike" cap="none" normalizeH="0" baseline="0" dirty="0">
                        <a:ln>
                          <a:noFill/>
                        </a:ln>
                        <a:solidFill>
                          <a:srgbClr val="00B050"/>
                        </a:solidFill>
                        <a:effectLst/>
                        <a:latin typeface="Calibri" panose="020F0502020204030204" pitchFamily="34" charset="0"/>
                        <a:ea typeface="ＭＳ Ｐゴシック" pitchFamily="34" charset="-128"/>
                        <a:cs typeface="Calibri" panose="020F0502020204030204" pitchFamily="34" charset="0"/>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Rectangle 2"/>
          <p:cNvSpPr>
            <a:spLocks noGrp="1" noChangeArrowheads="1"/>
          </p:cNvSpPr>
          <p:nvPr>
            <p:ph type="title"/>
          </p:nvPr>
        </p:nvSpPr>
        <p:spPr>
          <a:xfrm>
            <a:off x="838200" y="365125"/>
            <a:ext cx="10515600" cy="1325563"/>
          </a:xfrm>
        </p:spPr>
        <p:txBody>
          <a:bodyPr>
            <a:noAutofit/>
          </a:bodyPr>
          <a:lstStyle/>
          <a:p>
            <a:r>
              <a:rPr lang="en-US" sz="4200" b="1" dirty="0"/>
              <a:t>Metrics for Binary Classifier’s Evaluation</a:t>
            </a:r>
          </a:p>
        </p:txBody>
      </p:sp>
    </p:spTree>
    <p:extLst>
      <p:ext uri="{BB962C8B-B14F-4D97-AF65-F5344CB8AC3E}">
        <p14:creationId xmlns:p14="http://schemas.microsoft.com/office/powerpoint/2010/main" val="15556190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838200" y="365125"/>
            <a:ext cx="10515600" cy="1325563"/>
          </a:xfrm>
        </p:spPr>
        <p:txBody>
          <a:bodyPr>
            <a:noAutofit/>
          </a:bodyPr>
          <a:lstStyle/>
          <a:p>
            <a:r>
              <a:rPr lang="en-US" sz="4200" b="1" dirty="0"/>
              <a:t>Metrics for Binary Classifier’s Evaluation</a:t>
            </a:r>
          </a:p>
        </p:txBody>
      </p:sp>
      <p:sp>
        <p:nvSpPr>
          <p:cNvPr id="8" name="TextBox 7"/>
          <p:cNvSpPr txBox="1"/>
          <p:nvPr/>
        </p:nvSpPr>
        <p:spPr>
          <a:xfrm>
            <a:off x="14813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pic>
        <p:nvPicPr>
          <p:cNvPr id="10" name="Picture 9"/>
          <p:cNvPicPr>
            <a:picLocks noChangeAspect="1"/>
          </p:cNvPicPr>
          <p:nvPr/>
        </p:nvPicPr>
        <p:blipFill rotWithShape="1">
          <a:blip r:embed="rId3"/>
          <a:srcRect l="5256" t="22632" r="10905" b="40455"/>
          <a:stretch/>
        </p:blipFill>
        <p:spPr>
          <a:xfrm>
            <a:off x="76672" y="1995486"/>
            <a:ext cx="12050964" cy="2982912"/>
          </a:xfrm>
          <a:prstGeom prst="rect">
            <a:avLst/>
          </a:prstGeom>
        </p:spPr>
      </p:pic>
      <p:sp>
        <p:nvSpPr>
          <p:cNvPr id="2" name="Rectangular Callout 1">
            <a:extLst>
              <a:ext uri="{FF2B5EF4-FFF2-40B4-BE49-F238E27FC236}">
                <a16:creationId xmlns:a16="http://schemas.microsoft.com/office/drawing/2014/main" id="{97838AFB-4B7C-7A73-E671-35E3DED1D20D}"/>
              </a:ext>
            </a:extLst>
          </p:cNvPr>
          <p:cNvSpPr/>
          <p:nvPr/>
        </p:nvSpPr>
        <p:spPr>
          <a:xfrm>
            <a:off x="838199" y="5080000"/>
            <a:ext cx="6012543" cy="1074057"/>
          </a:xfrm>
          <a:prstGeom prst="wedgeRectCallout">
            <a:avLst>
              <a:gd name="adj1" fmla="val -52855"/>
              <a:gd name="adj2" fmla="val -861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R" dirty="0"/>
              <a:t>AUC is threshold-based </a:t>
            </a:r>
            <a:r>
              <a:rPr lang="en-US" dirty="0"/>
              <a:t>across all possible thresholds.</a:t>
            </a:r>
            <a:br>
              <a:rPr lang="en-TR" dirty="0"/>
            </a:br>
            <a:r>
              <a:rPr lang="en-TR" dirty="0"/>
              <a:t>The formula above is empirical (point specific): It is </a:t>
            </a:r>
            <a:r>
              <a:rPr lang="en-US" dirty="0"/>
              <a:t>Arithmetic Mean of Precision and Recall.</a:t>
            </a:r>
            <a:endParaRPr lang="en-TR" dirty="0"/>
          </a:p>
        </p:txBody>
      </p:sp>
    </p:spTree>
    <p:extLst>
      <p:ext uri="{BB962C8B-B14F-4D97-AF65-F5344CB8AC3E}">
        <p14:creationId xmlns:p14="http://schemas.microsoft.com/office/powerpoint/2010/main" val="97792279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450AA-9F96-6617-5225-7B3CEBD4C430}"/>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F23BE974-3DB0-235B-B019-6D9FD3BB6778}"/>
              </a:ext>
            </a:extLst>
          </p:cNvPr>
          <p:cNvSpPr>
            <a:spLocks noGrp="1" noChangeArrowheads="1"/>
          </p:cNvSpPr>
          <p:nvPr>
            <p:ph type="title"/>
          </p:nvPr>
        </p:nvSpPr>
        <p:spPr>
          <a:xfrm>
            <a:off x="838200" y="365125"/>
            <a:ext cx="10515600" cy="1325563"/>
          </a:xfrm>
        </p:spPr>
        <p:txBody>
          <a:bodyPr>
            <a:noAutofit/>
          </a:bodyPr>
          <a:lstStyle/>
          <a:p>
            <a:r>
              <a:rPr lang="en-US" sz="4200" b="1" dirty="0"/>
              <a:t>Area Under “Curve”</a:t>
            </a:r>
          </a:p>
        </p:txBody>
      </p:sp>
      <p:sp>
        <p:nvSpPr>
          <p:cNvPr id="3" name="Content Placeholder 2">
            <a:extLst>
              <a:ext uri="{FF2B5EF4-FFF2-40B4-BE49-F238E27FC236}">
                <a16:creationId xmlns:a16="http://schemas.microsoft.com/office/drawing/2014/main" id="{BD47B475-6BB5-BA4A-6E00-6581E004BF9E}"/>
              </a:ext>
            </a:extLst>
          </p:cNvPr>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tr-TR" altLang="en-US" sz="2400" dirty="0" err="1">
                <a:latin typeface="Arial" panose="020B0604020202020204" pitchFamily="34" charset="0"/>
                <a:cs typeface="Arial" panose="020B0604020202020204" pitchFamily="34" charset="0"/>
              </a:rPr>
              <a:t>In</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world</a:t>
            </a:r>
            <a:r>
              <a:rPr lang="tr-TR" altLang="en-US" sz="2400" dirty="0">
                <a:latin typeface="Arial" panose="020B0604020202020204" pitchFamily="34" charset="0"/>
                <a:cs typeface="Arial" panose="020B0604020202020204" pitchFamily="34" charset="0"/>
              </a:rPr>
              <a:t> of </a:t>
            </a:r>
            <a:r>
              <a:rPr lang="tr-TR" altLang="en-US" sz="2400" dirty="0" err="1">
                <a:latin typeface="Arial" panose="020B0604020202020204" pitchFamily="34" charset="0"/>
                <a:cs typeface="Arial" panose="020B0604020202020204" pitchFamily="34" charset="0"/>
              </a:rPr>
              <a:t>machine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learning</a:t>
            </a:r>
            <a:r>
              <a:rPr lang="tr-TR" altLang="en-US" sz="2400" dirty="0">
                <a:latin typeface="Arial" panose="020B0604020202020204" pitchFamily="34" charset="0"/>
                <a:cs typeface="Arial" panose="020B0604020202020204" pitchFamily="34" charset="0"/>
              </a:rPr>
              <a:t>, a ROC </a:t>
            </a:r>
            <a:r>
              <a:rPr lang="tr-TR" altLang="en-US" sz="2400" dirty="0" err="1">
                <a:latin typeface="Arial" panose="020B0604020202020204" pitchFamily="34" charset="0"/>
                <a:cs typeface="Arial" panose="020B0604020202020204" pitchFamily="34" charset="0"/>
              </a:rPr>
              <a:t>Curve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Receiver</a:t>
            </a:r>
            <a:r>
              <a:rPr lang="tr-TR" altLang="en-US" sz="2400" dirty="0">
                <a:latin typeface="Arial" panose="020B0604020202020204" pitchFamily="34" charset="0"/>
                <a:cs typeface="Arial" panose="020B0604020202020204" pitchFamily="34" charset="0"/>
              </a:rPr>
              <a:t> Operating </a:t>
            </a:r>
            <a:r>
              <a:rPr lang="tr-TR" altLang="en-US" sz="2400" dirty="0" err="1">
                <a:latin typeface="Arial" panose="020B0604020202020204" pitchFamily="34" charset="0"/>
                <a:cs typeface="Arial" panose="020B0604020202020204" pitchFamily="34" charset="0"/>
              </a:rPr>
              <a:t>Characteristic</a:t>
            </a:r>
            <a:r>
              <a:rPr lang="tr-TR" altLang="en-US" sz="2400" dirty="0">
                <a:latin typeface="Arial" panose="020B0604020202020204" pitchFamily="34" charset="0"/>
                <a:cs typeface="Arial" panose="020B0604020202020204" pitchFamily="34" charset="0"/>
              </a:rPr>
              <a:t>) is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gold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standard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for</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evaluating</a:t>
            </a:r>
            <a:r>
              <a:rPr lang="tr-TR" altLang="en-US" sz="2400" dirty="0">
                <a:latin typeface="Arial" panose="020B0604020202020204" pitchFamily="34" charset="0"/>
                <a:cs typeface="Arial" panose="020B0604020202020204" pitchFamily="34" charset="0"/>
              </a:rPr>
              <a:t> how </a:t>
            </a:r>
            <a:r>
              <a:rPr lang="tr-TR" altLang="en-US" sz="2400" dirty="0" err="1">
                <a:latin typeface="Arial" panose="020B0604020202020204" pitchFamily="34" charset="0"/>
                <a:cs typeface="Arial" panose="020B0604020202020204" pitchFamily="34" charset="0"/>
              </a:rPr>
              <a:t>well</a:t>
            </a:r>
            <a:r>
              <a:rPr lang="tr-TR" altLang="en-US" sz="2400" dirty="0">
                <a:latin typeface="Arial" panose="020B0604020202020204" pitchFamily="34" charset="0"/>
                <a:cs typeface="Arial" panose="020B0604020202020204" pitchFamily="34" charset="0"/>
              </a:rPr>
              <a:t> a </a:t>
            </a:r>
            <a:r>
              <a:rPr lang="tr-TR" altLang="en-US" sz="2400" dirty="0" err="1">
                <a:latin typeface="Arial" panose="020B0604020202020204" pitchFamily="34" charset="0"/>
                <a:cs typeface="Arial" panose="020B0604020202020204" pitchFamily="34" charset="0"/>
              </a:rPr>
              <a:t>binary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classifier</a:t>
            </a:r>
            <a:r>
              <a:rPr lang="tr-TR" altLang="en-US" sz="2400" dirty="0">
                <a:latin typeface="Arial" panose="020B0604020202020204" pitchFamily="34" charset="0"/>
                <a:cs typeface="Arial" panose="020B0604020202020204" pitchFamily="34" charset="0"/>
              </a:rPr>
              <a:t> is </a:t>
            </a:r>
            <a:r>
              <a:rPr lang="tr-TR" altLang="en-US" sz="2400" dirty="0" err="1">
                <a:latin typeface="Arial" panose="020B0604020202020204" pitchFamily="34" charset="0"/>
                <a:cs typeface="Arial" panose="020B0604020202020204" pitchFamily="34" charset="0"/>
              </a:rPr>
              <a:t>actually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doing</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its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job</a:t>
            </a:r>
            <a:r>
              <a:rPr lang="tr-TR" altLang="en-US" sz="2400" dirty="0">
                <a:latin typeface="Arial" panose="020B0604020202020204" pitchFamily="34" charset="0"/>
                <a:cs typeface="Arial" panose="020B0604020202020204" pitchFamily="34" charset="0"/>
              </a:rPr>
              <a:t>.</a:t>
            </a:r>
          </a:p>
          <a:p>
            <a:pPr>
              <a:lnSpc>
                <a:spcPct val="120000"/>
              </a:lnSpc>
              <a:spcBef>
                <a:spcPts val="600"/>
              </a:spcBef>
            </a:pPr>
            <a:r>
              <a:rPr lang="tr-TR" altLang="en-US" sz="2400" dirty="0" err="1">
                <a:latin typeface="Arial" panose="020B0604020202020204" pitchFamily="34" charset="0"/>
                <a:cs typeface="Arial" panose="020B0604020202020204" pitchFamily="34" charset="0"/>
              </a:rPr>
              <a:t>It’s</a:t>
            </a:r>
            <a:r>
              <a:rPr lang="tr-TR" altLang="en-US" sz="2400" dirty="0">
                <a:latin typeface="Arial" panose="020B0604020202020204" pitchFamily="34" charset="0"/>
                <a:cs typeface="Arial" panose="020B0604020202020204" pitchFamily="34" charset="0"/>
              </a:rPr>
              <a:t> a </a:t>
            </a:r>
            <a:r>
              <a:rPr lang="tr-TR" altLang="en-US" sz="2400" dirty="0" err="1">
                <a:latin typeface="Arial" panose="020B0604020202020204" pitchFamily="34" charset="0"/>
                <a:cs typeface="Arial" panose="020B0604020202020204" pitchFamily="34" charset="0"/>
              </a:rPr>
              <a:t>visualization</a:t>
            </a:r>
            <a:r>
              <a:rPr lang="tr-TR" altLang="en-US" sz="2400" dirty="0">
                <a:latin typeface="Arial" panose="020B0604020202020204" pitchFamily="34" charset="0"/>
                <a:cs typeface="Arial" panose="020B0604020202020204" pitchFamily="34" charset="0"/>
              </a:rPr>
              <a:t> of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trade-off</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between</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catching</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bad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guys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and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falsely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accusing</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good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guys</a:t>
            </a:r>
            <a:r>
              <a:rPr lang="tr-TR" altLang="en-US" sz="2400" dirty="0">
                <a:latin typeface="Arial" panose="020B0604020202020204" pitchFamily="34" charset="0"/>
                <a:cs typeface="Arial" panose="020B0604020202020204" pitchFamily="34" charset="0"/>
              </a:rPr>
              <a:t>."</a:t>
            </a:r>
          </a:p>
          <a:p>
            <a:pPr>
              <a:lnSpc>
                <a:spcPct val="120000"/>
              </a:lnSpc>
              <a:spcBef>
                <a:spcPts val="600"/>
              </a:spcBef>
            </a:pPr>
            <a:r>
              <a:rPr lang="tr-TR" altLang="en-US" sz="2400" dirty="0">
                <a:latin typeface="Arial" panose="020B0604020202020204" pitchFamily="34" charset="0"/>
                <a:cs typeface="Arial" panose="020B0604020202020204" pitchFamily="34" charset="0"/>
              </a:rPr>
              <a:t>True </a:t>
            </a:r>
            <a:r>
              <a:rPr lang="tr-TR" altLang="en-US" sz="2400" dirty="0" err="1">
                <a:latin typeface="Arial" panose="020B0604020202020204" pitchFamily="34" charset="0"/>
                <a:cs typeface="Arial" panose="020B0604020202020204" pitchFamily="34" charset="0"/>
              </a:rPr>
              <a:t>Positive</a:t>
            </a:r>
            <a:r>
              <a:rPr lang="tr-TR" altLang="en-US" sz="2400" dirty="0">
                <a:latin typeface="Arial" panose="020B0604020202020204" pitchFamily="34" charset="0"/>
                <a:cs typeface="Arial" panose="020B0604020202020204" pitchFamily="34" charset="0"/>
              </a:rPr>
              <a:t> Rate (TPR) / </a:t>
            </a:r>
            <a:r>
              <a:rPr lang="tr-TR" altLang="en-US" sz="2400" dirty="0" err="1">
                <a:latin typeface="Arial" panose="020B0604020202020204" pitchFamily="34" charset="0"/>
                <a:cs typeface="Arial" panose="020B0604020202020204" pitchFamily="34" charset="0"/>
              </a:rPr>
              <a:t>Sensitivity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This</a:t>
            </a:r>
            <a:r>
              <a:rPr lang="tr-TR" altLang="en-US" sz="2400" dirty="0">
                <a:latin typeface="Arial" panose="020B0604020202020204" pitchFamily="34" charset="0"/>
                <a:cs typeface="Arial" panose="020B0604020202020204" pitchFamily="34" charset="0"/>
              </a:rPr>
              <a:t> is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Y-</a:t>
            </a:r>
            <a:r>
              <a:rPr lang="tr-TR" altLang="en-US" sz="2400" dirty="0" err="1">
                <a:latin typeface="Arial" panose="020B0604020202020204" pitchFamily="34" charset="0"/>
                <a:cs typeface="Arial" panose="020B0604020202020204" pitchFamily="34" charset="0"/>
              </a:rPr>
              <a:t>axis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It</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measures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what</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fraction</a:t>
            </a:r>
            <a:r>
              <a:rPr lang="tr-TR" altLang="en-US" sz="2400" dirty="0">
                <a:latin typeface="Arial" panose="020B0604020202020204" pitchFamily="34" charset="0"/>
                <a:cs typeface="Arial" panose="020B0604020202020204" pitchFamily="34" charset="0"/>
              </a:rPr>
              <a:t> of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actual</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positives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e.g</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people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with</a:t>
            </a:r>
            <a:r>
              <a:rPr lang="tr-TR" altLang="en-US" sz="2400" dirty="0">
                <a:latin typeface="Arial" panose="020B0604020202020204" pitchFamily="34" charset="0"/>
                <a:cs typeface="Arial" panose="020B0604020202020204" pitchFamily="34" charset="0"/>
              </a:rPr>
              <a:t> a </a:t>
            </a:r>
            <a:r>
              <a:rPr lang="tr-TR" altLang="en-US" sz="2400" dirty="0" err="1">
                <a:latin typeface="Arial" panose="020B0604020202020204" pitchFamily="34" charset="0"/>
                <a:cs typeface="Arial" panose="020B0604020202020204" pitchFamily="34" charset="0"/>
              </a:rPr>
              <a:t>disease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were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correctly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identified</a:t>
            </a:r>
            <a:r>
              <a:rPr lang="tr-TR" altLang="en-US" sz="2400" dirty="0">
                <a:latin typeface="Arial" panose="020B0604020202020204" pitchFamily="34" charset="0"/>
                <a:cs typeface="Arial" panose="020B0604020202020204" pitchFamily="34" charset="0"/>
              </a:rPr>
              <a:t>.</a:t>
            </a:r>
          </a:p>
          <a:p>
            <a:pPr>
              <a:lnSpc>
                <a:spcPct val="120000"/>
              </a:lnSpc>
              <a:spcBef>
                <a:spcPts val="600"/>
              </a:spcBef>
            </a:pPr>
            <a:r>
              <a:rPr lang="tr-TR" altLang="en-US" sz="2400" dirty="0" err="1">
                <a:latin typeface="Arial" panose="020B0604020202020204" pitchFamily="34" charset="0"/>
                <a:cs typeface="Arial" panose="020B0604020202020204" pitchFamily="34" charset="0"/>
              </a:rPr>
              <a:t>False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Positive</a:t>
            </a:r>
            <a:r>
              <a:rPr lang="tr-TR" altLang="en-US" sz="2400" dirty="0">
                <a:latin typeface="Arial" panose="020B0604020202020204" pitchFamily="34" charset="0"/>
                <a:cs typeface="Arial" panose="020B0604020202020204" pitchFamily="34" charset="0"/>
              </a:rPr>
              <a:t> Rate (FPR): </a:t>
            </a:r>
            <a:r>
              <a:rPr lang="tr-TR" altLang="en-US" sz="2400" dirty="0" err="1">
                <a:latin typeface="Arial" panose="020B0604020202020204" pitchFamily="34" charset="0"/>
                <a:cs typeface="Arial" panose="020B0604020202020204" pitchFamily="34" charset="0"/>
              </a:rPr>
              <a:t>This</a:t>
            </a:r>
            <a:r>
              <a:rPr lang="tr-TR" altLang="en-US" sz="2400" dirty="0">
                <a:latin typeface="Arial" panose="020B0604020202020204" pitchFamily="34" charset="0"/>
                <a:cs typeface="Arial" panose="020B0604020202020204" pitchFamily="34" charset="0"/>
              </a:rPr>
              <a:t> is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X-</a:t>
            </a:r>
            <a:r>
              <a:rPr lang="tr-TR" altLang="en-US" sz="2400" dirty="0" err="1">
                <a:latin typeface="Arial" panose="020B0604020202020204" pitchFamily="34" charset="0"/>
                <a:cs typeface="Arial" panose="020B0604020202020204" pitchFamily="34" charset="0"/>
              </a:rPr>
              <a:t>axis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It</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measures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what</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fraction</a:t>
            </a:r>
            <a:r>
              <a:rPr lang="tr-TR" altLang="en-US" sz="2400" dirty="0">
                <a:latin typeface="Arial" panose="020B0604020202020204" pitchFamily="34" charset="0"/>
                <a:cs typeface="Arial" panose="020B0604020202020204" pitchFamily="34" charset="0"/>
              </a:rPr>
              <a:t> of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actual</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negatives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e.g</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healthy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people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were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incorrectly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flagged</a:t>
            </a:r>
            <a:r>
              <a:rPr lang="tr-TR" altLang="en-US" sz="2400" dirty="0">
                <a:latin typeface="Arial" panose="020B0604020202020204" pitchFamily="34" charset="0"/>
                <a:cs typeface="Arial" panose="020B0604020202020204" pitchFamily="34" charset="0"/>
              </a:rPr>
              <a:t> as </a:t>
            </a:r>
            <a:r>
              <a:rPr lang="tr-TR" altLang="en-US" sz="2400" dirty="0" err="1">
                <a:latin typeface="Arial" panose="020B0604020202020204" pitchFamily="34" charset="0"/>
                <a:cs typeface="Arial" panose="020B0604020202020204" pitchFamily="34" charset="0"/>
              </a:rPr>
              <a:t>positive</a:t>
            </a:r>
            <a:r>
              <a:rPr lang="tr-TR" alt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071302942"/>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B1309-556C-890F-1B54-6825BEEBEAE9}"/>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67E6E9B1-415C-5757-0828-C2E442C1CC00}"/>
              </a:ext>
            </a:extLst>
          </p:cNvPr>
          <p:cNvSpPr>
            <a:spLocks noGrp="1" noChangeArrowheads="1"/>
          </p:cNvSpPr>
          <p:nvPr>
            <p:ph type="title"/>
          </p:nvPr>
        </p:nvSpPr>
        <p:spPr>
          <a:xfrm>
            <a:off x="838200" y="-190058"/>
            <a:ext cx="10515600" cy="1325563"/>
          </a:xfrm>
        </p:spPr>
        <p:txBody>
          <a:bodyPr>
            <a:noAutofit/>
          </a:bodyPr>
          <a:lstStyle/>
          <a:p>
            <a:r>
              <a:rPr lang="en-US" sz="4200" b="1" dirty="0"/>
              <a:t>A Sample Area Under “Curve”</a:t>
            </a:r>
          </a:p>
        </p:txBody>
      </p:sp>
      <p:pic>
        <p:nvPicPr>
          <p:cNvPr id="1026" name="Picture 2" descr="How to Interpret a ROC Curve (With Examples)">
            <a:extLst>
              <a:ext uri="{FF2B5EF4-FFF2-40B4-BE49-F238E27FC236}">
                <a16:creationId xmlns:a16="http://schemas.microsoft.com/office/drawing/2014/main" id="{D374C6D2-F257-EF55-FBC7-8DA443C0B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1706" y="814690"/>
            <a:ext cx="7748588" cy="6043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08834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4E68-40D2-47E6-9FCF-19DC86B5BA9E}"/>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B26AE15A-CB6A-4922-931C-CC7FDF54EA3D}"/>
              </a:ext>
            </a:extLst>
          </p:cNvPr>
          <p:cNvSpPr>
            <a:spLocks noGrp="1" noChangeArrowheads="1"/>
          </p:cNvSpPr>
          <p:nvPr>
            <p:ph type="title"/>
          </p:nvPr>
        </p:nvSpPr>
        <p:spPr>
          <a:xfrm>
            <a:off x="838200" y="365125"/>
            <a:ext cx="10515600" cy="1325563"/>
          </a:xfrm>
        </p:spPr>
        <p:txBody>
          <a:bodyPr>
            <a:noAutofit/>
          </a:bodyPr>
          <a:lstStyle/>
          <a:p>
            <a:r>
              <a:rPr lang="en-US" sz="4200" b="1" dirty="0"/>
              <a:t>Area Under “Curve”</a:t>
            </a:r>
          </a:p>
        </p:txBody>
      </p:sp>
      <p:sp>
        <p:nvSpPr>
          <p:cNvPr id="3" name="Content Placeholder 2">
            <a:extLst>
              <a:ext uri="{FF2B5EF4-FFF2-40B4-BE49-F238E27FC236}">
                <a16:creationId xmlns:a16="http://schemas.microsoft.com/office/drawing/2014/main" id="{7CAA613F-26DE-5641-4AD0-33D4F8FD44D5}"/>
              </a:ext>
            </a:extLst>
          </p:cNvPr>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curve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represents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performance</a:t>
            </a:r>
            <a:r>
              <a:rPr lang="tr-TR" altLang="en-US" sz="2400" dirty="0">
                <a:latin typeface="Arial" panose="020B0604020202020204" pitchFamily="34" charset="0"/>
                <a:cs typeface="Arial" panose="020B0604020202020204" pitchFamily="34" charset="0"/>
              </a:rPr>
              <a:t> of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model </a:t>
            </a:r>
            <a:r>
              <a:rPr lang="tr-TR" altLang="en-US" sz="2400" dirty="0" err="1">
                <a:latin typeface="Arial" panose="020B0604020202020204" pitchFamily="34" charset="0"/>
                <a:cs typeface="Arial" panose="020B0604020202020204" pitchFamily="34" charset="0"/>
              </a:rPr>
              <a:t>across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every</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possible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threshold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from</a:t>
            </a:r>
            <a:r>
              <a:rPr lang="tr-TR" altLang="en-US" sz="2400" dirty="0">
                <a:latin typeface="Arial" panose="020B0604020202020204" pitchFamily="34" charset="0"/>
                <a:cs typeface="Arial" panose="020B0604020202020204" pitchFamily="34" charset="0"/>
              </a:rPr>
              <a:t> 0 </a:t>
            </a:r>
            <a:r>
              <a:rPr lang="tr-TR" altLang="en-US" sz="2400" dirty="0" err="1">
                <a:latin typeface="Arial" panose="020B0604020202020204" pitchFamily="34" charset="0"/>
                <a:cs typeface="Arial" panose="020B0604020202020204" pitchFamily="34" charset="0"/>
              </a:rPr>
              <a:t>to</a:t>
            </a:r>
            <a:r>
              <a:rPr lang="tr-TR" altLang="en-US" sz="2400" dirty="0">
                <a:latin typeface="Arial" panose="020B0604020202020204" pitchFamily="34" charset="0"/>
                <a:cs typeface="Arial" panose="020B0604020202020204" pitchFamily="34" charset="0"/>
              </a:rPr>
              <a:t> 1).</a:t>
            </a:r>
          </a:p>
          <a:p>
            <a:pPr>
              <a:lnSpc>
                <a:spcPct val="120000"/>
              </a:lnSpc>
              <a:spcBef>
                <a:spcPts val="600"/>
              </a:spcBef>
            </a:pP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"Perfect" Model: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curve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would</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hug</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top-</a:t>
            </a:r>
            <a:r>
              <a:rPr lang="tr-TR" altLang="en-US" sz="2400" dirty="0" err="1">
                <a:latin typeface="Arial" panose="020B0604020202020204" pitchFamily="34" charset="0"/>
                <a:cs typeface="Arial" panose="020B0604020202020204" pitchFamily="34" charset="0"/>
              </a:rPr>
              <a:t>left</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corner</a:t>
            </a:r>
            <a:r>
              <a:rPr lang="tr-TR" altLang="en-US" sz="2400" dirty="0">
                <a:latin typeface="Arial" panose="020B0604020202020204" pitchFamily="34" charset="0"/>
                <a:cs typeface="Arial" panose="020B0604020202020204" pitchFamily="34" charset="0"/>
              </a:rPr>
              <a:t> (TPR of 1.0 </a:t>
            </a:r>
            <a:r>
              <a:rPr lang="tr-TR" altLang="en-US" sz="2400" dirty="0" err="1">
                <a:latin typeface="Arial" panose="020B0604020202020204" pitchFamily="34" charset="0"/>
                <a:cs typeface="Arial" panose="020B0604020202020204" pitchFamily="34" charset="0"/>
              </a:rPr>
              <a:t>and</a:t>
            </a:r>
            <a:r>
              <a:rPr lang="tr-TR" altLang="en-US" sz="2400" dirty="0">
                <a:latin typeface="Arial" panose="020B0604020202020204" pitchFamily="34" charset="0"/>
                <a:cs typeface="Arial" panose="020B0604020202020204" pitchFamily="34" charset="0"/>
              </a:rPr>
              <a:t> FPR of 0.0). </a:t>
            </a:r>
            <a:r>
              <a:rPr lang="tr-TR" altLang="en-US" sz="2400" dirty="0" err="1">
                <a:latin typeface="Arial" panose="020B0604020202020204" pitchFamily="34" charset="0"/>
                <a:cs typeface="Arial" panose="020B0604020202020204" pitchFamily="34" charset="0"/>
              </a:rPr>
              <a:t>This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means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model </a:t>
            </a:r>
            <a:r>
              <a:rPr lang="tr-TR" altLang="en-US" sz="2400" dirty="0" err="1">
                <a:latin typeface="Arial" panose="020B0604020202020204" pitchFamily="34" charset="0"/>
                <a:cs typeface="Arial" panose="020B0604020202020204" pitchFamily="34" charset="0"/>
              </a:rPr>
              <a:t>identifies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all</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positives</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without</a:t>
            </a:r>
            <a:r>
              <a:rPr lang="tr-TR" altLang="en-US" sz="2400" dirty="0">
                <a:latin typeface="Arial" panose="020B0604020202020204" pitchFamily="34" charset="0"/>
                <a:cs typeface="Arial" panose="020B0604020202020204" pitchFamily="34" charset="0"/>
              </a:rPr>
              <a:t> a </a:t>
            </a:r>
            <a:r>
              <a:rPr lang="tr-TR" altLang="en-US" sz="2400" dirty="0" err="1">
                <a:latin typeface="Arial" panose="020B0604020202020204" pitchFamily="34" charset="0"/>
                <a:cs typeface="Arial" panose="020B0604020202020204" pitchFamily="34" charset="0"/>
              </a:rPr>
              <a:t>single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false</a:t>
            </a:r>
            <a:r>
              <a:rPr lang="tr-TR" altLang="en-US" sz="2400" dirty="0">
                <a:latin typeface="Arial" panose="020B0604020202020204" pitchFamily="34" charset="0"/>
                <a:cs typeface="Arial" panose="020B0604020202020204" pitchFamily="34" charset="0"/>
              </a:rPr>
              <a:t> alarm.</a:t>
            </a:r>
          </a:p>
          <a:p>
            <a:pPr>
              <a:lnSpc>
                <a:spcPct val="120000"/>
              </a:lnSpc>
              <a:spcBef>
                <a:spcPts val="600"/>
              </a:spcBef>
            </a:pPr>
            <a:r>
              <a:rPr lang="tr-TR" altLang="en-US" sz="2400" dirty="0">
                <a:latin typeface="Arial" panose="020B0604020202020204" pitchFamily="34" charset="0"/>
                <a:cs typeface="Arial" panose="020B0604020202020204" pitchFamily="34" charset="0"/>
              </a:rPr>
              <a:t>AUC (</a:t>
            </a:r>
            <a:r>
              <a:rPr lang="tr-TR" altLang="en-US" sz="2400" dirty="0" err="1">
                <a:latin typeface="Arial" panose="020B0604020202020204" pitchFamily="34" charset="0"/>
                <a:cs typeface="Arial" panose="020B0604020202020204" pitchFamily="34" charset="0"/>
              </a:rPr>
              <a:t>Area</a:t>
            </a:r>
            <a:r>
              <a:rPr lang="tr-TR" altLang="en-US" sz="2400" dirty="0">
                <a:latin typeface="Arial" panose="020B0604020202020204" pitchFamily="34" charset="0"/>
                <a:cs typeface="Arial" panose="020B0604020202020204" pitchFamily="34" charset="0"/>
              </a:rPr>
              <a:t> Under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Curve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While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curve</a:t>
            </a:r>
            <a:r>
              <a:rPr lang="tr-TR" altLang="en-US" sz="2400" dirty="0">
                <a:latin typeface="Arial" panose="020B0604020202020204" pitchFamily="34" charset="0"/>
                <a:cs typeface="Arial" panose="020B0604020202020204" pitchFamily="34" charset="0"/>
              </a:rPr>
              <a:t> is </a:t>
            </a:r>
            <a:r>
              <a:rPr lang="tr-TR" altLang="en-US" sz="2400" dirty="0" err="1">
                <a:latin typeface="Arial" panose="020B0604020202020204" pitchFamily="34" charset="0"/>
                <a:cs typeface="Arial" panose="020B0604020202020204" pitchFamily="34" charset="0"/>
              </a:rPr>
              <a:t>great</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for</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visualization</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often</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want</a:t>
            </a:r>
            <a:r>
              <a:rPr lang="tr-TR" altLang="en-US" sz="2400" dirty="0">
                <a:latin typeface="Arial" panose="020B0604020202020204" pitchFamily="34" charset="0"/>
                <a:cs typeface="Arial" panose="020B0604020202020204" pitchFamily="34" charset="0"/>
              </a:rPr>
              <a:t> a </a:t>
            </a:r>
            <a:r>
              <a:rPr lang="tr-TR" altLang="en-US" sz="2400" dirty="0" err="1">
                <a:latin typeface="Arial" panose="020B0604020202020204" pitchFamily="34" charset="0"/>
                <a:cs typeface="Arial" panose="020B0604020202020204" pitchFamily="34" charset="0"/>
              </a:rPr>
              <a:t>single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number</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to</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summarize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performance</a:t>
            </a:r>
            <a:r>
              <a:rPr lang="tr-TR" altLang="en-US" sz="2400" dirty="0">
                <a:latin typeface="Arial" panose="020B0604020202020204" pitchFamily="34" charset="0"/>
                <a:cs typeface="Arial" panose="020B0604020202020204" pitchFamily="34" charset="0"/>
              </a:rPr>
              <a:t>. </a:t>
            </a:r>
            <a:r>
              <a:rPr lang="tr-TR" altLang="en-US" sz="2400" dirty="0" err="1">
                <a:latin typeface="Arial" panose="020B0604020202020204" pitchFamily="34" charset="0"/>
                <a:cs typeface="Arial" panose="020B0604020202020204" pitchFamily="34" charset="0"/>
              </a:rPr>
              <a:t>This</a:t>
            </a:r>
            <a:r>
              <a:rPr lang="tr-TR" altLang="en-US" sz="2400" dirty="0">
                <a:latin typeface="Arial" panose="020B0604020202020204" pitchFamily="34" charset="0"/>
                <a:cs typeface="Arial" panose="020B0604020202020204" pitchFamily="34" charset="0"/>
              </a:rPr>
              <a:t> is </a:t>
            </a:r>
            <a:r>
              <a:rPr lang="tr-TR" altLang="en-US" sz="2400" dirty="0" err="1">
                <a:latin typeface="Arial" panose="020B0604020202020204" pitchFamily="34" charset="0"/>
                <a:cs typeface="Arial" panose="020B0604020202020204" pitchFamily="34" charset="0"/>
              </a:rPr>
              <a:t>the</a:t>
            </a:r>
            <a:r>
              <a:rPr lang="tr-TR" altLang="en-US" sz="2400" dirty="0">
                <a:latin typeface="Arial" panose="020B0604020202020204" pitchFamily="34" charset="0"/>
                <a:cs typeface="Arial" panose="020B0604020202020204" pitchFamily="34" charset="0"/>
              </a:rPr>
              <a:t> AUC.</a:t>
            </a:r>
          </a:p>
          <a:p>
            <a:pPr>
              <a:lnSpc>
                <a:spcPct val="120000"/>
              </a:lnSpc>
              <a:spcBef>
                <a:spcPts val="600"/>
              </a:spcBef>
            </a:pPr>
            <a:r>
              <a:rPr lang="tr-TR" altLang="en-US" sz="2400" dirty="0">
                <a:latin typeface="Arial" panose="020B0604020202020204" pitchFamily="34" charset="0"/>
                <a:cs typeface="Arial" panose="020B0604020202020204" pitchFamily="34" charset="0"/>
              </a:rPr>
              <a:t>AUC = 1.0: Perfect </a:t>
            </a:r>
            <a:r>
              <a:rPr lang="tr-TR" altLang="en-US" sz="2400" dirty="0" err="1">
                <a:latin typeface="Arial" panose="020B0604020202020204" pitchFamily="34" charset="0"/>
                <a:cs typeface="Arial" panose="020B0604020202020204" pitchFamily="34" charset="0"/>
              </a:rPr>
              <a:t>classification</a:t>
            </a:r>
            <a:r>
              <a:rPr lang="tr-TR" altLang="en-US" sz="2400" dirty="0">
                <a:latin typeface="Arial" panose="020B0604020202020204" pitchFamily="34" charset="0"/>
                <a:cs typeface="Arial" panose="020B0604020202020204" pitchFamily="34" charset="0"/>
              </a:rPr>
              <a:t>. AUC = 0.5: </a:t>
            </a:r>
            <a:r>
              <a:rPr lang="tr-TR" altLang="en-US" sz="2400" dirty="0" err="1">
                <a:latin typeface="Arial" panose="020B0604020202020204" pitchFamily="34" charset="0"/>
                <a:cs typeface="Arial" panose="020B0604020202020204" pitchFamily="34" charset="0"/>
              </a:rPr>
              <a:t>Randomness</a:t>
            </a:r>
            <a:r>
              <a:rPr lang="tr-TR" alt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4533250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sz="4000" b="1" dirty="0"/>
              <a:t>Macro vs. Micro Av</a:t>
            </a:r>
            <a:r>
              <a:rPr lang="tr-TR" sz="4000" b="1" dirty="0"/>
              <a:t>e</a:t>
            </a:r>
            <a:r>
              <a:rPr lang="en-US" sz="4000" b="1" dirty="0"/>
              <a:t>raging for Multiclass </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r>
              <a:rPr lang="en-US" altLang="en-US" sz="2400" dirty="0">
                <a:latin typeface="Arial" panose="020B0604020202020204" pitchFamily="34" charset="0"/>
                <a:cs typeface="Arial" panose="020B0604020202020204" pitchFamily="34" charset="0"/>
              </a:rPr>
              <a:t>If we have more than one class, how do we combine multiple performance measures into one quantity?</a:t>
            </a:r>
          </a:p>
          <a:p>
            <a:pPr>
              <a:lnSpc>
                <a:spcPct val="120000"/>
              </a:lnSpc>
              <a:spcBef>
                <a:spcPts val="600"/>
              </a:spcBef>
            </a:pPr>
            <a:r>
              <a:rPr lang="en-US" altLang="en-US" sz="2400" b="1" dirty="0">
                <a:latin typeface="Arial" panose="020B0604020202020204" pitchFamily="34" charset="0"/>
                <a:cs typeface="Arial" panose="020B0604020202020204" pitchFamily="34" charset="0"/>
              </a:rPr>
              <a:t>Macro</a:t>
            </a:r>
            <a:r>
              <a:rPr lang="tr-TR" altLang="en-US" sz="2400" b="1" dirty="0">
                <a:latin typeface="Arial" panose="020B0604020202020204" pitchFamily="34" charset="0"/>
                <a:cs typeface="Arial" panose="020B0604020202020204" pitchFamily="34" charset="0"/>
              </a:rPr>
              <a:t>-</a:t>
            </a:r>
            <a:r>
              <a:rPr lang="en-US" altLang="en-US" sz="2400" b="1" dirty="0">
                <a:latin typeface="Arial" panose="020B0604020202020204" pitchFamily="34" charset="0"/>
                <a:cs typeface="Arial" panose="020B0604020202020204" pitchFamily="34" charset="0"/>
              </a:rPr>
              <a:t>averaging</a:t>
            </a:r>
            <a:r>
              <a:rPr lang="en-US" altLang="en-US" sz="2400" dirty="0">
                <a:latin typeface="Arial" panose="020B0604020202020204" pitchFamily="34" charset="0"/>
                <a:cs typeface="Arial" panose="020B0604020202020204" pitchFamily="34" charset="0"/>
              </a:rPr>
              <a:t>: Compute performance for each class, then average.</a:t>
            </a:r>
          </a:p>
          <a:p>
            <a:pPr>
              <a:lnSpc>
                <a:spcPct val="120000"/>
              </a:lnSpc>
              <a:spcBef>
                <a:spcPts val="600"/>
              </a:spcBef>
            </a:pPr>
            <a:r>
              <a:rPr lang="en-US" altLang="en-US" sz="2400" b="1" dirty="0">
                <a:latin typeface="Arial" panose="020B0604020202020204" pitchFamily="34" charset="0"/>
                <a:cs typeface="Arial" panose="020B0604020202020204" pitchFamily="34" charset="0"/>
              </a:rPr>
              <a:t>Micro</a:t>
            </a:r>
            <a:r>
              <a:rPr lang="tr-TR" altLang="en-US" sz="2400" b="1" dirty="0">
                <a:latin typeface="Arial" panose="020B0604020202020204" pitchFamily="34" charset="0"/>
                <a:cs typeface="Arial" panose="020B0604020202020204" pitchFamily="34" charset="0"/>
              </a:rPr>
              <a:t>-</a:t>
            </a:r>
            <a:r>
              <a:rPr lang="en-US" altLang="en-US" sz="2400" b="1" dirty="0">
                <a:latin typeface="Arial" panose="020B0604020202020204" pitchFamily="34" charset="0"/>
                <a:cs typeface="Arial" panose="020B0604020202020204" pitchFamily="34" charset="0"/>
              </a:rPr>
              <a:t>averaging</a:t>
            </a:r>
            <a:r>
              <a:rPr lang="en-US" altLang="en-US" sz="2400" dirty="0">
                <a:latin typeface="Arial" panose="020B0604020202020204" pitchFamily="34" charset="0"/>
                <a:cs typeface="Arial" panose="020B0604020202020204" pitchFamily="34" charset="0"/>
              </a:rPr>
              <a:t>: Collect decisions for all classes, compute contingency table, evaluate.</a:t>
            </a: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Macro-averaging treats all classes equally while micro-averaging favors larger classes.</a:t>
            </a:r>
            <a:endParaRPr lang="tr-TR"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965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838200" y="365125"/>
            <a:ext cx="11063514" cy="1325563"/>
          </a:xfrm>
        </p:spPr>
        <p:txBody>
          <a:bodyPr>
            <a:noAutofit/>
          </a:bodyPr>
          <a:lstStyle/>
          <a:p>
            <a:r>
              <a:rPr lang="en-US" sz="3800" b="1" dirty="0"/>
              <a:t>Metrics for Multi-Class Classifier’s Evaluation</a:t>
            </a:r>
          </a:p>
        </p:txBody>
      </p:sp>
      <p:sp>
        <p:nvSpPr>
          <p:cNvPr id="8" name="TextBox 7"/>
          <p:cNvSpPr txBox="1"/>
          <p:nvPr/>
        </p:nvSpPr>
        <p:spPr>
          <a:xfrm>
            <a:off x="14813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pic>
        <p:nvPicPr>
          <p:cNvPr id="6" name="Picture 5"/>
          <p:cNvPicPr>
            <a:picLocks noChangeAspect="1"/>
          </p:cNvPicPr>
          <p:nvPr/>
        </p:nvPicPr>
        <p:blipFill rotWithShape="1">
          <a:blip r:embed="rId3"/>
          <a:srcRect l="7196" t="23133" r="10912" b="18305"/>
          <a:stretch/>
        </p:blipFill>
        <p:spPr>
          <a:xfrm>
            <a:off x="2347" y="1497238"/>
            <a:ext cx="12233196" cy="4918075"/>
          </a:xfrm>
          <a:prstGeom prst="rect">
            <a:avLst/>
          </a:prstGeom>
        </p:spPr>
      </p:pic>
    </p:spTree>
    <p:extLst>
      <p:ext uri="{BB962C8B-B14F-4D97-AF65-F5344CB8AC3E}">
        <p14:creationId xmlns:p14="http://schemas.microsoft.com/office/powerpoint/2010/main" val="258313092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838200" y="365125"/>
            <a:ext cx="10860314" cy="1325563"/>
          </a:xfrm>
        </p:spPr>
        <p:txBody>
          <a:bodyPr>
            <a:noAutofit/>
          </a:bodyPr>
          <a:lstStyle/>
          <a:p>
            <a:r>
              <a:rPr lang="en-US" sz="3800" b="1" dirty="0"/>
              <a:t>Metrics for Multi-Label Classifier’s Evaluation</a:t>
            </a:r>
          </a:p>
        </p:txBody>
      </p:sp>
      <p:sp>
        <p:nvSpPr>
          <p:cNvPr id="8" name="TextBox 7"/>
          <p:cNvSpPr txBox="1"/>
          <p:nvPr/>
        </p:nvSpPr>
        <p:spPr>
          <a:xfrm>
            <a:off x="14813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pic>
        <p:nvPicPr>
          <p:cNvPr id="7" name="Picture 6"/>
          <p:cNvPicPr>
            <a:picLocks noChangeAspect="1"/>
          </p:cNvPicPr>
          <p:nvPr/>
        </p:nvPicPr>
        <p:blipFill rotWithShape="1">
          <a:blip r:embed="rId3"/>
          <a:srcRect l="7233" t="44350" r="10908" b="13818"/>
          <a:stretch/>
        </p:blipFill>
        <p:spPr>
          <a:xfrm>
            <a:off x="3405" y="2322286"/>
            <a:ext cx="12175770" cy="3497943"/>
          </a:xfrm>
          <a:prstGeom prst="rect">
            <a:avLst/>
          </a:prstGeom>
        </p:spPr>
      </p:pic>
    </p:spTree>
    <p:extLst>
      <p:ext uri="{BB962C8B-B14F-4D97-AF65-F5344CB8AC3E}">
        <p14:creationId xmlns:p14="http://schemas.microsoft.com/office/powerpoint/2010/main" val="2002504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a:xfrm>
            <a:off x="838200" y="365125"/>
            <a:ext cx="10515600" cy="1325563"/>
          </a:xfrm>
        </p:spPr>
        <p:txBody>
          <a:bodyPr>
            <a:noAutofit/>
          </a:bodyPr>
          <a:lstStyle/>
          <a:p>
            <a:r>
              <a:rPr lang="en-US" sz="3600" b="1" dirty="0"/>
              <a:t>Metrics for Hierarchical Classifier’s Evaluation</a:t>
            </a:r>
          </a:p>
        </p:txBody>
      </p:sp>
      <p:sp>
        <p:nvSpPr>
          <p:cNvPr id="8" name="TextBox 7"/>
          <p:cNvSpPr txBox="1"/>
          <p:nvPr/>
        </p:nvSpPr>
        <p:spPr>
          <a:xfrm>
            <a:off x="1481391" y="6490157"/>
            <a:ext cx="8779968" cy="215444"/>
          </a:xfrm>
          <a:prstGeom prst="rect">
            <a:avLst/>
          </a:prstGeom>
          <a:noFill/>
        </p:spPr>
        <p:txBody>
          <a:bodyPr wrap="none" rtlCol="0">
            <a:spAutoFit/>
          </a:bodyPr>
          <a:lstStyle/>
          <a:p>
            <a:pPr algn="ctr"/>
            <a:r>
              <a:rPr lang="en-US" sz="800" b="1" i="1" dirty="0">
                <a:solidFill>
                  <a:schemeClr val="bg1">
                    <a:lumMod val="50000"/>
                  </a:schemeClr>
                </a:solidFill>
              </a:rPr>
              <a:t>Taken from </a:t>
            </a:r>
            <a:r>
              <a:rPr lang="en-US" sz="800" b="1" i="1" dirty="0" err="1">
                <a:solidFill>
                  <a:schemeClr val="bg1">
                    <a:lumMod val="50000"/>
                  </a:schemeClr>
                </a:solidFill>
              </a:rPr>
              <a:t>Sokolova</a:t>
            </a:r>
            <a:r>
              <a:rPr lang="en-US" sz="800" b="1" i="1" dirty="0">
                <a:solidFill>
                  <a:schemeClr val="bg1">
                    <a:lumMod val="50000"/>
                  </a:schemeClr>
                </a:solidFill>
              </a:rPr>
              <a:t>, M., &amp; Lapalme, G. (2009). A systematic analysis of performance measures for classification tasks. Information Processing &amp; Management, 45(4), 427-437.</a:t>
            </a:r>
          </a:p>
        </p:txBody>
      </p:sp>
      <p:pic>
        <p:nvPicPr>
          <p:cNvPr id="6" name="Picture 5"/>
          <p:cNvPicPr>
            <a:picLocks noChangeAspect="1"/>
          </p:cNvPicPr>
          <p:nvPr/>
        </p:nvPicPr>
        <p:blipFill rotWithShape="1">
          <a:blip r:embed="rId3"/>
          <a:srcRect l="6348" t="23915" r="10368" b="32774"/>
          <a:stretch/>
        </p:blipFill>
        <p:spPr>
          <a:xfrm>
            <a:off x="-12584" y="2162629"/>
            <a:ext cx="12250290" cy="3715656"/>
          </a:xfrm>
          <a:prstGeom prst="rect">
            <a:avLst/>
          </a:prstGeom>
        </p:spPr>
      </p:pic>
    </p:spTree>
    <p:extLst>
      <p:ext uri="{BB962C8B-B14F-4D97-AF65-F5344CB8AC3E}">
        <p14:creationId xmlns:p14="http://schemas.microsoft.com/office/powerpoint/2010/main" val="241468038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How to Estimate the Metrics?</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sz="2000" dirty="0">
                <a:latin typeface="Arial" panose="020B0604020202020204" pitchFamily="34" charset="0"/>
                <a:cs typeface="Arial" panose="020B0604020202020204" pitchFamily="34" charset="0"/>
              </a:rPr>
              <a:t>We will use these metrics to evaluate the predictive performance of our models.</a:t>
            </a:r>
          </a:p>
          <a:p>
            <a:pPr>
              <a:lnSpc>
                <a:spcPct val="120000"/>
              </a:lnSpc>
              <a:spcBef>
                <a:spcPts val="600"/>
              </a:spcBef>
            </a:pPr>
            <a:r>
              <a:rPr lang="en-US" sz="2000" dirty="0">
                <a:latin typeface="Arial" panose="020B0604020202020204" pitchFamily="34" charset="0"/>
                <a:cs typeface="Arial" panose="020B0604020202020204" pitchFamily="34" charset="0"/>
              </a:rPr>
              <a:t>We can use the data that we use to </a:t>
            </a:r>
            <a:r>
              <a:rPr lang="en-US" sz="2000" b="1" u="sng" dirty="0">
                <a:latin typeface="Arial" panose="020B0604020202020204" pitchFamily="34" charset="0"/>
                <a:cs typeface="Arial" panose="020B0604020202020204" pitchFamily="34" charset="0"/>
              </a:rPr>
              <a:t>train the model</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for measuring the predictive performance.</a:t>
            </a:r>
          </a:p>
          <a:p>
            <a:pPr>
              <a:lnSpc>
                <a:spcPct val="120000"/>
              </a:lnSpc>
              <a:spcBef>
                <a:spcPts val="600"/>
              </a:spcBef>
            </a:pPr>
            <a:r>
              <a:rPr lang="en-US" sz="2000" dirty="0">
                <a:latin typeface="Arial" panose="020B0604020202020204" pitchFamily="34" charset="0"/>
                <a:cs typeface="Arial" panose="020B0604020202020204" pitchFamily="34" charset="0"/>
              </a:rPr>
              <a:t>But for various reasons (that we will discuss soon!) we might need other approaches to </a:t>
            </a:r>
            <a:r>
              <a:rPr lang="en-US" sz="2000" b="1" u="sng" dirty="0">
                <a:latin typeface="Arial" panose="020B0604020202020204" pitchFamily="34" charset="0"/>
                <a:cs typeface="Arial" panose="020B0604020202020204" pitchFamily="34" charset="0"/>
              </a:rPr>
              <a:t>validate the predictive performance of our models</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such as:  </a:t>
            </a:r>
          </a:p>
          <a:p>
            <a:pPr lvl="1">
              <a:lnSpc>
                <a:spcPct val="120000"/>
              </a:lnSpc>
              <a:spcBef>
                <a:spcPts val="600"/>
              </a:spcBef>
            </a:pPr>
            <a:r>
              <a:rPr lang="en-US" sz="2000" dirty="0">
                <a:latin typeface="Arial" panose="020B0604020202020204" pitchFamily="34" charset="0"/>
                <a:cs typeface="Arial" panose="020B0604020202020204" pitchFamily="34" charset="0"/>
              </a:rPr>
              <a:t>Independent test data;</a:t>
            </a:r>
          </a:p>
          <a:p>
            <a:pPr lvl="1">
              <a:lnSpc>
                <a:spcPct val="120000"/>
              </a:lnSpc>
              <a:spcBef>
                <a:spcPts val="600"/>
              </a:spcBef>
            </a:pPr>
            <a:r>
              <a:rPr lang="en-US" sz="2000" dirty="0">
                <a:latin typeface="Arial" panose="020B0604020202020204" pitchFamily="34" charset="0"/>
                <a:cs typeface="Arial" panose="020B0604020202020204" pitchFamily="34" charset="0"/>
              </a:rPr>
              <a:t>Hold-out method;</a:t>
            </a:r>
          </a:p>
          <a:p>
            <a:pPr lvl="1">
              <a:lnSpc>
                <a:spcPct val="120000"/>
              </a:lnSpc>
              <a:spcBef>
                <a:spcPts val="600"/>
              </a:spcBef>
            </a:pPr>
            <a:r>
              <a:rPr lang="en-US" sz="2000" i="1" dirty="0">
                <a:latin typeface="Arial" panose="020B0604020202020204" pitchFamily="34" charset="0"/>
                <a:cs typeface="Arial" panose="020B0604020202020204" pitchFamily="34" charset="0"/>
              </a:rPr>
              <a:t>k</a:t>
            </a:r>
            <a:r>
              <a:rPr lang="en-US" sz="2000" dirty="0">
                <a:latin typeface="Arial" panose="020B0604020202020204" pitchFamily="34" charset="0"/>
                <a:cs typeface="Arial" panose="020B0604020202020204" pitchFamily="34" charset="0"/>
              </a:rPr>
              <a:t>-fold cross-validation method;</a:t>
            </a:r>
          </a:p>
          <a:p>
            <a:pPr lvl="1">
              <a:lnSpc>
                <a:spcPct val="120000"/>
              </a:lnSpc>
              <a:spcBef>
                <a:spcPts val="600"/>
              </a:spcBef>
            </a:pPr>
            <a:r>
              <a:rPr lang="en-US" sz="2000" dirty="0">
                <a:latin typeface="Arial" panose="020B0604020202020204" pitchFamily="34" charset="0"/>
                <a:cs typeface="Arial" panose="020B0604020202020204" pitchFamily="34" charset="0"/>
              </a:rPr>
              <a:t>Leave-one-out method;</a:t>
            </a:r>
          </a:p>
          <a:p>
            <a:pPr lvl="1">
              <a:lnSpc>
                <a:spcPct val="120000"/>
              </a:lnSpc>
              <a:spcBef>
                <a:spcPts val="600"/>
              </a:spcBef>
            </a:pPr>
            <a:r>
              <a:rPr lang="en-US" sz="2000" dirty="0">
                <a:latin typeface="Arial" panose="020B0604020202020204" pitchFamily="34" charset="0"/>
                <a:cs typeface="Arial" panose="020B0604020202020204" pitchFamily="34" charset="0"/>
              </a:rPr>
              <a:t>Bootstrap method;</a:t>
            </a:r>
          </a:p>
          <a:p>
            <a:pPr lvl="1">
              <a:lnSpc>
                <a:spcPct val="120000"/>
              </a:lnSpc>
              <a:spcBef>
                <a:spcPts val="600"/>
              </a:spcBef>
            </a:pPr>
            <a:r>
              <a:rPr lang="en-US" sz="2000" dirty="0">
                <a:latin typeface="Arial" panose="020B0604020202020204" pitchFamily="34" charset="0"/>
                <a:cs typeface="Arial" panose="020B0604020202020204" pitchFamily="34" charset="0"/>
              </a:rPr>
              <a:t>And many more…</a:t>
            </a:r>
          </a:p>
        </p:txBody>
      </p:sp>
    </p:spTree>
    <p:extLst>
      <p:ext uri="{BB962C8B-B14F-4D97-AF65-F5344CB8AC3E}">
        <p14:creationId xmlns:p14="http://schemas.microsoft.com/office/powerpoint/2010/main" val="3433835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Estimation with Training Data </a:t>
            </a:r>
          </a:p>
        </p:txBody>
      </p:sp>
      <p:sp>
        <p:nvSpPr>
          <p:cNvPr id="6" name="Content Placeholder 2"/>
          <p:cNvSpPr txBox="1">
            <a:spLocks/>
          </p:cNvSpPr>
          <p:nvPr/>
        </p:nvSpPr>
        <p:spPr>
          <a:xfrm>
            <a:off x="537029" y="1690688"/>
            <a:ext cx="11495314"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574675" indent="-342900">
              <a:lnSpc>
                <a:spcPct val="120000"/>
              </a:lnSpc>
              <a:spcBef>
                <a:spcPts val="600"/>
              </a:spcBef>
            </a:pPr>
            <a:r>
              <a:rPr lang="en-US" sz="2400" dirty="0">
                <a:latin typeface="Arial" panose="020B0604020202020204" pitchFamily="34" charset="0"/>
                <a:cs typeface="Arial" panose="020B0604020202020204" pitchFamily="34" charset="0"/>
              </a:rPr>
              <a:t>The accuracy/error estimates on the training data are </a:t>
            </a:r>
            <a:r>
              <a:rPr lang="en-US" sz="2400" b="1" i="1" dirty="0">
                <a:latin typeface="Arial" panose="020B0604020202020204" pitchFamily="34" charset="0"/>
                <a:cs typeface="Arial" panose="020B0604020202020204" pitchFamily="34" charset="0"/>
              </a:rPr>
              <a:t>not</a:t>
            </a:r>
            <a:r>
              <a:rPr lang="en-US" sz="2400" dirty="0">
                <a:latin typeface="Arial" panose="020B0604020202020204" pitchFamily="34" charset="0"/>
                <a:cs typeface="Arial" panose="020B0604020202020204" pitchFamily="34" charset="0"/>
              </a:rPr>
              <a:t>  good indicators of performance on future data.</a:t>
            </a:r>
          </a:p>
          <a:p>
            <a:pPr marL="231775" indent="0">
              <a:lnSpc>
                <a:spcPct val="120000"/>
              </a:lnSpc>
              <a:spcBef>
                <a:spcPts val="600"/>
              </a:spcBef>
            </a:pPr>
            <a:endParaRPr lang="en-US" sz="2400" dirty="0">
              <a:latin typeface="Arial" panose="020B0604020202020204" pitchFamily="34" charset="0"/>
              <a:cs typeface="Arial" panose="020B0604020202020204" pitchFamily="34" charset="0"/>
            </a:endParaRPr>
          </a:p>
          <a:p>
            <a:pPr marL="231775" indent="0">
              <a:lnSpc>
                <a:spcPct val="120000"/>
              </a:lnSpc>
              <a:spcBef>
                <a:spcPts val="600"/>
              </a:spcBef>
            </a:pPr>
            <a:endParaRPr lang="en-US" sz="2400" dirty="0">
              <a:latin typeface="Arial" panose="020B0604020202020204" pitchFamily="34" charset="0"/>
              <a:cs typeface="Arial" panose="020B0604020202020204" pitchFamily="34" charset="0"/>
            </a:endParaRPr>
          </a:p>
          <a:p>
            <a:pPr marL="231775" lvl="1" indent="0">
              <a:lnSpc>
                <a:spcPct val="120000"/>
              </a:lnSpc>
              <a:spcBef>
                <a:spcPts val="600"/>
              </a:spcBef>
            </a:pPr>
            <a:endParaRPr lang="tr-TR" b="1" dirty="0">
              <a:latin typeface="Arial" panose="020B0604020202020204" pitchFamily="34" charset="0"/>
              <a:cs typeface="Arial" panose="020B0604020202020204" pitchFamily="34" charset="0"/>
            </a:endParaRPr>
          </a:p>
          <a:p>
            <a:pPr marL="574675" lvl="1" indent="-342900">
              <a:lnSpc>
                <a:spcPct val="120000"/>
              </a:lnSpc>
              <a:spcBef>
                <a:spcPts val="600"/>
              </a:spcBef>
            </a:pPr>
            <a:r>
              <a:rPr lang="en-US" b="1" dirty="0">
                <a:latin typeface="Arial" panose="020B0604020202020204" pitchFamily="34" charset="0"/>
                <a:cs typeface="Arial" panose="020B0604020202020204" pitchFamily="34" charset="0"/>
              </a:rPr>
              <a:t>Q: Why?</a:t>
            </a:r>
            <a:r>
              <a:rPr lang="en-US" dirty="0">
                <a:latin typeface="Arial" panose="020B0604020202020204" pitchFamily="34" charset="0"/>
                <a:cs typeface="Arial" panose="020B0604020202020204" pitchFamily="34" charset="0"/>
              </a:rPr>
              <a:t>  </a:t>
            </a:r>
          </a:p>
          <a:p>
            <a:pPr marL="574675" lvl="1" indent="-342900">
              <a:lnSpc>
                <a:spcPct val="120000"/>
              </a:lnSpc>
              <a:spcBef>
                <a:spcPts val="600"/>
              </a:spcBef>
            </a:pPr>
            <a:r>
              <a:rPr lang="en-US" b="1" dirty="0">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Because new data will probably not have the </a:t>
            </a:r>
            <a:r>
              <a:rPr lang="en-US" b="1" dirty="0">
                <a:latin typeface="Arial" panose="020B0604020202020204" pitchFamily="34" charset="0"/>
                <a:cs typeface="Arial" panose="020B0604020202020204" pitchFamily="34" charset="0"/>
              </a:rPr>
              <a:t>exact</a:t>
            </a:r>
            <a:r>
              <a:rPr lang="en-US" dirty="0">
                <a:latin typeface="Arial" panose="020B0604020202020204" pitchFamily="34" charset="0"/>
                <a:cs typeface="Arial" panose="020B0604020202020204" pitchFamily="34" charset="0"/>
              </a:rPr>
              <a:t> same distribution with the training data!</a:t>
            </a:r>
          </a:p>
        </p:txBody>
      </p:sp>
      <p:grpSp>
        <p:nvGrpSpPr>
          <p:cNvPr id="16" name="Group 15"/>
          <p:cNvGrpSpPr/>
          <p:nvPr/>
        </p:nvGrpSpPr>
        <p:grpSpPr>
          <a:xfrm>
            <a:off x="3352800" y="2742868"/>
            <a:ext cx="5486400" cy="1512888"/>
            <a:chOff x="4459288" y="2701925"/>
            <a:chExt cx="5486400" cy="1512888"/>
          </a:xfrm>
        </p:grpSpPr>
        <p:sp>
          <p:nvSpPr>
            <p:cNvPr id="17" name="Text Box 4"/>
            <p:cNvSpPr txBox="1">
              <a:spLocks noChangeArrowheads="1"/>
            </p:cNvSpPr>
            <p:nvPr/>
          </p:nvSpPr>
          <p:spPr bwMode="auto">
            <a:xfrm>
              <a:off x="4459288" y="3844925"/>
              <a:ext cx="2286000" cy="369888"/>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Training set</a:t>
              </a:r>
            </a:p>
          </p:txBody>
        </p:sp>
        <p:sp>
          <p:nvSpPr>
            <p:cNvPr id="18" name="Text Box 5"/>
            <p:cNvSpPr txBox="1">
              <a:spLocks noChangeArrowheads="1"/>
            </p:cNvSpPr>
            <p:nvPr/>
          </p:nvSpPr>
          <p:spPr bwMode="auto">
            <a:xfrm>
              <a:off x="5983288" y="2701925"/>
              <a:ext cx="2286000" cy="369888"/>
            </a:xfrm>
            <a:prstGeom prst="rect">
              <a:avLst/>
            </a:prstGeom>
            <a:solidFill>
              <a:schemeClr val="accent1"/>
            </a:solidFill>
            <a:ln w="9525">
              <a:solidFill>
                <a:schemeClr val="accent1"/>
              </a:solidFill>
              <a:miter lim="800000"/>
              <a:headEnd/>
              <a:tailEnd/>
            </a:ln>
          </p:spPr>
          <p:txBody>
            <a:bodyPr>
              <a:spAutoFit/>
            </a:bodyPr>
            <a:lstStyle/>
            <a:p>
              <a:pPr algn="ctr">
                <a:spcBef>
                  <a:spcPct val="50000"/>
                </a:spcBef>
              </a:pPr>
              <a:r>
                <a:rPr lang="en-US" b="1" i="1" dirty="0">
                  <a:solidFill>
                    <a:schemeClr val="bg1"/>
                  </a:solidFill>
                  <a:latin typeface="Calibri" pitchFamily="34" charset="0"/>
                </a:rPr>
                <a:t>Classifier</a:t>
              </a:r>
            </a:p>
          </p:txBody>
        </p:sp>
        <p:grpSp>
          <p:nvGrpSpPr>
            <p:cNvPr id="19" name="Group 6"/>
            <p:cNvGrpSpPr>
              <a:grpSpLocks/>
            </p:cNvGrpSpPr>
            <p:nvPr/>
          </p:nvGrpSpPr>
          <p:grpSpPr bwMode="auto">
            <a:xfrm>
              <a:off x="5526088" y="2930525"/>
              <a:ext cx="457200" cy="914400"/>
              <a:chOff x="2064" y="2064"/>
              <a:chExt cx="288" cy="576"/>
            </a:xfrm>
          </p:grpSpPr>
          <p:sp>
            <p:nvSpPr>
              <p:cNvPr id="24" name="Line 7"/>
              <p:cNvSpPr>
                <a:spLocks noChangeShapeType="1"/>
              </p:cNvSpPr>
              <p:nvPr/>
            </p:nvSpPr>
            <p:spPr bwMode="auto">
              <a:xfrm flipV="1">
                <a:off x="2064" y="2064"/>
                <a:ext cx="0" cy="576"/>
              </a:xfrm>
              <a:prstGeom prst="line">
                <a:avLst/>
              </a:prstGeom>
              <a:noFill/>
              <a:ln w="9525">
                <a:solidFill>
                  <a:schemeClr val="accent1"/>
                </a:solidFill>
                <a:round/>
                <a:headEnd/>
                <a:tailEnd type="triangle" w="med" len="med"/>
              </a:ln>
            </p:spPr>
            <p:txBody>
              <a:bodyPr wrap="none" anchor="ctr">
                <a:spAutoFit/>
              </a:bodyPr>
              <a:lstStyle/>
              <a:p>
                <a:endParaRPr lang="en-US"/>
              </a:p>
            </p:txBody>
          </p:sp>
          <p:sp>
            <p:nvSpPr>
              <p:cNvPr id="25" name="Line 8"/>
              <p:cNvSpPr>
                <a:spLocks noChangeShapeType="1"/>
              </p:cNvSpPr>
              <p:nvPr/>
            </p:nvSpPr>
            <p:spPr bwMode="auto">
              <a:xfrm>
                <a:off x="2064"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sp>
          <p:nvSpPr>
            <p:cNvPr id="20" name="Text Box 9"/>
            <p:cNvSpPr txBox="1">
              <a:spLocks noChangeArrowheads="1"/>
            </p:cNvSpPr>
            <p:nvPr/>
          </p:nvSpPr>
          <p:spPr bwMode="auto">
            <a:xfrm>
              <a:off x="7659688" y="3844925"/>
              <a:ext cx="2286000" cy="369888"/>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Training set</a:t>
              </a:r>
            </a:p>
          </p:txBody>
        </p:sp>
        <p:grpSp>
          <p:nvGrpSpPr>
            <p:cNvPr id="21" name="Group 10"/>
            <p:cNvGrpSpPr>
              <a:grpSpLocks/>
            </p:cNvGrpSpPr>
            <p:nvPr/>
          </p:nvGrpSpPr>
          <p:grpSpPr bwMode="auto">
            <a:xfrm>
              <a:off x="8269288" y="2930525"/>
              <a:ext cx="457200" cy="914400"/>
              <a:chOff x="3792" y="2064"/>
              <a:chExt cx="288" cy="576"/>
            </a:xfrm>
          </p:grpSpPr>
          <p:sp>
            <p:nvSpPr>
              <p:cNvPr id="22" name="Line 11"/>
              <p:cNvSpPr>
                <a:spLocks noChangeShapeType="1"/>
              </p:cNvSpPr>
              <p:nvPr/>
            </p:nvSpPr>
            <p:spPr bwMode="auto">
              <a:xfrm flipV="1">
                <a:off x="4080" y="2064"/>
                <a:ext cx="0" cy="576"/>
              </a:xfrm>
              <a:prstGeom prst="line">
                <a:avLst/>
              </a:prstGeom>
              <a:noFill/>
              <a:ln w="9525">
                <a:solidFill>
                  <a:schemeClr val="accent1"/>
                </a:solidFill>
                <a:round/>
                <a:headEnd type="triangle" w="med" len="med"/>
                <a:tailEnd/>
              </a:ln>
            </p:spPr>
            <p:txBody>
              <a:bodyPr wrap="none" anchor="ctr">
                <a:spAutoFit/>
              </a:bodyPr>
              <a:lstStyle/>
              <a:p>
                <a:endParaRPr lang="en-US"/>
              </a:p>
            </p:txBody>
          </p:sp>
          <p:sp>
            <p:nvSpPr>
              <p:cNvPr id="23" name="Line 12"/>
              <p:cNvSpPr>
                <a:spLocks noChangeShapeType="1"/>
              </p:cNvSpPr>
              <p:nvPr/>
            </p:nvSpPr>
            <p:spPr bwMode="auto">
              <a:xfrm>
                <a:off x="3792"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grpSp>
    </p:spTree>
    <p:extLst>
      <p:ext uri="{BB962C8B-B14F-4D97-AF65-F5344CB8AC3E}">
        <p14:creationId xmlns:p14="http://schemas.microsoft.com/office/powerpoint/2010/main" val="1935625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49FA5-1465-9C1B-F740-91373D6E862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B56B989-88EC-7A7D-8590-750EF776CFDC}"/>
              </a:ext>
            </a:extLst>
          </p:cNvPr>
          <p:cNvSpPr>
            <a:spLocks noGrp="1"/>
          </p:cNvSpPr>
          <p:nvPr>
            <p:ph type="title"/>
          </p:nvPr>
        </p:nvSpPr>
        <p:spPr/>
        <p:txBody>
          <a:bodyPr>
            <a:noAutofit/>
          </a:bodyPr>
          <a:lstStyle/>
          <a:p>
            <a:r>
              <a:rPr lang="en-US" b="1" dirty="0"/>
              <a:t>Overfitting</a:t>
            </a:r>
          </a:p>
        </p:txBody>
      </p:sp>
      <p:sp>
        <p:nvSpPr>
          <p:cNvPr id="6" name="Content Placeholder 2">
            <a:extLst>
              <a:ext uri="{FF2B5EF4-FFF2-40B4-BE49-F238E27FC236}">
                <a16:creationId xmlns:a16="http://schemas.microsoft.com/office/drawing/2014/main" id="{AB3523EB-E24A-E2E6-E04F-4216657682AA}"/>
              </a:ext>
            </a:extLst>
          </p:cNvPr>
          <p:cNvSpPr txBox="1">
            <a:spLocks/>
          </p:cNvSpPr>
          <p:nvPr/>
        </p:nvSpPr>
        <p:spPr>
          <a:xfrm>
            <a:off x="537029" y="1959428"/>
            <a:ext cx="11495314" cy="46426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574675" indent="-342900">
              <a:lnSpc>
                <a:spcPct val="120000"/>
              </a:lnSpc>
              <a:spcBef>
                <a:spcPts val="600"/>
              </a:spcBef>
            </a:pPr>
            <a:r>
              <a:rPr lang="en-US" sz="2400" dirty="0">
                <a:latin typeface="Arial" panose="020B0604020202020204" pitchFamily="34" charset="0"/>
                <a:cs typeface="Arial" panose="020B0604020202020204" pitchFamily="34" charset="0"/>
              </a:rPr>
              <a:t>Overfitting is defined as the degree to which a classifier performs well on training data but fails to generalize to unseen data.</a:t>
            </a:r>
          </a:p>
          <a:p>
            <a:pPr marL="574675" indent="-342900">
              <a:lnSpc>
                <a:spcPct val="120000"/>
              </a:lnSpc>
              <a:spcBef>
                <a:spcPts val="600"/>
              </a:spcBef>
            </a:pPr>
            <a:r>
              <a:rPr lang="en-US" sz="2400" dirty="0">
                <a:latin typeface="Arial" panose="020B0604020202020204" pitchFamily="34" charset="0"/>
                <a:cs typeface="Arial" panose="020B0604020202020204" pitchFamily="34" charset="0"/>
              </a:rPr>
              <a:t>If you only look at training data, you are essentially giving a student the answers to a test and then asking them to take that same test. A perfect score doesn't mean they understand the subject; it just means they have a good memory.</a:t>
            </a:r>
          </a:p>
          <a:p>
            <a:pPr marL="574675" indent="-342900">
              <a:lnSpc>
                <a:spcPct val="120000"/>
              </a:lnSpc>
              <a:spcBef>
                <a:spcPts val="600"/>
              </a:spcBef>
            </a:pPr>
            <a:r>
              <a:rPr lang="en-US" sz="2400" dirty="0">
                <a:latin typeface="Arial" panose="020B0604020202020204" pitchFamily="34" charset="0"/>
                <a:cs typeface="Arial" panose="020B0604020202020204" pitchFamily="34" charset="0"/>
              </a:rPr>
              <a:t>The "error estimate" on training data is almost always optimistically biased, meaning it makes the model look better than it actually is.</a:t>
            </a:r>
          </a:p>
        </p:txBody>
      </p:sp>
    </p:spTree>
    <p:extLst>
      <p:ext uri="{BB962C8B-B14F-4D97-AF65-F5344CB8AC3E}">
        <p14:creationId xmlns:p14="http://schemas.microsoft.com/office/powerpoint/2010/main" val="56669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p:tgtEl>
                                          <p:spTgt spid="6">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p:tgtEl>
                                          <p:spTgt spid="6">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44EDF-4564-611B-E914-E169751EB6C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958162C-5F3B-4994-821A-20CD4C86B3F6}"/>
              </a:ext>
            </a:extLst>
          </p:cNvPr>
          <p:cNvSpPr>
            <a:spLocks noGrp="1"/>
          </p:cNvSpPr>
          <p:nvPr>
            <p:ph type="title"/>
          </p:nvPr>
        </p:nvSpPr>
        <p:spPr/>
        <p:txBody>
          <a:bodyPr>
            <a:noAutofit/>
          </a:bodyPr>
          <a:lstStyle/>
          <a:p>
            <a:r>
              <a:rPr lang="en-US" b="1" dirty="0"/>
              <a:t>Overfitting</a:t>
            </a:r>
          </a:p>
        </p:txBody>
      </p:sp>
      <p:sp>
        <p:nvSpPr>
          <p:cNvPr id="6" name="Content Placeholder 2">
            <a:extLst>
              <a:ext uri="{FF2B5EF4-FFF2-40B4-BE49-F238E27FC236}">
                <a16:creationId xmlns:a16="http://schemas.microsoft.com/office/drawing/2014/main" id="{50E63DAB-6A95-5FAE-6F33-5F61F663C569}"/>
              </a:ext>
            </a:extLst>
          </p:cNvPr>
          <p:cNvSpPr txBox="1">
            <a:spLocks/>
          </p:cNvSpPr>
          <p:nvPr/>
        </p:nvSpPr>
        <p:spPr>
          <a:xfrm>
            <a:off x="537029" y="1843314"/>
            <a:ext cx="11495314" cy="47588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574675" indent="-342900">
              <a:lnSpc>
                <a:spcPct val="120000"/>
              </a:lnSpc>
              <a:spcBef>
                <a:spcPts val="600"/>
              </a:spcBef>
            </a:pPr>
            <a:r>
              <a:rPr lang="en-US" dirty="0">
                <a:latin typeface="Arial" panose="020B0604020202020204" pitchFamily="34" charset="0"/>
                <a:cs typeface="Arial" panose="020B0604020202020204" pitchFamily="34" charset="0"/>
              </a:rPr>
              <a:t>Overfitting ≈ Test Error−Training Error</a:t>
            </a:r>
          </a:p>
          <a:p>
            <a:pPr marL="574675" indent="-342900">
              <a:lnSpc>
                <a:spcPct val="120000"/>
              </a:lnSpc>
              <a:spcBef>
                <a:spcPts val="600"/>
              </a:spcBef>
            </a:pPr>
            <a:r>
              <a:rPr lang="en-US" dirty="0">
                <a:latin typeface="Arial" panose="020B0604020202020204" pitchFamily="34" charset="0"/>
                <a:cs typeface="Arial" panose="020B0604020202020204" pitchFamily="34" charset="0"/>
              </a:rPr>
              <a:t>Low Training Error + High Test Error: This is the classic signature of overfitting. The model has essentially "memorized" the noise and specific details of the training set rather than the underlying concept.</a:t>
            </a:r>
          </a:p>
          <a:p>
            <a:pPr marL="574675" indent="-342900">
              <a:lnSpc>
                <a:spcPct val="120000"/>
              </a:lnSpc>
              <a:spcBef>
                <a:spcPts val="600"/>
              </a:spcBef>
            </a:pPr>
            <a:r>
              <a:rPr lang="en-US" dirty="0">
                <a:latin typeface="Arial" panose="020B0604020202020204" pitchFamily="34" charset="0"/>
                <a:cs typeface="Arial" panose="020B0604020202020204" pitchFamily="34" charset="0"/>
              </a:rPr>
              <a:t>Low Training Error + Low Test Error: This is the goal! The model has learned patterns that actually apply to the real world.</a:t>
            </a:r>
          </a:p>
        </p:txBody>
      </p:sp>
    </p:spTree>
    <p:extLst>
      <p:ext uri="{BB962C8B-B14F-4D97-AF65-F5344CB8AC3E}">
        <p14:creationId xmlns:p14="http://schemas.microsoft.com/office/powerpoint/2010/main" val="147187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Estimation with Independent Test Data </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defRPr/>
            </a:pPr>
            <a:r>
              <a:rPr lang="en-US" sz="2400" dirty="0">
                <a:latin typeface="Arial" panose="020B0604020202020204" pitchFamily="34" charset="0"/>
                <a:cs typeface="Arial" panose="020B0604020202020204" pitchFamily="34" charset="0"/>
              </a:rPr>
              <a:t>Estimation with independent test data is used when we have plenty of data and there is a natural way to forming training and test data.</a:t>
            </a:r>
          </a:p>
          <a:p>
            <a:pPr>
              <a:lnSpc>
                <a:spcPct val="120000"/>
              </a:lnSpc>
              <a:spcBef>
                <a:spcPts val="600"/>
              </a:spcBef>
              <a:buFont typeface="Arial"/>
              <a:buChar char="•"/>
              <a:defRPr/>
            </a:pPr>
            <a:endParaRPr lang="en-US"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tr-TR"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tr-TR"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en-US"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r>
              <a:rPr lang="en-US" sz="2400" i="1" dirty="0">
                <a:latin typeface="Arial" panose="020B0604020202020204" pitchFamily="34" charset="0"/>
                <a:cs typeface="Arial" panose="020B0604020202020204" pitchFamily="34" charset="0"/>
              </a:rPr>
              <a:t>For Example: Particularly for time series problems, we can set the current date to a particular date within the data, and use all of the data prior to that date to train the model, and use the rest of the data in order to determine the predictive performance of the trained model. </a:t>
            </a:r>
          </a:p>
        </p:txBody>
      </p:sp>
      <p:grpSp>
        <p:nvGrpSpPr>
          <p:cNvPr id="4" name="Group 3"/>
          <p:cNvGrpSpPr/>
          <p:nvPr/>
        </p:nvGrpSpPr>
        <p:grpSpPr>
          <a:xfrm>
            <a:off x="3061646" y="3016251"/>
            <a:ext cx="5486400" cy="1512888"/>
            <a:chOff x="3505200" y="2971800"/>
            <a:chExt cx="5486400" cy="1512888"/>
          </a:xfrm>
        </p:grpSpPr>
        <p:sp>
          <p:nvSpPr>
            <p:cNvPr id="5" name="Text Box 24"/>
            <p:cNvSpPr txBox="1">
              <a:spLocks noChangeArrowheads="1"/>
            </p:cNvSpPr>
            <p:nvPr/>
          </p:nvSpPr>
          <p:spPr bwMode="auto">
            <a:xfrm>
              <a:off x="3505200" y="4114800"/>
              <a:ext cx="2286000" cy="369888"/>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rgbClr val="FFFFFF"/>
                  </a:solidFill>
                  <a:latin typeface="Calibri" pitchFamily="34" charset="0"/>
                </a:rPr>
                <a:t>Training set</a:t>
              </a:r>
            </a:p>
          </p:txBody>
        </p:sp>
        <p:sp>
          <p:nvSpPr>
            <p:cNvPr id="7" name="Text Box 25"/>
            <p:cNvSpPr txBox="1">
              <a:spLocks noChangeArrowheads="1"/>
            </p:cNvSpPr>
            <p:nvPr/>
          </p:nvSpPr>
          <p:spPr bwMode="auto">
            <a:xfrm>
              <a:off x="5029200" y="2971800"/>
              <a:ext cx="2286000" cy="369888"/>
            </a:xfrm>
            <a:prstGeom prst="rect">
              <a:avLst/>
            </a:prstGeom>
            <a:solidFill>
              <a:schemeClr val="accent1"/>
            </a:solidFill>
            <a:ln w="9525">
              <a:solidFill>
                <a:schemeClr val="accent1"/>
              </a:solidFill>
              <a:miter lim="800000"/>
              <a:headEnd/>
              <a:tailEnd/>
            </a:ln>
          </p:spPr>
          <p:txBody>
            <a:bodyPr>
              <a:spAutoFit/>
            </a:bodyPr>
            <a:lstStyle/>
            <a:p>
              <a:pPr algn="ctr">
                <a:spcBef>
                  <a:spcPct val="50000"/>
                </a:spcBef>
              </a:pPr>
              <a:r>
                <a:rPr lang="en-US" b="1" i="1" dirty="0">
                  <a:solidFill>
                    <a:srgbClr val="FFFFFF"/>
                  </a:solidFill>
                  <a:latin typeface="Calibri" pitchFamily="34" charset="0"/>
                </a:rPr>
                <a:t>Classifier</a:t>
              </a:r>
            </a:p>
          </p:txBody>
        </p:sp>
        <p:grpSp>
          <p:nvGrpSpPr>
            <p:cNvPr id="8" name="Group 26"/>
            <p:cNvGrpSpPr>
              <a:grpSpLocks/>
            </p:cNvGrpSpPr>
            <p:nvPr/>
          </p:nvGrpSpPr>
          <p:grpSpPr bwMode="auto">
            <a:xfrm>
              <a:off x="4572000" y="3200400"/>
              <a:ext cx="457200" cy="914400"/>
              <a:chOff x="2064" y="2064"/>
              <a:chExt cx="288" cy="576"/>
            </a:xfrm>
          </p:grpSpPr>
          <p:sp>
            <p:nvSpPr>
              <p:cNvPr id="14" name="Line 27"/>
              <p:cNvSpPr>
                <a:spLocks noChangeShapeType="1"/>
              </p:cNvSpPr>
              <p:nvPr/>
            </p:nvSpPr>
            <p:spPr bwMode="auto">
              <a:xfrm flipV="1">
                <a:off x="2064" y="2064"/>
                <a:ext cx="0" cy="576"/>
              </a:xfrm>
              <a:prstGeom prst="line">
                <a:avLst/>
              </a:prstGeom>
              <a:noFill/>
              <a:ln w="9525">
                <a:solidFill>
                  <a:schemeClr val="accent1"/>
                </a:solidFill>
                <a:round/>
                <a:headEnd/>
                <a:tailEnd type="triangle" w="med" len="med"/>
              </a:ln>
            </p:spPr>
            <p:txBody>
              <a:bodyPr wrap="none" anchor="ctr">
                <a:spAutoFit/>
              </a:bodyPr>
              <a:lstStyle/>
              <a:p>
                <a:endParaRPr lang="en-US"/>
              </a:p>
            </p:txBody>
          </p:sp>
          <p:sp>
            <p:nvSpPr>
              <p:cNvPr id="15" name="Line 28"/>
              <p:cNvSpPr>
                <a:spLocks noChangeShapeType="1"/>
              </p:cNvSpPr>
              <p:nvPr/>
            </p:nvSpPr>
            <p:spPr bwMode="auto">
              <a:xfrm>
                <a:off x="2064"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sp>
          <p:nvSpPr>
            <p:cNvPr id="9" name="Text Box 29"/>
            <p:cNvSpPr txBox="1">
              <a:spLocks noChangeArrowheads="1"/>
            </p:cNvSpPr>
            <p:nvPr/>
          </p:nvSpPr>
          <p:spPr bwMode="auto">
            <a:xfrm>
              <a:off x="6705600" y="4114800"/>
              <a:ext cx="2286000" cy="369888"/>
            </a:xfrm>
            <a:prstGeom prst="rect">
              <a:avLst/>
            </a:prstGeom>
            <a:solidFill>
              <a:schemeClr val="hlink"/>
            </a:solidFill>
            <a:ln w="9525">
              <a:noFill/>
              <a:miter lim="800000"/>
              <a:headEnd/>
              <a:tailEnd/>
            </a:ln>
          </p:spPr>
          <p:txBody>
            <a:bodyPr>
              <a:spAutoFit/>
            </a:bodyPr>
            <a:lstStyle/>
            <a:p>
              <a:pPr algn="ctr">
                <a:spcBef>
                  <a:spcPct val="50000"/>
                </a:spcBef>
              </a:pPr>
              <a:r>
                <a:rPr lang="en-US" b="1" i="1">
                  <a:solidFill>
                    <a:srgbClr val="FFFFFF"/>
                  </a:solidFill>
                  <a:latin typeface="Calibri" pitchFamily="34" charset="0"/>
                </a:rPr>
                <a:t>Test set</a:t>
              </a:r>
            </a:p>
          </p:txBody>
        </p:sp>
        <p:grpSp>
          <p:nvGrpSpPr>
            <p:cNvPr id="10" name="Group 30"/>
            <p:cNvGrpSpPr>
              <a:grpSpLocks/>
            </p:cNvGrpSpPr>
            <p:nvPr/>
          </p:nvGrpSpPr>
          <p:grpSpPr bwMode="auto">
            <a:xfrm>
              <a:off x="7315200" y="3200400"/>
              <a:ext cx="457200" cy="914400"/>
              <a:chOff x="3792" y="2064"/>
              <a:chExt cx="288" cy="576"/>
            </a:xfrm>
          </p:grpSpPr>
          <p:sp>
            <p:nvSpPr>
              <p:cNvPr id="11" name="Line 31"/>
              <p:cNvSpPr>
                <a:spLocks noChangeShapeType="1"/>
              </p:cNvSpPr>
              <p:nvPr/>
            </p:nvSpPr>
            <p:spPr bwMode="auto">
              <a:xfrm flipV="1">
                <a:off x="4080" y="2064"/>
                <a:ext cx="0" cy="576"/>
              </a:xfrm>
              <a:prstGeom prst="line">
                <a:avLst/>
              </a:prstGeom>
              <a:noFill/>
              <a:ln w="9525">
                <a:solidFill>
                  <a:schemeClr val="accent1"/>
                </a:solidFill>
                <a:round/>
                <a:headEnd type="triangle" w="med" len="med"/>
                <a:tailEnd/>
              </a:ln>
            </p:spPr>
            <p:txBody>
              <a:bodyPr wrap="none" anchor="ctr">
                <a:spAutoFit/>
              </a:bodyPr>
              <a:lstStyle/>
              <a:p>
                <a:endParaRPr lang="en-US"/>
              </a:p>
            </p:txBody>
          </p:sp>
          <p:sp>
            <p:nvSpPr>
              <p:cNvPr id="12" name="Line 32"/>
              <p:cNvSpPr>
                <a:spLocks noChangeShapeType="1"/>
              </p:cNvSpPr>
              <p:nvPr/>
            </p:nvSpPr>
            <p:spPr bwMode="auto">
              <a:xfrm>
                <a:off x="3792"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grpSp>
    </p:spTree>
    <p:extLst>
      <p:ext uri="{BB962C8B-B14F-4D97-AF65-F5344CB8AC3E}">
        <p14:creationId xmlns:p14="http://schemas.microsoft.com/office/powerpoint/2010/main" val="3474258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Hold-out Method </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defRPr/>
            </a:pPr>
            <a:r>
              <a:rPr lang="en-US" sz="2400" dirty="0">
                <a:latin typeface="Arial" panose="020B0604020202020204" pitchFamily="34" charset="0"/>
                <a:cs typeface="Arial" panose="020B0604020202020204" pitchFamily="34" charset="0"/>
              </a:rPr>
              <a:t>The hold-out method splits the data into training data and test data (usually 2/3 for train, 1/3 for test). Then we b</a:t>
            </a:r>
            <a:r>
              <a:rPr lang="en-US" altLang="zh-TW" sz="2400" dirty="0">
                <a:latin typeface="Arial" panose="020B0604020202020204" pitchFamily="34" charset="0"/>
                <a:cs typeface="Arial" panose="020B0604020202020204" pitchFamily="34" charset="0"/>
              </a:rPr>
              <a:t>uild a classifier using the train data and test it using the test data.</a:t>
            </a:r>
            <a:endParaRPr lang="en-US" sz="2400" dirty="0">
              <a:latin typeface="Arial" panose="020B0604020202020204" pitchFamily="34" charset="0"/>
              <a:cs typeface="Arial" panose="020B0604020202020204" pitchFamily="34" charset="0"/>
            </a:endParaRPr>
          </a:p>
          <a:p>
            <a:pPr>
              <a:lnSpc>
                <a:spcPct val="120000"/>
              </a:lnSpc>
              <a:spcBef>
                <a:spcPts val="600"/>
              </a:spcBef>
              <a:buNone/>
              <a:defRPr/>
            </a:pPr>
            <a:endParaRPr lang="en-US"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en-US"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en-US"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en-US" sz="2400" dirty="0">
              <a:latin typeface="Arial" panose="020B0604020202020204" pitchFamily="34" charset="0"/>
              <a:cs typeface="Arial" panose="020B0604020202020204" pitchFamily="34" charset="0"/>
            </a:endParaRPr>
          </a:p>
          <a:p>
            <a:pPr>
              <a:lnSpc>
                <a:spcPct val="120000"/>
              </a:lnSpc>
              <a:spcBef>
                <a:spcPts val="600"/>
              </a:spcBef>
              <a:buFont typeface="Arial"/>
              <a:buChar char="•"/>
              <a:defRPr/>
            </a:pPr>
            <a:endParaRPr lang="en-US" sz="2400" dirty="0">
              <a:latin typeface="Arial" panose="020B0604020202020204" pitchFamily="34" charset="0"/>
              <a:cs typeface="Arial" panose="020B0604020202020204" pitchFamily="34" charset="0"/>
            </a:endParaRPr>
          </a:p>
          <a:p>
            <a:pPr marL="463550" indent="-231775" algn="just">
              <a:lnSpc>
                <a:spcPct val="80000"/>
              </a:lnSpc>
              <a:defRPr/>
            </a:pPr>
            <a:endParaRPr lang="en-US" sz="2400" dirty="0">
              <a:latin typeface="Arial" panose="020B0604020202020204" pitchFamily="34" charset="0"/>
              <a:cs typeface="Arial" panose="020B0604020202020204" pitchFamily="34" charset="0"/>
            </a:endParaRPr>
          </a:p>
          <a:p>
            <a:pPr marL="463550" indent="-231775" algn="just">
              <a:lnSpc>
                <a:spcPct val="80000"/>
              </a:lnSpc>
              <a:defRPr/>
            </a:pPr>
            <a:r>
              <a:rPr lang="en-US" sz="2400" dirty="0">
                <a:latin typeface="Arial" panose="020B0604020202020204" pitchFamily="34" charset="0"/>
                <a:cs typeface="Arial" panose="020B0604020202020204" pitchFamily="34" charset="0"/>
              </a:rPr>
              <a:t>Used with thousands of instances, including plenty from each class.</a:t>
            </a:r>
          </a:p>
        </p:txBody>
      </p:sp>
      <p:grpSp>
        <p:nvGrpSpPr>
          <p:cNvPr id="16" name="Group 15"/>
          <p:cNvGrpSpPr/>
          <p:nvPr/>
        </p:nvGrpSpPr>
        <p:grpSpPr>
          <a:xfrm>
            <a:off x="2123933" y="3299085"/>
            <a:ext cx="7239000" cy="2351088"/>
            <a:chOff x="2524125" y="2711450"/>
            <a:chExt cx="7239000" cy="2351088"/>
          </a:xfrm>
        </p:grpSpPr>
        <p:sp>
          <p:nvSpPr>
            <p:cNvPr id="17" name="Text Box 4"/>
            <p:cNvSpPr txBox="1">
              <a:spLocks noChangeArrowheads="1"/>
            </p:cNvSpPr>
            <p:nvPr/>
          </p:nvSpPr>
          <p:spPr bwMode="auto">
            <a:xfrm>
              <a:off x="4276725" y="3854450"/>
              <a:ext cx="2286000" cy="369888"/>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rgbClr val="FFFFFF"/>
                  </a:solidFill>
                  <a:latin typeface="Calibri" pitchFamily="34" charset="0"/>
                </a:rPr>
                <a:t>Training set</a:t>
              </a:r>
            </a:p>
          </p:txBody>
        </p:sp>
        <p:sp>
          <p:nvSpPr>
            <p:cNvPr id="18" name="Text Box 5"/>
            <p:cNvSpPr txBox="1">
              <a:spLocks noChangeArrowheads="1"/>
            </p:cNvSpPr>
            <p:nvPr/>
          </p:nvSpPr>
          <p:spPr bwMode="auto">
            <a:xfrm>
              <a:off x="5800725" y="2711450"/>
              <a:ext cx="2286000" cy="369888"/>
            </a:xfrm>
            <a:prstGeom prst="rect">
              <a:avLst/>
            </a:prstGeom>
            <a:solidFill>
              <a:schemeClr val="accent1"/>
            </a:solidFill>
            <a:ln w="9525">
              <a:solidFill>
                <a:schemeClr val="accent1"/>
              </a:solidFill>
              <a:miter lim="800000"/>
              <a:headEnd/>
              <a:tailEnd/>
            </a:ln>
          </p:spPr>
          <p:txBody>
            <a:bodyPr>
              <a:spAutoFit/>
            </a:bodyPr>
            <a:lstStyle/>
            <a:p>
              <a:pPr algn="ctr">
                <a:spcBef>
                  <a:spcPct val="50000"/>
                </a:spcBef>
              </a:pPr>
              <a:r>
                <a:rPr lang="en-US" b="1" i="1">
                  <a:solidFill>
                    <a:srgbClr val="FFFFFF"/>
                  </a:solidFill>
                  <a:latin typeface="Calibri" pitchFamily="34" charset="0"/>
                </a:rPr>
                <a:t>Classifier</a:t>
              </a:r>
            </a:p>
          </p:txBody>
        </p:sp>
        <p:grpSp>
          <p:nvGrpSpPr>
            <p:cNvPr id="19" name="Group 6"/>
            <p:cNvGrpSpPr>
              <a:grpSpLocks/>
            </p:cNvGrpSpPr>
            <p:nvPr/>
          </p:nvGrpSpPr>
          <p:grpSpPr bwMode="auto">
            <a:xfrm>
              <a:off x="5343525" y="2940050"/>
              <a:ext cx="457200" cy="914400"/>
              <a:chOff x="2064" y="2064"/>
              <a:chExt cx="288" cy="576"/>
            </a:xfrm>
          </p:grpSpPr>
          <p:sp>
            <p:nvSpPr>
              <p:cNvPr id="29" name="Line 7"/>
              <p:cNvSpPr>
                <a:spLocks noChangeShapeType="1"/>
              </p:cNvSpPr>
              <p:nvPr/>
            </p:nvSpPr>
            <p:spPr bwMode="auto">
              <a:xfrm flipV="1">
                <a:off x="2064" y="2064"/>
                <a:ext cx="0" cy="576"/>
              </a:xfrm>
              <a:prstGeom prst="line">
                <a:avLst/>
              </a:prstGeom>
              <a:noFill/>
              <a:ln w="9525">
                <a:solidFill>
                  <a:schemeClr val="accent1"/>
                </a:solidFill>
                <a:round/>
                <a:headEnd/>
                <a:tailEnd type="triangle" w="med" len="med"/>
              </a:ln>
            </p:spPr>
            <p:txBody>
              <a:bodyPr wrap="none" anchor="ctr">
                <a:spAutoFit/>
              </a:bodyPr>
              <a:lstStyle/>
              <a:p>
                <a:endParaRPr lang="en-US"/>
              </a:p>
            </p:txBody>
          </p:sp>
          <p:sp>
            <p:nvSpPr>
              <p:cNvPr id="30" name="Line 8"/>
              <p:cNvSpPr>
                <a:spLocks noChangeShapeType="1"/>
              </p:cNvSpPr>
              <p:nvPr/>
            </p:nvSpPr>
            <p:spPr bwMode="auto">
              <a:xfrm>
                <a:off x="2064"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sp>
          <p:nvSpPr>
            <p:cNvPr id="20" name="Text Box 9"/>
            <p:cNvSpPr txBox="1">
              <a:spLocks noChangeArrowheads="1"/>
            </p:cNvSpPr>
            <p:nvPr/>
          </p:nvSpPr>
          <p:spPr bwMode="auto">
            <a:xfrm>
              <a:off x="7477125" y="3854450"/>
              <a:ext cx="2286000" cy="369888"/>
            </a:xfrm>
            <a:prstGeom prst="rect">
              <a:avLst/>
            </a:prstGeom>
            <a:solidFill>
              <a:schemeClr val="hlink"/>
            </a:solidFill>
            <a:ln w="9525">
              <a:noFill/>
              <a:miter lim="800000"/>
              <a:headEnd/>
              <a:tailEnd/>
            </a:ln>
          </p:spPr>
          <p:txBody>
            <a:bodyPr>
              <a:spAutoFit/>
            </a:bodyPr>
            <a:lstStyle/>
            <a:p>
              <a:pPr algn="ctr">
                <a:spcBef>
                  <a:spcPct val="50000"/>
                </a:spcBef>
              </a:pPr>
              <a:r>
                <a:rPr lang="en-US" b="1" i="1">
                  <a:solidFill>
                    <a:srgbClr val="FFFFFF"/>
                  </a:solidFill>
                  <a:latin typeface="Calibri" pitchFamily="34" charset="0"/>
                </a:rPr>
                <a:t>Test set</a:t>
              </a:r>
            </a:p>
          </p:txBody>
        </p:sp>
        <p:grpSp>
          <p:nvGrpSpPr>
            <p:cNvPr id="21" name="Group 10"/>
            <p:cNvGrpSpPr>
              <a:grpSpLocks/>
            </p:cNvGrpSpPr>
            <p:nvPr/>
          </p:nvGrpSpPr>
          <p:grpSpPr bwMode="auto">
            <a:xfrm>
              <a:off x="8086725" y="2940050"/>
              <a:ext cx="457200" cy="914400"/>
              <a:chOff x="3792" y="2064"/>
              <a:chExt cx="288" cy="576"/>
            </a:xfrm>
          </p:grpSpPr>
          <p:sp>
            <p:nvSpPr>
              <p:cNvPr id="27" name="Line 11"/>
              <p:cNvSpPr>
                <a:spLocks noChangeShapeType="1"/>
              </p:cNvSpPr>
              <p:nvPr/>
            </p:nvSpPr>
            <p:spPr bwMode="auto">
              <a:xfrm flipV="1">
                <a:off x="4080" y="2064"/>
                <a:ext cx="0" cy="576"/>
              </a:xfrm>
              <a:prstGeom prst="line">
                <a:avLst/>
              </a:prstGeom>
              <a:noFill/>
              <a:ln w="9525">
                <a:solidFill>
                  <a:schemeClr val="accent1"/>
                </a:solidFill>
                <a:round/>
                <a:headEnd type="triangle" w="med" len="med"/>
                <a:tailEnd/>
              </a:ln>
            </p:spPr>
            <p:txBody>
              <a:bodyPr wrap="none" anchor="ctr">
                <a:spAutoFit/>
              </a:bodyPr>
              <a:lstStyle/>
              <a:p>
                <a:endParaRPr lang="en-US"/>
              </a:p>
            </p:txBody>
          </p:sp>
          <p:sp>
            <p:nvSpPr>
              <p:cNvPr id="28" name="Line 12"/>
              <p:cNvSpPr>
                <a:spLocks noChangeShapeType="1"/>
              </p:cNvSpPr>
              <p:nvPr/>
            </p:nvSpPr>
            <p:spPr bwMode="auto">
              <a:xfrm>
                <a:off x="3792"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sp>
          <p:nvSpPr>
            <p:cNvPr id="22" name="Text Box 13"/>
            <p:cNvSpPr txBox="1">
              <a:spLocks noChangeArrowheads="1"/>
            </p:cNvSpPr>
            <p:nvPr/>
          </p:nvSpPr>
          <p:spPr bwMode="auto">
            <a:xfrm>
              <a:off x="2524125" y="4692650"/>
              <a:ext cx="2286000" cy="369888"/>
            </a:xfrm>
            <a:prstGeom prst="rect">
              <a:avLst/>
            </a:prstGeom>
            <a:solidFill>
              <a:schemeClr val="accent1"/>
            </a:solidFill>
            <a:ln w="9525">
              <a:solidFill>
                <a:schemeClr val="accent1"/>
              </a:solidFill>
              <a:miter lim="800000"/>
              <a:headEnd/>
              <a:tailEnd/>
            </a:ln>
          </p:spPr>
          <p:txBody>
            <a:bodyPr>
              <a:spAutoFit/>
            </a:bodyPr>
            <a:lstStyle/>
            <a:p>
              <a:pPr algn="ctr">
                <a:spcBef>
                  <a:spcPct val="50000"/>
                </a:spcBef>
              </a:pPr>
              <a:r>
                <a:rPr lang="en-US" b="1" i="1">
                  <a:solidFill>
                    <a:srgbClr val="FFFFFF"/>
                  </a:solidFill>
                  <a:latin typeface="Calibri" pitchFamily="34" charset="0"/>
                </a:rPr>
                <a:t>Data</a:t>
              </a:r>
            </a:p>
          </p:txBody>
        </p:sp>
        <p:grpSp>
          <p:nvGrpSpPr>
            <p:cNvPr id="23" name="Group 14"/>
            <p:cNvGrpSpPr>
              <a:grpSpLocks/>
            </p:cNvGrpSpPr>
            <p:nvPr/>
          </p:nvGrpSpPr>
          <p:grpSpPr bwMode="auto">
            <a:xfrm>
              <a:off x="4886325" y="4311650"/>
              <a:ext cx="3657600" cy="609600"/>
              <a:chOff x="1776" y="2928"/>
              <a:chExt cx="2304" cy="384"/>
            </a:xfrm>
          </p:grpSpPr>
          <p:sp>
            <p:nvSpPr>
              <p:cNvPr id="24" name="Line 15"/>
              <p:cNvSpPr>
                <a:spLocks noChangeShapeType="1"/>
              </p:cNvSpPr>
              <p:nvPr/>
            </p:nvSpPr>
            <p:spPr bwMode="auto">
              <a:xfrm>
                <a:off x="1776" y="3312"/>
                <a:ext cx="2304" cy="0"/>
              </a:xfrm>
              <a:prstGeom prst="line">
                <a:avLst/>
              </a:prstGeom>
              <a:noFill/>
              <a:ln w="9525">
                <a:solidFill>
                  <a:schemeClr val="accent1"/>
                </a:solidFill>
                <a:round/>
                <a:headEnd/>
                <a:tailEnd/>
              </a:ln>
            </p:spPr>
            <p:txBody>
              <a:bodyPr wrap="none" anchor="ctr">
                <a:spAutoFit/>
              </a:bodyPr>
              <a:lstStyle/>
              <a:p>
                <a:endParaRPr lang="en-US"/>
              </a:p>
            </p:txBody>
          </p:sp>
          <p:sp>
            <p:nvSpPr>
              <p:cNvPr id="25" name="Line 16"/>
              <p:cNvSpPr>
                <a:spLocks noChangeShapeType="1"/>
              </p:cNvSpPr>
              <p:nvPr/>
            </p:nvSpPr>
            <p:spPr bwMode="auto">
              <a:xfrm flipV="1">
                <a:off x="2064" y="2928"/>
                <a:ext cx="0" cy="384"/>
              </a:xfrm>
              <a:prstGeom prst="line">
                <a:avLst/>
              </a:prstGeom>
              <a:noFill/>
              <a:ln w="9525">
                <a:solidFill>
                  <a:schemeClr val="accent1"/>
                </a:solidFill>
                <a:round/>
                <a:headEnd/>
                <a:tailEnd type="triangle" w="med" len="med"/>
              </a:ln>
            </p:spPr>
            <p:txBody>
              <a:bodyPr wrap="none" anchor="ctr">
                <a:spAutoFit/>
              </a:bodyPr>
              <a:lstStyle/>
              <a:p>
                <a:endParaRPr lang="en-US"/>
              </a:p>
            </p:txBody>
          </p:sp>
          <p:sp>
            <p:nvSpPr>
              <p:cNvPr id="26" name="Line 17"/>
              <p:cNvSpPr>
                <a:spLocks noChangeShapeType="1"/>
              </p:cNvSpPr>
              <p:nvPr/>
            </p:nvSpPr>
            <p:spPr bwMode="auto">
              <a:xfrm flipV="1">
                <a:off x="4080" y="2928"/>
                <a:ext cx="0" cy="384"/>
              </a:xfrm>
              <a:prstGeom prst="line">
                <a:avLst/>
              </a:prstGeom>
              <a:noFill/>
              <a:ln w="9525">
                <a:solidFill>
                  <a:schemeClr val="accent1"/>
                </a:solidFill>
                <a:round/>
                <a:headEnd/>
                <a:tailEnd type="triangle" w="med" len="med"/>
              </a:ln>
            </p:spPr>
            <p:txBody>
              <a:bodyPr wrap="none" anchor="ctr">
                <a:spAutoFit/>
              </a:bodyPr>
              <a:lstStyle/>
              <a:p>
                <a:endParaRPr lang="en-US"/>
              </a:p>
            </p:txBody>
          </p:sp>
        </p:grpSp>
      </p:grpSp>
    </p:spTree>
    <p:extLst>
      <p:ext uri="{BB962C8B-B14F-4D97-AF65-F5344CB8AC3E}">
        <p14:creationId xmlns:p14="http://schemas.microsoft.com/office/powerpoint/2010/main" val="3486195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Train, Validation, Test Split </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defRPr/>
            </a:pPr>
            <a:endParaRPr lang="en-US" sz="2400" dirty="0">
              <a:latin typeface="Arial" panose="020B0604020202020204" pitchFamily="34" charset="0"/>
              <a:cs typeface="Arial" panose="020B0604020202020204" pitchFamily="34" charset="0"/>
            </a:endParaRPr>
          </a:p>
        </p:txBody>
      </p:sp>
      <p:grpSp>
        <p:nvGrpSpPr>
          <p:cNvPr id="31" name="Group 97"/>
          <p:cNvGrpSpPr>
            <a:grpSpLocks/>
          </p:cNvGrpSpPr>
          <p:nvPr/>
        </p:nvGrpSpPr>
        <p:grpSpPr bwMode="auto">
          <a:xfrm>
            <a:off x="838200" y="1690688"/>
            <a:ext cx="8077200" cy="4840287"/>
            <a:chOff x="457200" y="1285875"/>
            <a:chExt cx="8210550" cy="5316948"/>
          </a:xfrm>
        </p:grpSpPr>
        <p:sp>
          <p:nvSpPr>
            <p:cNvPr id="32" name="Rectangle 2"/>
            <p:cNvSpPr>
              <a:spLocks noChangeArrowheads="1"/>
            </p:cNvSpPr>
            <p:nvPr/>
          </p:nvSpPr>
          <p:spPr bwMode="auto">
            <a:xfrm>
              <a:off x="1828800" y="1285875"/>
              <a:ext cx="5715000" cy="3505200"/>
            </a:xfrm>
            <a:prstGeom prst="rect">
              <a:avLst/>
            </a:prstGeom>
            <a:solidFill>
              <a:srgbClr val="CCFFCC"/>
            </a:solidFill>
            <a:ln w="9525">
              <a:solidFill>
                <a:schemeClr val="tx1"/>
              </a:solidFill>
              <a:miter lim="800000"/>
              <a:headEnd type="none" w="sm" len="sm"/>
              <a:tailEnd type="none" w="sm" len="sm"/>
            </a:ln>
          </p:spPr>
          <p:txBody>
            <a:bodyPr wrap="none" anchor="ctr"/>
            <a:lstStyle/>
            <a:p>
              <a:endParaRPr lang="en-US" sz="1600">
                <a:latin typeface="Calibri" pitchFamily="34" charset="0"/>
              </a:endParaRPr>
            </a:p>
          </p:txBody>
        </p:sp>
        <p:sp>
          <p:nvSpPr>
            <p:cNvPr id="33" name="Line 4"/>
            <p:cNvSpPr>
              <a:spLocks noChangeShapeType="1"/>
            </p:cNvSpPr>
            <p:nvPr/>
          </p:nvSpPr>
          <p:spPr bwMode="auto">
            <a:xfrm flipV="1">
              <a:off x="3048000" y="4181475"/>
              <a:ext cx="685800" cy="0"/>
            </a:xfrm>
            <a:prstGeom prst="line">
              <a:avLst/>
            </a:prstGeom>
            <a:noFill/>
            <a:ln w="12700">
              <a:solidFill>
                <a:schemeClr val="tx1"/>
              </a:solidFill>
              <a:round/>
              <a:headEnd type="none" w="sm" len="sm"/>
              <a:tailEnd type="stealth" w="med" len="lg"/>
            </a:ln>
          </p:spPr>
          <p:txBody>
            <a:bodyPr wrap="none" anchor="ctr"/>
            <a:lstStyle/>
            <a:p>
              <a:endParaRPr lang="en-US"/>
            </a:p>
          </p:txBody>
        </p:sp>
        <p:grpSp>
          <p:nvGrpSpPr>
            <p:cNvPr id="34" name="Group 5"/>
            <p:cNvGrpSpPr>
              <a:grpSpLocks/>
            </p:cNvGrpSpPr>
            <p:nvPr/>
          </p:nvGrpSpPr>
          <p:grpSpPr bwMode="auto">
            <a:xfrm>
              <a:off x="515938" y="1770063"/>
              <a:ext cx="1160462" cy="1346200"/>
              <a:chOff x="325" y="1265"/>
              <a:chExt cx="731" cy="848"/>
            </a:xfrm>
          </p:grpSpPr>
          <p:sp>
            <p:nvSpPr>
              <p:cNvPr id="121" name="Oval 6"/>
              <p:cNvSpPr>
                <a:spLocks noChangeArrowheads="1"/>
              </p:cNvSpPr>
              <p:nvPr/>
            </p:nvSpPr>
            <p:spPr bwMode="auto">
              <a:xfrm>
                <a:off x="325" y="1833"/>
                <a:ext cx="727" cy="280"/>
              </a:xfrm>
              <a:prstGeom prst="ellipse">
                <a:avLst/>
              </a:prstGeom>
              <a:noFill/>
              <a:ln w="12700">
                <a:solidFill>
                  <a:srgbClr val="000000"/>
                </a:solidFill>
                <a:round/>
                <a:headEnd/>
                <a:tailEnd/>
              </a:ln>
            </p:spPr>
            <p:txBody>
              <a:bodyPr wrap="none" anchor="ctr"/>
              <a:lstStyle/>
              <a:p>
                <a:endParaRPr lang="en-US" sz="1600">
                  <a:latin typeface="Calibri" pitchFamily="34" charset="0"/>
                </a:endParaRPr>
              </a:p>
            </p:txBody>
          </p:sp>
          <p:sp>
            <p:nvSpPr>
              <p:cNvPr id="122" name="Oval 7" descr="Dotted diamond"/>
              <p:cNvSpPr>
                <a:spLocks noChangeArrowheads="1"/>
              </p:cNvSpPr>
              <p:nvPr/>
            </p:nvSpPr>
            <p:spPr bwMode="auto">
              <a:xfrm>
                <a:off x="325" y="1265"/>
                <a:ext cx="727" cy="280"/>
              </a:xfrm>
              <a:prstGeom prst="ellipse">
                <a:avLst/>
              </a:prstGeom>
              <a:pattFill prst="dotDmnd">
                <a:fgClr>
                  <a:srgbClr val="51DC00"/>
                </a:fgClr>
                <a:bgClr>
                  <a:schemeClr val="bg1"/>
                </a:bgClr>
              </a:pattFill>
              <a:ln w="12700">
                <a:solidFill>
                  <a:srgbClr val="000000"/>
                </a:solidFill>
                <a:round/>
                <a:headEnd/>
                <a:tailEnd/>
              </a:ln>
            </p:spPr>
            <p:txBody>
              <a:bodyPr wrap="none" anchor="ctr"/>
              <a:lstStyle/>
              <a:p>
                <a:endParaRPr lang="en-US" sz="1600">
                  <a:latin typeface="Calibri" pitchFamily="34" charset="0"/>
                </a:endParaRPr>
              </a:p>
            </p:txBody>
          </p:sp>
          <p:sp>
            <p:nvSpPr>
              <p:cNvPr id="123" name="Oval 8"/>
              <p:cNvSpPr>
                <a:spLocks noChangeArrowheads="1"/>
              </p:cNvSpPr>
              <p:nvPr/>
            </p:nvSpPr>
            <p:spPr bwMode="auto">
              <a:xfrm>
                <a:off x="325" y="1805"/>
                <a:ext cx="731" cy="288"/>
              </a:xfrm>
              <a:prstGeom prst="ellipse">
                <a:avLst/>
              </a:prstGeom>
              <a:solidFill>
                <a:schemeClr val="bg1"/>
              </a:solidFill>
              <a:ln w="9525">
                <a:noFill/>
                <a:round/>
                <a:headEnd/>
                <a:tailEnd/>
              </a:ln>
            </p:spPr>
            <p:txBody>
              <a:bodyPr wrap="none" anchor="ctr"/>
              <a:lstStyle/>
              <a:p>
                <a:endParaRPr lang="en-US" sz="1600">
                  <a:latin typeface="Calibri" pitchFamily="34" charset="0"/>
                </a:endParaRPr>
              </a:p>
            </p:txBody>
          </p:sp>
          <p:sp>
            <p:nvSpPr>
              <p:cNvPr id="124" name="Line 9"/>
              <p:cNvSpPr>
                <a:spLocks noChangeShapeType="1"/>
              </p:cNvSpPr>
              <p:nvPr/>
            </p:nvSpPr>
            <p:spPr bwMode="auto">
              <a:xfrm>
                <a:off x="1056" y="1405"/>
                <a:ext cx="0" cy="56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5" name="Rectangle 10"/>
              <p:cNvSpPr>
                <a:spLocks noChangeArrowheads="1"/>
              </p:cNvSpPr>
              <p:nvPr/>
            </p:nvSpPr>
            <p:spPr bwMode="auto">
              <a:xfrm>
                <a:off x="454" y="1682"/>
                <a:ext cx="428" cy="235"/>
              </a:xfrm>
              <a:prstGeom prst="rect">
                <a:avLst/>
              </a:prstGeom>
              <a:noFill/>
              <a:ln w="9525">
                <a:noFill/>
                <a:miter lim="800000"/>
                <a:headEnd/>
                <a:tailEnd/>
              </a:ln>
            </p:spPr>
            <p:txBody>
              <a:bodyPr lIns="92075" tIns="46038" rIns="92075" bIns="46038">
                <a:spAutoFit/>
              </a:bodyPr>
              <a:lstStyle/>
              <a:p>
                <a:r>
                  <a:rPr lang="en-US" sz="1600" b="1">
                    <a:solidFill>
                      <a:srgbClr val="000000"/>
                    </a:solidFill>
                  </a:rPr>
                  <a:t>Data</a:t>
                </a:r>
              </a:p>
            </p:txBody>
          </p:sp>
          <p:sp>
            <p:nvSpPr>
              <p:cNvPr id="126" name="Line 11"/>
              <p:cNvSpPr>
                <a:spLocks noChangeShapeType="1"/>
              </p:cNvSpPr>
              <p:nvPr/>
            </p:nvSpPr>
            <p:spPr bwMode="auto">
              <a:xfrm>
                <a:off x="325" y="1413"/>
                <a:ext cx="0" cy="560"/>
              </a:xfrm>
              <a:prstGeom prst="line">
                <a:avLst/>
              </a:prstGeom>
              <a:noFill/>
              <a:ln w="12700">
                <a:solidFill>
                  <a:srgbClr val="000000"/>
                </a:solidFill>
                <a:round/>
                <a:headEnd type="none" w="sm" len="sm"/>
                <a:tailEnd type="none" w="sm" len="sm"/>
              </a:ln>
            </p:spPr>
            <p:txBody>
              <a:bodyPr wrap="none" anchor="ctr"/>
              <a:lstStyle/>
              <a:p>
                <a:endParaRPr lang="en-US"/>
              </a:p>
            </p:txBody>
          </p:sp>
        </p:grpSp>
        <p:sp>
          <p:nvSpPr>
            <p:cNvPr id="35" name="Line 12"/>
            <p:cNvSpPr>
              <a:spLocks noChangeShapeType="1"/>
            </p:cNvSpPr>
            <p:nvPr/>
          </p:nvSpPr>
          <p:spPr bwMode="auto">
            <a:xfrm>
              <a:off x="4800600" y="4257675"/>
              <a:ext cx="1906588" cy="0"/>
            </a:xfrm>
            <a:prstGeom prst="line">
              <a:avLst/>
            </a:prstGeom>
            <a:noFill/>
            <a:ln w="12700">
              <a:solidFill>
                <a:schemeClr val="tx1"/>
              </a:solidFill>
              <a:round/>
              <a:headEnd type="none" w="sm" len="sm"/>
              <a:tailEnd type="stealth" w="med" len="lg"/>
            </a:ln>
          </p:spPr>
          <p:txBody>
            <a:bodyPr wrap="none" anchor="ctr"/>
            <a:lstStyle/>
            <a:p>
              <a:endParaRPr lang="en-US"/>
            </a:p>
          </p:txBody>
        </p:sp>
        <p:sp>
          <p:nvSpPr>
            <p:cNvPr id="36" name="Rectangle 13"/>
            <p:cNvSpPr>
              <a:spLocks noChangeArrowheads="1"/>
            </p:cNvSpPr>
            <p:nvPr/>
          </p:nvSpPr>
          <p:spPr bwMode="auto">
            <a:xfrm>
              <a:off x="6096000" y="3114675"/>
              <a:ext cx="1314450" cy="372590"/>
            </a:xfrm>
            <a:prstGeom prst="rect">
              <a:avLst/>
            </a:prstGeom>
            <a:noFill/>
            <a:ln w="9525">
              <a:noFill/>
              <a:miter lim="800000"/>
              <a:headEnd/>
              <a:tailEnd/>
            </a:ln>
          </p:spPr>
          <p:txBody>
            <a:bodyPr lIns="92075" tIns="46038" rIns="92075" bIns="46038">
              <a:spAutoFit/>
            </a:bodyPr>
            <a:lstStyle/>
            <a:p>
              <a:r>
                <a:rPr lang="en-US" sz="1600">
                  <a:solidFill>
                    <a:srgbClr val="000000"/>
                  </a:solidFill>
                </a:rPr>
                <a:t>Predictions</a:t>
              </a:r>
            </a:p>
          </p:txBody>
        </p:sp>
        <p:grpSp>
          <p:nvGrpSpPr>
            <p:cNvPr id="37" name="Group 14"/>
            <p:cNvGrpSpPr>
              <a:grpSpLocks/>
            </p:cNvGrpSpPr>
            <p:nvPr/>
          </p:nvGrpSpPr>
          <p:grpSpPr bwMode="auto">
            <a:xfrm>
              <a:off x="3810000" y="4029075"/>
              <a:ext cx="1054100" cy="565150"/>
              <a:chOff x="2136" y="2818"/>
              <a:chExt cx="664" cy="356"/>
            </a:xfrm>
          </p:grpSpPr>
          <p:sp>
            <p:nvSpPr>
              <p:cNvPr id="107" name="AutoShape 15"/>
              <p:cNvSpPr>
                <a:spLocks noChangeArrowheads="1"/>
              </p:cNvSpPr>
              <p:nvPr/>
            </p:nvSpPr>
            <p:spPr bwMode="auto">
              <a:xfrm flipV="1">
                <a:off x="2136" y="2818"/>
                <a:ext cx="664" cy="356"/>
              </a:xfrm>
              <a:custGeom>
                <a:avLst/>
                <a:gdLst>
                  <a:gd name="T0" fmla="*/ 581 w 21600"/>
                  <a:gd name="T1" fmla="*/ 178 h 21600"/>
                  <a:gd name="T2" fmla="*/ 332 w 21600"/>
                  <a:gd name="T3" fmla="*/ 356 h 21600"/>
                  <a:gd name="T4" fmla="*/ 83 w 21600"/>
                  <a:gd name="T5" fmla="*/ 178 h 21600"/>
                  <a:gd name="T6" fmla="*/ 332 w 21600"/>
                  <a:gd name="T7" fmla="*/ 0 h 21600"/>
                  <a:gd name="T8" fmla="*/ 0 60000 65536"/>
                  <a:gd name="T9" fmla="*/ 0 60000 65536"/>
                  <a:gd name="T10" fmla="*/ 0 60000 65536"/>
                  <a:gd name="T11" fmla="*/ 0 60000 65536"/>
                  <a:gd name="T12" fmla="*/ 4489 w 21600"/>
                  <a:gd name="T13" fmla="*/ 4490 h 21600"/>
                  <a:gd name="T14" fmla="*/ 17111 w 21600"/>
                  <a:gd name="T15" fmla="*/ 1711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CCFF99"/>
              </a:solidFill>
              <a:ln w="12700">
                <a:solidFill>
                  <a:schemeClr val="tx1"/>
                </a:solidFill>
                <a:miter lim="800000"/>
                <a:headEnd/>
                <a:tailEnd/>
              </a:ln>
            </p:spPr>
            <p:txBody>
              <a:bodyPr wrap="none" anchor="ctr"/>
              <a:lstStyle/>
              <a:p>
                <a:endParaRPr lang="en-US" sz="1600">
                  <a:latin typeface="Calibri" pitchFamily="34" charset="0"/>
                </a:endParaRPr>
              </a:p>
            </p:txBody>
          </p:sp>
          <p:sp>
            <p:nvSpPr>
              <p:cNvPr id="108" name="Rectangle 16"/>
              <p:cNvSpPr>
                <a:spLocks noChangeArrowheads="1"/>
              </p:cNvSpPr>
              <p:nvPr/>
            </p:nvSpPr>
            <p:spPr bwMode="auto">
              <a:xfrm>
                <a:off x="2499" y="2916"/>
                <a:ext cx="80" cy="38"/>
              </a:xfrm>
              <a:prstGeom prst="rect">
                <a:avLst/>
              </a:prstGeom>
              <a:solidFill>
                <a:schemeClr val="bg1"/>
              </a:solidFill>
              <a:ln w="12700">
                <a:solidFill>
                  <a:schemeClr val="tx1"/>
                </a:solidFill>
                <a:miter lim="800000"/>
                <a:headEnd/>
                <a:tailEnd/>
              </a:ln>
            </p:spPr>
            <p:txBody>
              <a:bodyPr wrap="none" anchor="ctr"/>
              <a:lstStyle/>
              <a:p>
                <a:endParaRPr lang="en-US" sz="1600">
                  <a:latin typeface="Calibri" pitchFamily="34" charset="0"/>
                </a:endParaRPr>
              </a:p>
            </p:txBody>
          </p:sp>
          <p:sp>
            <p:nvSpPr>
              <p:cNvPr id="109" name="Rectangle 17"/>
              <p:cNvSpPr>
                <a:spLocks noChangeArrowheads="1"/>
              </p:cNvSpPr>
              <p:nvPr/>
            </p:nvSpPr>
            <p:spPr bwMode="auto">
              <a:xfrm>
                <a:off x="2219" y="3103"/>
                <a:ext cx="80" cy="38"/>
              </a:xfrm>
              <a:prstGeom prst="rect">
                <a:avLst/>
              </a:prstGeom>
              <a:solidFill>
                <a:schemeClr val="bg1"/>
              </a:solidFill>
              <a:ln w="12700">
                <a:solidFill>
                  <a:schemeClr val="tx1"/>
                </a:solidFill>
                <a:miter lim="800000"/>
                <a:headEnd/>
                <a:tailEnd/>
              </a:ln>
            </p:spPr>
            <p:txBody>
              <a:bodyPr wrap="none" anchor="ctr"/>
              <a:lstStyle/>
              <a:p>
                <a:endParaRPr lang="en-US" sz="1600">
                  <a:latin typeface="Calibri" pitchFamily="34" charset="0"/>
                </a:endParaRPr>
              </a:p>
            </p:txBody>
          </p:sp>
          <p:sp>
            <p:nvSpPr>
              <p:cNvPr id="110" name="Rectangle 18"/>
              <p:cNvSpPr>
                <a:spLocks noChangeArrowheads="1"/>
              </p:cNvSpPr>
              <p:nvPr/>
            </p:nvSpPr>
            <p:spPr bwMode="auto">
              <a:xfrm>
                <a:off x="2639" y="2998"/>
                <a:ext cx="79" cy="38"/>
              </a:xfrm>
              <a:prstGeom prst="rect">
                <a:avLst/>
              </a:prstGeom>
              <a:solidFill>
                <a:schemeClr val="bg1"/>
              </a:solidFill>
              <a:ln w="12700">
                <a:solidFill>
                  <a:schemeClr val="tx1"/>
                </a:solidFill>
                <a:miter lim="800000"/>
                <a:headEnd/>
                <a:tailEnd/>
              </a:ln>
            </p:spPr>
            <p:txBody>
              <a:bodyPr wrap="none" anchor="ctr"/>
              <a:lstStyle/>
              <a:p>
                <a:endParaRPr lang="en-US" sz="1600">
                  <a:latin typeface="Calibri" pitchFamily="34" charset="0"/>
                </a:endParaRPr>
              </a:p>
            </p:txBody>
          </p:sp>
          <p:sp>
            <p:nvSpPr>
              <p:cNvPr id="111" name="Rectangle 19"/>
              <p:cNvSpPr>
                <a:spLocks noChangeArrowheads="1"/>
              </p:cNvSpPr>
              <p:nvPr/>
            </p:nvSpPr>
            <p:spPr bwMode="auto">
              <a:xfrm>
                <a:off x="2534" y="3103"/>
                <a:ext cx="80" cy="38"/>
              </a:xfrm>
              <a:prstGeom prst="rect">
                <a:avLst/>
              </a:prstGeom>
              <a:solidFill>
                <a:schemeClr val="bg1"/>
              </a:solidFill>
              <a:ln w="12700">
                <a:solidFill>
                  <a:schemeClr val="tx1"/>
                </a:solidFill>
                <a:miter lim="800000"/>
                <a:headEnd/>
                <a:tailEnd/>
              </a:ln>
            </p:spPr>
            <p:txBody>
              <a:bodyPr wrap="none" anchor="ctr"/>
              <a:lstStyle/>
              <a:p>
                <a:endParaRPr lang="en-US" sz="1600">
                  <a:latin typeface="Calibri" pitchFamily="34" charset="0"/>
                </a:endParaRPr>
              </a:p>
            </p:txBody>
          </p:sp>
          <p:sp>
            <p:nvSpPr>
              <p:cNvPr id="112" name="Line 20"/>
              <p:cNvSpPr>
                <a:spLocks noChangeShapeType="1"/>
              </p:cNvSpPr>
              <p:nvPr/>
            </p:nvSpPr>
            <p:spPr bwMode="auto">
              <a:xfrm flipH="1">
                <a:off x="2426" y="2953"/>
                <a:ext cx="65" cy="35"/>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13" name="Line 21"/>
              <p:cNvSpPr>
                <a:spLocks noChangeShapeType="1"/>
              </p:cNvSpPr>
              <p:nvPr/>
            </p:nvSpPr>
            <p:spPr bwMode="auto">
              <a:xfrm>
                <a:off x="2583" y="2958"/>
                <a:ext cx="52" cy="3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14" name="Line 22"/>
              <p:cNvSpPr>
                <a:spLocks noChangeShapeType="1"/>
              </p:cNvSpPr>
              <p:nvPr/>
            </p:nvSpPr>
            <p:spPr bwMode="auto">
              <a:xfrm flipH="1">
                <a:off x="2303" y="3031"/>
                <a:ext cx="76" cy="68"/>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15" name="Line 23"/>
              <p:cNvSpPr>
                <a:spLocks noChangeShapeType="1"/>
              </p:cNvSpPr>
              <p:nvPr/>
            </p:nvSpPr>
            <p:spPr bwMode="auto">
              <a:xfrm>
                <a:off x="2457" y="3039"/>
                <a:ext cx="91" cy="6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16" name="Rectangle 24"/>
              <p:cNvSpPr>
                <a:spLocks noChangeArrowheads="1"/>
              </p:cNvSpPr>
              <p:nvPr/>
            </p:nvSpPr>
            <p:spPr bwMode="auto">
              <a:xfrm>
                <a:off x="2350" y="2864"/>
                <a:ext cx="185" cy="181"/>
              </a:xfrm>
              <a:prstGeom prst="rect">
                <a:avLst/>
              </a:prstGeom>
              <a:noFill/>
              <a:ln w="9525">
                <a:noFill/>
                <a:miter lim="800000"/>
                <a:headEnd/>
                <a:tailEnd/>
              </a:ln>
            </p:spPr>
            <p:txBody>
              <a:bodyPr lIns="92075" tIns="46038" rIns="92075" bIns="46038">
                <a:spAutoFit/>
              </a:bodyPr>
              <a:lstStyle/>
              <a:p>
                <a:r>
                  <a:rPr lang="en-US" sz="1100">
                    <a:latin typeface="Calibri" pitchFamily="34" charset="0"/>
                  </a:rPr>
                  <a:t>Y</a:t>
                </a:r>
              </a:p>
            </p:txBody>
          </p:sp>
          <p:sp>
            <p:nvSpPr>
              <p:cNvPr id="117" name="Rectangle 25"/>
              <p:cNvSpPr>
                <a:spLocks noChangeArrowheads="1"/>
              </p:cNvSpPr>
              <p:nvPr/>
            </p:nvSpPr>
            <p:spPr bwMode="auto">
              <a:xfrm>
                <a:off x="2559" y="2884"/>
                <a:ext cx="185" cy="181"/>
              </a:xfrm>
              <a:prstGeom prst="rect">
                <a:avLst/>
              </a:prstGeom>
              <a:noFill/>
              <a:ln w="9525">
                <a:noFill/>
                <a:miter lim="800000"/>
                <a:headEnd/>
                <a:tailEnd/>
              </a:ln>
            </p:spPr>
            <p:txBody>
              <a:bodyPr lIns="92075" tIns="46038" rIns="92075" bIns="46038">
                <a:spAutoFit/>
              </a:bodyPr>
              <a:lstStyle/>
              <a:p>
                <a:r>
                  <a:rPr lang="en-US" sz="1100">
                    <a:latin typeface="Calibri" pitchFamily="34" charset="0"/>
                  </a:rPr>
                  <a:t>N</a:t>
                </a:r>
              </a:p>
            </p:txBody>
          </p:sp>
          <p:sp>
            <p:nvSpPr>
              <p:cNvPr id="118" name="Rectangle 26"/>
              <p:cNvSpPr>
                <a:spLocks noChangeArrowheads="1"/>
              </p:cNvSpPr>
              <p:nvPr/>
            </p:nvSpPr>
            <p:spPr bwMode="auto">
              <a:xfrm>
                <a:off x="2394" y="3103"/>
                <a:ext cx="80" cy="38"/>
              </a:xfrm>
              <a:prstGeom prst="rect">
                <a:avLst/>
              </a:prstGeom>
              <a:solidFill>
                <a:schemeClr val="bg1"/>
              </a:solidFill>
              <a:ln w="12700">
                <a:solidFill>
                  <a:schemeClr val="tx1"/>
                </a:solidFill>
                <a:miter lim="800000"/>
                <a:headEnd/>
                <a:tailEnd/>
              </a:ln>
            </p:spPr>
            <p:txBody>
              <a:bodyPr wrap="none" anchor="ctr"/>
              <a:lstStyle/>
              <a:p>
                <a:endParaRPr lang="en-US" sz="1600">
                  <a:latin typeface="Calibri" pitchFamily="34" charset="0"/>
                </a:endParaRPr>
              </a:p>
            </p:txBody>
          </p:sp>
          <p:sp>
            <p:nvSpPr>
              <p:cNvPr id="119" name="Line 27"/>
              <p:cNvSpPr>
                <a:spLocks noChangeShapeType="1"/>
              </p:cNvSpPr>
              <p:nvPr/>
            </p:nvSpPr>
            <p:spPr bwMode="auto">
              <a:xfrm>
                <a:off x="2408" y="3052"/>
                <a:ext cx="18" cy="47"/>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120" name="AutoShape 28"/>
              <p:cNvSpPr>
                <a:spLocks noChangeArrowheads="1"/>
              </p:cNvSpPr>
              <p:nvPr/>
            </p:nvSpPr>
            <p:spPr bwMode="auto">
              <a:xfrm>
                <a:off x="2370" y="2991"/>
                <a:ext cx="85" cy="66"/>
              </a:xfrm>
              <a:prstGeom prst="diamond">
                <a:avLst/>
              </a:prstGeom>
              <a:solidFill>
                <a:srgbClr val="FF9933"/>
              </a:solidFill>
              <a:ln w="12700">
                <a:solidFill>
                  <a:schemeClr val="tx1"/>
                </a:solidFill>
                <a:miter lim="800000"/>
                <a:headEnd/>
                <a:tailEnd/>
              </a:ln>
            </p:spPr>
            <p:txBody>
              <a:bodyPr wrap="none" anchor="ctr"/>
              <a:lstStyle/>
              <a:p>
                <a:endParaRPr lang="en-US" sz="1600">
                  <a:latin typeface="Calibri" pitchFamily="34" charset="0"/>
                </a:endParaRPr>
              </a:p>
            </p:txBody>
          </p:sp>
        </p:grpSp>
        <p:sp>
          <p:nvSpPr>
            <p:cNvPr id="38" name="Rectangle 29"/>
            <p:cNvSpPr>
              <a:spLocks noChangeArrowheads="1"/>
            </p:cNvSpPr>
            <p:nvPr/>
          </p:nvSpPr>
          <p:spPr bwMode="auto">
            <a:xfrm>
              <a:off x="1981200" y="1285875"/>
              <a:ext cx="1708150" cy="372590"/>
            </a:xfrm>
            <a:prstGeom prst="rect">
              <a:avLst/>
            </a:prstGeom>
            <a:noFill/>
            <a:ln w="9525">
              <a:noFill/>
              <a:miter lim="800000"/>
              <a:headEnd/>
              <a:tailEnd/>
            </a:ln>
          </p:spPr>
          <p:txBody>
            <a:bodyPr lIns="92075" tIns="46038" rIns="92075" bIns="46038">
              <a:spAutoFit/>
            </a:bodyPr>
            <a:lstStyle/>
            <a:p>
              <a:r>
                <a:rPr lang="en-US" sz="1600">
                  <a:solidFill>
                    <a:srgbClr val="000000"/>
                  </a:solidFill>
                </a:rPr>
                <a:t>Results Known</a:t>
              </a:r>
            </a:p>
          </p:txBody>
        </p:sp>
        <p:sp>
          <p:nvSpPr>
            <p:cNvPr id="39" name="Rectangle 30"/>
            <p:cNvSpPr>
              <a:spLocks noChangeArrowheads="1"/>
            </p:cNvSpPr>
            <p:nvPr/>
          </p:nvSpPr>
          <p:spPr bwMode="auto">
            <a:xfrm>
              <a:off x="4579938" y="1819275"/>
              <a:ext cx="1377950" cy="372590"/>
            </a:xfrm>
            <a:prstGeom prst="rect">
              <a:avLst/>
            </a:prstGeom>
            <a:noFill/>
            <a:ln w="9525">
              <a:noFill/>
              <a:miter lim="800000"/>
              <a:headEnd/>
              <a:tailEnd/>
            </a:ln>
          </p:spPr>
          <p:txBody>
            <a:bodyPr lIns="92075" tIns="46038" rIns="92075" bIns="46038">
              <a:spAutoFit/>
            </a:bodyPr>
            <a:lstStyle/>
            <a:p>
              <a:r>
                <a:rPr lang="en-US" sz="1600">
                  <a:solidFill>
                    <a:srgbClr val="FF5008"/>
                  </a:solidFill>
                </a:rPr>
                <a:t>Training set</a:t>
              </a:r>
            </a:p>
          </p:txBody>
        </p:sp>
        <p:sp>
          <p:nvSpPr>
            <p:cNvPr id="40" name="Rectangle 31"/>
            <p:cNvSpPr>
              <a:spLocks noChangeArrowheads="1"/>
            </p:cNvSpPr>
            <p:nvPr/>
          </p:nvSpPr>
          <p:spPr bwMode="auto">
            <a:xfrm>
              <a:off x="1905000" y="4410075"/>
              <a:ext cx="1670050" cy="372590"/>
            </a:xfrm>
            <a:prstGeom prst="rect">
              <a:avLst/>
            </a:prstGeom>
            <a:noFill/>
            <a:ln w="9525">
              <a:noFill/>
              <a:miter lim="800000"/>
              <a:headEnd/>
              <a:tailEnd/>
            </a:ln>
          </p:spPr>
          <p:txBody>
            <a:bodyPr lIns="92075" tIns="46038" rIns="92075" bIns="46038">
              <a:spAutoFit/>
            </a:bodyPr>
            <a:lstStyle/>
            <a:p>
              <a:r>
                <a:rPr lang="en-US" sz="1600" b="1" dirty="0">
                  <a:solidFill>
                    <a:srgbClr val="60C900"/>
                  </a:solidFill>
                </a:rPr>
                <a:t>Validation set</a:t>
              </a:r>
            </a:p>
          </p:txBody>
        </p:sp>
        <p:sp>
          <p:nvSpPr>
            <p:cNvPr id="41" name="Rectangle 32"/>
            <p:cNvSpPr>
              <a:spLocks noChangeArrowheads="1"/>
            </p:cNvSpPr>
            <p:nvPr/>
          </p:nvSpPr>
          <p:spPr bwMode="auto">
            <a:xfrm>
              <a:off x="2127250" y="1835150"/>
              <a:ext cx="1143000" cy="1257300"/>
            </a:xfrm>
            <a:prstGeom prst="rect">
              <a:avLst/>
            </a:prstGeom>
            <a:noFill/>
            <a:ln w="12700">
              <a:solidFill>
                <a:srgbClr val="000000"/>
              </a:solidFill>
              <a:miter lim="800000"/>
              <a:headEnd/>
              <a:tailEnd/>
            </a:ln>
          </p:spPr>
          <p:txBody>
            <a:bodyPr wrap="none" anchor="ctr"/>
            <a:lstStyle/>
            <a:p>
              <a:endParaRPr lang="en-US" sz="1600">
                <a:latin typeface="Calibri" pitchFamily="34" charset="0"/>
              </a:endParaRPr>
            </a:p>
          </p:txBody>
        </p:sp>
        <p:sp>
          <p:nvSpPr>
            <p:cNvPr id="42" name="Line 33"/>
            <p:cNvSpPr>
              <a:spLocks noChangeShapeType="1"/>
            </p:cNvSpPr>
            <p:nvPr/>
          </p:nvSpPr>
          <p:spPr bwMode="auto">
            <a:xfrm>
              <a:off x="2120900" y="23050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3" name="Line 34"/>
            <p:cNvSpPr>
              <a:spLocks noChangeShapeType="1"/>
            </p:cNvSpPr>
            <p:nvPr/>
          </p:nvSpPr>
          <p:spPr bwMode="auto">
            <a:xfrm>
              <a:off x="2120900" y="19875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4" name="Line 35"/>
            <p:cNvSpPr>
              <a:spLocks noChangeShapeType="1"/>
            </p:cNvSpPr>
            <p:nvPr/>
          </p:nvSpPr>
          <p:spPr bwMode="auto">
            <a:xfrm>
              <a:off x="2120900" y="21526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5" name="Line 36"/>
            <p:cNvSpPr>
              <a:spLocks noChangeShapeType="1"/>
            </p:cNvSpPr>
            <p:nvPr/>
          </p:nvSpPr>
          <p:spPr bwMode="auto">
            <a:xfrm>
              <a:off x="2120900" y="24701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6" name="Line 37"/>
            <p:cNvSpPr>
              <a:spLocks noChangeShapeType="1"/>
            </p:cNvSpPr>
            <p:nvPr/>
          </p:nvSpPr>
          <p:spPr bwMode="auto">
            <a:xfrm>
              <a:off x="2120900" y="29400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7" name="Line 38"/>
            <p:cNvSpPr>
              <a:spLocks noChangeShapeType="1"/>
            </p:cNvSpPr>
            <p:nvPr/>
          </p:nvSpPr>
          <p:spPr bwMode="auto">
            <a:xfrm>
              <a:off x="2120900" y="27876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8" name="Line 39"/>
            <p:cNvSpPr>
              <a:spLocks noChangeShapeType="1"/>
            </p:cNvSpPr>
            <p:nvPr/>
          </p:nvSpPr>
          <p:spPr bwMode="auto">
            <a:xfrm>
              <a:off x="2120900" y="2622550"/>
              <a:ext cx="1143000"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9" name="Line 40"/>
            <p:cNvSpPr>
              <a:spLocks noChangeShapeType="1"/>
            </p:cNvSpPr>
            <p:nvPr/>
          </p:nvSpPr>
          <p:spPr bwMode="auto">
            <a:xfrm flipV="1">
              <a:off x="3092450" y="1828800"/>
              <a:ext cx="0" cy="12700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50" name="Rectangle 41"/>
            <p:cNvSpPr>
              <a:spLocks noChangeArrowheads="1"/>
            </p:cNvSpPr>
            <p:nvPr/>
          </p:nvSpPr>
          <p:spPr bwMode="auto">
            <a:xfrm>
              <a:off x="3051175" y="1768475"/>
              <a:ext cx="287337" cy="304975"/>
            </a:xfrm>
            <a:prstGeom prst="rect">
              <a:avLst/>
            </a:prstGeom>
            <a:noFill/>
            <a:ln w="9525">
              <a:noFill/>
              <a:miter lim="800000"/>
              <a:headEnd/>
              <a:tailEnd/>
            </a:ln>
          </p:spPr>
          <p:txBody>
            <a:bodyPr lIns="92075" tIns="46038" rIns="92075" bIns="46038">
              <a:spAutoFit/>
            </a:bodyPr>
            <a:lstStyle/>
            <a:p>
              <a:r>
                <a:rPr lang="en-US" sz="1200" b="1">
                  <a:solidFill>
                    <a:srgbClr val="000000"/>
                  </a:solidFill>
                </a:rPr>
                <a:t>+</a:t>
              </a:r>
            </a:p>
          </p:txBody>
        </p:sp>
        <p:sp>
          <p:nvSpPr>
            <p:cNvPr id="51" name="Rectangle 42"/>
            <p:cNvSpPr>
              <a:spLocks noChangeArrowheads="1"/>
            </p:cNvSpPr>
            <p:nvPr/>
          </p:nvSpPr>
          <p:spPr bwMode="auto">
            <a:xfrm>
              <a:off x="3051175" y="1920875"/>
              <a:ext cx="287337" cy="304975"/>
            </a:xfrm>
            <a:prstGeom prst="rect">
              <a:avLst/>
            </a:prstGeom>
            <a:noFill/>
            <a:ln w="9525">
              <a:noFill/>
              <a:miter lim="800000"/>
              <a:headEnd/>
              <a:tailEnd/>
            </a:ln>
          </p:spPr>
          <p:txBody>
            <a:bodyPr lIns="92075" tIns="46038" rIns="92075" bIns="46038">
              <a:spAutoFit/>
            </a:bodyPr>
            <a:lstStyle/>
            <a:p>
              <a:r>
                <a:rPr lang="en-US" sz="1200" b="1">
                  <a:solidFill>
                    <a:srgbClr val="000000"/>
                  </a:solidFill>
                </a:rPr>
                <a:t>+</a:t>
              </a:r>
            </a:p>
          </p:txBody>
        </p:sp>
        <p:sp>
          <p:nvSpPr>
            <p:cNvPr id="52" name="Rectangle 43"/>
            <p:cNvSpPr>
              <a:spLocks noChangeArrowheads="1"/>
            </p:cNvSpPr>
            <p:nvPr/>
          </p:nvSpPr>
          <p:spPr bwMode="auto">
            <a:xfrm>
              <a:off x="3074988" y="2085976"/>
              <a:ext cx="242887" cy="304975"/>
            </a:xfrm>
            <a:prstGeom prst="rect">
              <a:avLst/>
            </a:prstGeom>
            <a:noFill/>
            <a:ln w="9525">
              <a:noFill/>
              <a:miter lim="800000"/>
              <a:headEnd/>
              <a:tailEnd/>
            </a:ln>
          </p:spPr>
          <p:txBody>
            <a:bodyPr lIns="92075" tIns="46038" rIns="92075" bIns="46038">
              <a:spAutoFit/>
            </a:bodyPr>
            <a:lstStyle/>
            <a:p>
              <a:r>
                <a:rPr lang="en-US" sz="1200" b="1">
                  <a:solidFill>
                    <a:srgbClr val="000000"/>
                  </a:solidFill>
                </a:rPr>
                <a:t>-</a:t>
              </a:r>
            </a:p>
          </p:txBody>
        </p:sp>
        <p:sp>
          <p:nvSpPr>
            <p:cNvPr id="53" name="Rectangle 44"/>
            <p:cNvSpPr>
              <a:spLocks noChangeArrowheads="1"/>
            </p:cNvSpPr>
            <p:nvPr/>
          </p:nvSpPr>
          <p:spPr bwMode="auto">
            <a:xfrm>
              <a:off x="3074988" y="2238375"/>
              <a:ext cx="242887" cy="304975"/>
            </a:xfrm>
            <a:prstGeom prst="rect">
              <a:avLst/>
            </a:prstGeom>
            <a:noFill/>
            <a:ln w="9525">
              <a:noFill/>
              <a:miter lim="800000"/>
              <a:headEnd/>
              <a:tailEnd/>
            </a:ln>
          </p:spPr>
          <p:txBody>
            <a:bodyPr lIns="92075" tIns="46038" rIns="92075" bIns="46038">
              <a:spAutoFit/>
            </a:bodyPr>
            <a:lstStyle/>
            <a:p>
              <a:r>
                <a:rPr lang="en-US" sz="1200" b="1">
                  <a:solidFill>
                    <a:srgbClr val="000000"/>
                  </a:solidFill>
                </a:rPr>
                <a:t>-</a:t>
              </a:r>
            </a:p>
          </p:txBody>
        </p:sp>
        <p:sp>
          <p:nvSpPr>
            <p:cNvPr id="54" name="Rectangle 45"/>
            <p:cNvSpPr>
              <a:spLocks noChangeArrowheads="1"/>
            </p:cNvSpPr>
            <p:nvPr/>
          </p:nvSpPr>
          <p:spPr bwMode="auto">
            <a:xfrm>
              <a:off x="3051175" y="2390775"/>
              <a:ext cx="287337" cy="304975"/>
            </a:xfrm>
            <a:prstGeom prst="rect">
              <a:avLst/>
            </a:prstGeom>
            <a:noFill/>
            <a:ln w="9525">
              <a:noFill/>
              <a:miter lim="800000"/>
              <a:headEnd/>
              <a:tailEnd/>
            </a:ln>
          </p:spPr>
          <p:txBody>
            <a:bodyPr lIns="92075" tIns="46038" rIns="92075" bIns="46038">
              <a:spAutoFit/>
            </a:bodyPr>
            <a:lstStyle/>
            <a:p>
              <a:r>
                <a:rPr lang="en-US" sz="1200" b="1">
                  <a:solidFill>
                    <a:srgbClr val="000000"/>
                  </a:solidFill>
                </a:rPr>
                <a:t>+</a:t>
              </a:r>
            </a:p>
          </p:txBody>
        </p:sp>
        <p:grpSp>
          <p:nvGrpSpPr>
            <p:cNvPr id="55" name="Group 46"/>
            <p:cNvGrpSpPr>
              <a:grpSpLocks/>
            </p:cNvGrpSpPr>
            <p:nvPr/>
          </p:nvGrpSpPr>
          <p:grpSpPr bwMode="auto">
            <a:xfrm>
              <a:off x="2438400" y="4029075"/>
              <a:ext cx="533400" cy="266700"/>
              <a:chOff x="1812" y="2352"/>
              <a:chExt cx="336" cy="168"/>
            </a:xfrm>
          </p:grpSpPr>
          <p:sp>
            <p:nvSpPr>
              <p:cNvPr id="103" name="Rectangle 47"/>
              <p:cNvSpPr>
                <a:spLocks noChangeArrowheads="1"/>
              </p:cNvSpPr>
              <p:nvPr/>
            </p:nvSpPr>
            <p:spPr bwMode="auto">
              <a:xfrm>
                <a:off x="1812" y="2352"/>
                <a:ext cx="336" cy="168"/>
              </a:xfrm>
              <a:prstGeom prst="rect">
                <a:avLst/>
              </a:prstGeom>
              <a:noFill/>
              <a:ln w="12700">
                <a:solidFill>
                  <a:srgbClr val="000000"/>
                </a:solidFill>
                <a:miter lim="800000"/>
                <a:headEnd/>
                <a:tailEnd/>
              </a:ln>
            </p:spPr>
            <p:txBody>
              <a:bodyPr wrap="none" anchor="ctr"/>
              <a:lstStyle/>
              <a:p>
                <a:endParaRPr lang="en-US" sz="1600">
                  <a:latin typeface="Calibri" pitchFamily="34" charset="0"/>
                </a:endParaRPr>
              </a:p>
            </p:txBody>
          </p:sp>
          <p:sp>
            <p:nvSpPr>
              <p:cNvPr id="104" name="Line 48"/>
              <p:cNvSpPr>
                <a:spLocks noChangeShapeType="1"/>
              </p:cNvSpPr>
              <p:nvPr/>
            </p:nvSpPr>
            <p:spPr bwMode="auto">
              <a:xfrm>
                <a:off x="1872" y="2416"/>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5" name="Line 49"/>
              <p:cNvSpPr>
                <a:spLocks noChangeShapeType="1"/>
              </p:cNvSpPr>
              <p:nvPr/>
            </p:nvSpPr>
            <p:spPr bwMode="auto">
              <a:xfrm>
                <a:off x="1872" y="2448"/>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6" name="Line 50"/>
              <p:cNvSpPr>
                <a:spLocks noChangeShapeType="1"/>
              </p:cNvSpPr>
              <p:nvPr/>
            </p:nvSpPr>
            <p:spPr bwMode="auto">
              <a:xfrm>
                <a:off x="1872" y="2480"/>
                <a:ext cx="224" cy="0"/>
              </a:xfrm>
              <a:prstGeom prst="line">
                <a:avLst/>
              </a:prstGeom>
              <a:noFill/>
              <a:ln w="12700">
                <a:solidFill>
                  <a:srgbClr val="000000"/>
                </a:solidFill>
                <a:round/>
                <a:headEnd type="none" w="sm" len="sm"/>
                <a:tailEnd type="none" w="sm" len="sm"/>
              </a:ln>
            </p:spPr>
            <p:txBody>
              <a:bodyPr wrap="none" anchor="ctr"/>
              <a:lstStyle/>
              <a:p>
                <a:endParaRPr lang="en-US"/>
              </a:p>
            </p:txBody>
          </p:sp>
        </p:grpSp>
        <p:grpSp>
          <p:nvGrpSpPr>
            <p:cNvPr id="56" name="Group 51"/>
            <p:cNvGrpSpPr>
              <a:grpSpLocks/>
            </p:cNvGrpSpPr>
            <p:nvPr/>
          </p:nvGrpSpPr>
          <p:grpSpPr bwMode="auto">
            <a:xfrm>
              <a:off x="4032250" y="1830388"/>
              <a:ext cx="533400" cy="444500"/>
              <a:chOff x="2540" y="1303"/>
              <a:chExt cx="336" cy="280"/>
            </a:xfrm>
          </p:grpSpPr>
          <p:sp>
            <p:nvSpPr>
              <p:cNvPr id="97" name="Rectangle 52"/>
              <p:cNvSpPr>
                <a:spLocks noChangeArrowheads="1"/>
              </p:cNvSpPr>
              <p:nvPr/>
            </p:nvSpPr>
            <p:spPr bwMode="auto">
              <a:xfrm>
                <a:off x="2540" y="1303"/>
                <a:ext cx="336" cy="280"/>
              </a:xfrm>
              <a:prstGeom prst="rect">
                <a:avLst/>
              </a:prstGeom>
              <a:noFill/>
              <a:ln w="12700">
                <a:solidFill>
                  <a:srgbClr val="000000"/>
                </a:solidFill>
                <a:miter lim="800000"/>
                <a:headEnd/>
                <a:tailEnd/>
              </a:ln>
            </p:spPr>
            <p:txBody>
              <a:bodyPr wrap="none" anchor="ctr"/>
              <a:lstStyle/>
              <a:p>
                <a:endParaRPr lang="en-US" sz="1600">
                  <a:latin typeface="Calibri" pitchFamily="34" charset="0"/>
                </a:endParaRPr>
              </a:p>
            </p:txBody>
          </p:sp>
          <p:sp>
            <p:nvSpPr>
              <p:cNvPr id="98" name="Line 53"/>
              <p:cNvSpPr>
                <a:spLocks noChangeShapeType="1"/>
              </p:cNvSpPr>
              <p:nvPr/>
            </p:nvSpPr>
            <p:spPr bwMode="auto">
              <a:xfrm>
                <a:off x="2600" y="1463"/>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9" name="Line 54"/>
              <p:cNvSpPr>
                <a:spLocks noChangeShapeType="1"/>
              </p:cNvSpPr>
              <p:nvPr/>
            </p:nvSpPr>
            <p:spPr bwMode="auto">
              <a:xfrm>
                <a:off x="2600" y="1503"/>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0" name="Line 55"/>
              <p:cNvSpPr>
                <a:spLocks noChangeShapeType="1"/>
              </p:cNvSpPr>
              <p:nvPr/>
            </p:nvSpPr>
            <p:spPr bwMode="auto">
              <a:xfrm>
                <a:off x="2600" y="1543"/>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1" name="Line 56"/>
              <p:cNvSpPr>
                <a:spLocks noChangeShapeType="1"/>
              </p:cNvSpPr>
              <p:nvPr/>
            </p:nvSpPr>
            <p:spPr bwMode="auto">
              <a:xfrm>
                <a:off x="2600" y="1391"/>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2" name="Line 57"/>
              <p:cNvSpPr>
                <a:spLocks noChangeShapeType="1"/>
              </p:cNvSpPr>
              <p:nvPr/>
            </p:nvSpPr>
            <p:spPr bwMode="auto">
              <a:xfrm>
                <a:off x="2608" y="1423"/>
                <a:ext cx="224" cy="0"/>
              </a:xfrm>
              <a:prstGeom prst="line">
                <a:avLst/>
              </a:prstGeom>
              <a:noFill/>
              <a:ln w="12700">
                <a:solidFill>
                  <a:srgbClr val="000000"/>
                </a:solidFill>
                <a:round/>
                <a:headEnd type="none" w="sm" len="sm"/>
                <a:tailEnd type="none" w="sm" len="sm"/>
              </a:ln>
            </p:spPr>
            <p:txBody>
              <a:bodyPr wrap="none" anchor="ctr"/>
              <a:lstStyle/>
              <a:p>
                <a:endParaRPr lang="en-US"/>
              </a:p>
            </p:txBody>
          </p:sp>
        </p:grpSp>
        <p:sp>
          <p:nvSpPr>
            <p:cNvPr id="57" name="Line 58"/>
            <p:cNvSpPr>
              <a:spLocks noChangeShapeType="1"/>
            </p:cNvSpPr>
            <p:nvPr/>
          </p:nvSpPr>
          <p:spPr bwMode="auto">
            <a:xfrm>
              <a:off x="3398838" y="2092325"/>
              <a:ext cx="639762" cy="0"/>
            </a:xfrm>
            <a:prstGeom prst="line">
              <a:avLst/>
            </a:prstGeom>
            <a:noFill/>
            <a:ln w="12700">
              <a:solidFill>
                <a:schemeClr val="tx1"/>
              </a:solidFill>
              <a:round/>
              <a:headEnd type="none" w="sm" len="sm"/>
              <a:tailEnd type="stealth" w="med" len="lg"/>
            </a:ln>
          </p:spPr>
          <p:txBody>
            <a:bodyPr wrap="none" anchor="ctr"/>
            <a:lstStyle/>
            <a:p>
              <a:endParaRPr lang="en-US"/>
            </a:p>
          </p:txBody>
        </p:sp>
        <p:sp>
          <p:nvSpPr>
            <p:cNvPr id="58" name="Rectangle 59"/>
            <p:cNvSpPr>
              <a:spLocks noChangeArrowheads="1"/>
            </p:cNvSpPr>
            <p:nvPr/>
          </p:nvSpPr>
          <p:spPr bwMode="auto">
            <a:xfrm>
              <a:off x="3581400" y="2886075"/>
              <a:ext cx="1914525" cy="466725"/>
            </a:xfrm>
            <a:prstGeom prst="rect">
              <a:avLst/>
            </a:prstGeom>
            <a:solidFill>
              <a:schemeClr val="bg1"/>
            </a:solidFill>
            <a:ln w="50800">
              <a:solidFill>
                <a:schemeClr val="tx1"/>
              </a:solidFill>
              <a:miter lim="800000"/>
              <a:headEnd/>
              <a:tailEnd/>
            </a:ln>
          </p:spPr>
          <p:txBody>
            <a:bodyPr wrap="none" anchor="ctr"/>
            <a:lstStyle/>
            <a:p>
              <a:endParaRPr lang="en-US" sz="1600">
                <a:latin typeface="Calibri" pitchFamily="34" charset="0"/>
              </a:endParaRPr>
            </a:p>
          </p:txBody>
        </p:sp>
        <p:sp>
          <p:nvSpPr>
            <p:cNvPr id="59" name="Rectangle 60"/>
            <p:cNvSpPr>
              <a:spLocks noChangeArrowheads="1"/>
            </p:cNvSpPr>
            <p:nvPr/>
          </p:nvSpPr>
          <p:spPr bwMode="auto">
            <a:xfrm>
              <a:off x="3689350" y="2886075"/>
              <a:ext cx="1797049" cy="406398"/>
            </a:xfrm>
            <a:prstGeom prst="rect">
              <a:avLst/>
            </a:prstGeom>
            <a:noFill/>
            <a:ln w="9525">
              <a:noFill/>
              <a:miter lim="800000"/>
              <a:headEnd/>
              <a:tailEnd/>
            </a:ln>
          </p:spPr>
          <p:txBody>
            <a:bodyPr lIns="92075" tIns="46038" rIns="92075" bIns="46038">
              <a:spAutoFit/>
            </a:bodyPr>
            <a:lstStyle/>
            <a:p>
              <a:r>
                <a:rPr lang="en-US">
                  <a:latin typeface="Calibri" pitchFamily="34" charset="0"/>
                </a:rPr>
                <a:t>Classifier Builder</a:t>
              </a:r>
            </a:p>
          </p:txBody>
        </p:sp>
        <p:sp>
          <p:nvSpPr>
            <p:cNvPr id="60" name="Line 61"/>
            <p:cNvSpPr>
              <a:spLocks noChangeShapeType="1"/>
            </p:cNvSpPr>
            <p:nvPr/>
          </p:nvSpPr>
          <p:spPr bwMode="auto">
            <a:xfrm flipH="1">
              <a:off x="4343400" y="2428875"/>
              <a:ext cx="0" cy="304800"/>
            </a:xfrm>
            <a:prstGeom prst="line">
              <a:avLst/>
            </a:prstGeom>
            <a:noFill/>
            <a:ln w="12700">
              <a:solidFill>
                <a:schemeClr val="tx1"/>
              </a:solidFill>
              <a:round/>
              <a:headEnd type="none" w="sm" len="sm"/>
              <a:tailEnd type="stealth" w="med" len="lg"/>
            </a:ln>
          </p:spPr>
          <p:txBody>
            <a:bodyPr wrap="none" anchor="ctr"/>
            <a:lstStyle/>
            <a:p>
              <a:endParaRPr lang="en-US"/>
            </a:p>
          </p:txBody>
        </p:sp>
        <p:sp>
          <p:nvSpPr>
            <p:cNvPr id="61" name="Line 62"/>
            <p:cNvSpPr>
              <a:spLocks noChangeShapeType="1"/>
            </p:cNvSpPr>
            <p:nvPr/>
          </p:nvSpPr>
          <p:spPr bwMode="auto">
            <a:xfrm>
              <a:off x="4343400" y="3419475"/>
              <a:ext cx="0" cy="457200"/>
            </a:xfrm>
            <a:prstGeom prst="line">
              <a:avLst/>
            </a:prstGeom>
            <a:noFill/>
            <a:ln w="12700">
              <a:solidFill>
                <a:schemeClr val="tx1"/>
              </a:solidFill>
              <a:round/>
              <a:headEnd type="none" w="sm" len="sm"/>
              <a:tailEnd type="stealth" w="med" len="lg"/>
            </a:ln>
          </p:spPr>
          <p:txBody>
            <a:bodyPr wrap="none" anchor="ctr"/>
            <a:lstStyle/>
            <a:p>
              <a:endParaRPr lang="en-US"/>
            </a:p>
          </p:txBody>
        </p:sp>
        <p:sp>
          <p:nvSpPr>
            <p:cNvPr id="62" name="Line 63"/>
            <p:cNvSpPr>
              <a:spLocks noChangeShapeType="1"/>
            </p:cNvSpPr>
            <p:nvPr/>
          </p:nvSpPr>
          <p:spPr bwMode="auto">
            <a:xfrm flipV="1">
              <a:off x="1676400" y="2489200"/>
              <a:ext cx="441325" cy="15875"/>
            </a:xfrm>
            <a:prstGeom prst="line">
              <a:avLst/>
            </a:prstGeom>
            <a:noFill/>
            <a:ln w="50800">
              <a:solidFill>
                <a:schemeClr val="tx1"/>
              </a:solidFill>
              <a:round/>
              <a:headEnd type="none" w="sm" len="sm"/>
              <a:tailEnd type="stealth" w="med" len="lg"/>
            </a:ln>
          </p:spPr>
          <p:txBody>
            <a:bodyPr wrap="none" anchor="ctr"/>
            <a:lstStyle/>
            <a:p>
              <a:endParaRPr lang="en-US"/>
            </a:p>
          </p:txBody>
        </p:sp>
        <p:sp>
          <p:nvSpPr>
            <p:cNvPr id="63" name="Rectangle 64"/>
            <p:cNvSpPr>
              <a:spLocks noChangeArrowheads="1"/>
            </p:cNvSpPr>
            <p:nvPr/>
          </p:nvSpPr>
          <p:spPr bwMode="auto">
            <a:xfrm>
              <a:off x="5486399" y="2657475"/>
              <a:ext cx="1073149" cy="372590"/>
            </a:xfrm>
            <a:prstGeom prst="rect">
              <a:avLst/>
            </a:prstGeom>
            <a:noFill/>
            <a:ln w="9525">
              <a:noFill/>
              <a:miter lim="800000"/>
              <a:headEnd/>
              <a:tailEnd/>
            </a:ln>
          </p:spPr>
          <p:txBody>
            <a:bodyPr lIns="92075" tIns="46038" rIns="92075" bIns="46038">
              <a:spAutoFit/>
            </a:bodyPr>
            <a:lstStyle/>
            <a:p>
              <a:r>
                <a:rPr lang="en-US" sz="1600">
                  <a:solidFill>
                    <a:srgbClr val="000000"/>
                  </a:solidFill>
                </a:rPr>
                <a:t>Evaluate</a:t>
              </a:r>
            </a:p>
          </p:txBody>
        </p:sp>
        <p:sp>
          <p:nvSpPr>
            <p:cNvPr id="64" name="Line 65"/>
            <p:cNvSpPr>
              <a:spLocks noChangeShapeType="1"/>
            </p:cNvSpPr>
            <p:nvPr/>
          </p:nvSpPr>
          <p:spPr bwMode="auto">
            <a:xfrm>
              <a:off x="2667000" y="3190875"/>
              <a:ext cx="0" cy="685800"/>
            </a:xfrm>
            <a:prstGeom prst="line">
              <a:avLst/>
            </a:prstGeom>
            <a:noFill/>
            <a:ln w="12700">
              <a:solidFill>
                <a:schemeClr val="tx1"/>
              </a:solidFill>
              <a:miter lim="800000"/>
              <a:headEnd type="none" w="sm" len="sm"/>
              <a:tailEnd type="stealth" w="med" len="lg"/>
            </a:ln>
          </p:spPr>
          <p:txBody>
            <a:bodyPr wrap="none" anchor="ctr"/>
            <a:lstStyle/>
            <a:p>
              <a:endParaRPr lang="en-US"/>
            </a:p>
          </p:txBody>
        </p:sp>
        <p:sp>
          <p:nvSpPr>
            <p:cNvPr id="65" name="Rectangle 66"/>
            <p:cNvSpPr>
              <a:spLocks noChangeArrowheads="1"/>
            </p:cNvSpPr>
            <p:nvPr/>
          </p:nvSpPr>
          <p:spPr bwMode="auto">
            <a:xfrm>
              <a:off x="6629400" y="3571875"/>
              <a:ext cx="228600" cy="1143000"/>
            </a:xfrm>
            <a:prstGeom prst="rect">
              <a:avLst/>
            </a:prstGeom>
            <a:solidFill>
              <a:schemeClr val="accent1"/>
            </a:solidFill>
            <a:ln w="9525">
              <a:solidFill>
                <a:schemeClr val="tx1"/>
              </a:solidFill>
              <a:miter lim="800000"/>
              <a:headEnd type="none" w="sm" len="sm"/>
              <a:tailEnd type="none" w="sm" len="sm"/>
            </a:ln>
          </p:spPr>
          <p:txBody>
            <a:bodyPr wrap="none" anchor="ctr"/>
            <a:lstStyle/>
            <a:p>
              <a:r>
                <a:rPr lang="en-US" sz="1600" b="1">
                  <a:latin typeface="Calibri" pitchFamily="34" charset="0"/>
                </a:rPr>
                <a:t>+</a:t>
              </a:r>
            </a:p>
            <a:p>
              <a:r>
                <a:rPr lang="en-US" sz="1600" b="1">
                  <a:latin typeface="Calibri" pitchFamily="34" charset="0"/>
                </a:rPr>
                <a:t>-</a:t>
              </a:r>
            </a:p>
            <a:p>
              <a:r>
                <a:rPr lang="en-US" sz="1600" b="1">
                  <a:latin typeface="Calibri" pitchFamily="34" charset="0"/>
                </a:rPr>
                <a:t>+</a:t>
              </a:r>
            </a:p>
            <a:p>
              <a:r>
                <a:rPr lang="en-US" sz="1600" b="1">
                  <a:latin typeface="Calibri" pitchFamily="34" charset="0"/>
                </a:rPr>
                <a:t>-</a:t>
              </a:r>
            </a:p>
          </p:txBody>
        </p:sp>
        <p:sp>
          <p:nvSpPr>
            <p:cNvPr id="66" name="Line 67"/>
            <p:cNvSpPr>
              <a:spLocks noChangeShapeType="1"/>
            </p:cNvSpPr>
            <p:nvPr/>
          </p:nvSpPr>
          <p:spPr bwMode="auto">
            <a:xfrm flipH="1" flipV="1">
              <a:off x="5638800" y="3419475"/>
              <a:ext cx="914400" cy="609600"/>
            </a:xfrm>
            <a:prstGeom prst="line">
              <a:avLst/>
            </a:prstGeom>
            <a:noFill/>
            <a:ln w="12700">
              <a:solidFill>
                <a:schemeClr val="tx1"/>
              </a:solidFill>
              <a:miter lim="800000"/>
              <a:headEnd type="none" w="sm" len="sm"/>
              <a:tailEnd type="stealth" w="med" len="lg"/>
            </a:ln>
          </p:spPr>
          <p:txBody>
            <a:bodyPr wrap="none" anchor="ctr"/>
            <a:lstStyle/>
            <a:p>
              <a:endParaRPr lang="en-US"/>
            </a:p>
          </p:txBody>
        </p:sp>
        <p:grpSp>
          <p:nvGrpSpPr>
            <p:cNvPr id="67" name="Group 68"/>
            <p:cNvGrpSpPr>
              <a:grpSpLocks/>
            </p:cNvGrpSpPr>
            <p:nvPr/>
          </p:nvGrpSpPr>
          <p:grpSpPr bwMode="auto">
            <a:xfrm>
              <a:off x="762000" y="5400675"/>
              <a:ext cx="533400" cy="266700"/>
              <a:chOff x="1812" y="2352"/>
              <a:chExt cx="336" cy="168"/>
            </a:xfrm>
          </p:grpSpPr>
          <p:sp>
            <p:nvSpPr>
              <p:cNvPr id="93" name="Rectangle 69"/>
              <p:cNvSpPr>
                <a:spLocks noChangeArrowheads="1"/>
              </p:cNvSpPr>
              <p:nvPr/>
            </p:nvSpPr>
            <p:spPr bwMode="auto">
              <a:xfrm>
                <a:off x="1812" y="2352"/>
                <a:ext cx="336" cy="168"/>
              </a:xfrm>
              <a:prstGeom prst="rect">
                <a:avLst/>
              </a:prstGeom>
              <a:solidFill>
                <a:srgbClr val="CC99FF"/>
              </a:solidFill>
              <a:ln w="12700">
                <a:solidFill>
                  <a:srgbClr val="000000"/>
                </a:solidFill>
                <a:miter lim="800000"/>
                <a:headEnd/>
                <a:tailEnd/>
              </a:ln>
            </p:spPr>
            <p:txBody>
              <a:bodyPr wrap="none" anchor="ctr"/>
              <a:lstStyle/>
              <a:p>
                <a:endParaRPr lang="en-US" sz="1600">
                  <a:latin typeface="Calibri" pitchFamily="34" charset="0"/>
                </a:endParaRPr>
              </a:p>
            </p:txBody>
          </p:sp>
          <p:sp>
            <p:nvSpPr>
              <p:cNvPr id="94" name="Line 70"/>
              <p:cNvSpPr>
                <a:spLocks noChangeShapeType="1"/>
              </p:cNvSpPr>
              <p:nvPr/>
            </p:nvSpPr>
            <p:spPr bwMode="auto">
              <a:xfrm>
                <a:off x="1872" y="2416"/>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5" name="Line 71"/>
              <p:cNvSpPr>
                <a:spLocks noChangeShapeType="1"/>
              </p:cNvSpPr>
              <p:nvPr/>
            </p:nvSpPr>
            <p:spPr bwMode="auto">
              <a:xfrm>
                <a:off x="1872" y="2448"/>
                <a:ext cx="224" cy="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6" name="Line 72"/>
              <p:cNvSpPr>
                <a:spLocks noChangeShapeType="1"/>
              </p:cNvSpPr>
              <p:nvPr/>
            </p:nvSpPr>
            <p:spPr bwMode="auto">
              <a:xfrm>
                <a:off x="1872" y="2480"/>
                <a:ext cx="224" cy="0"/>
              </a:xfrm>
              <a:prstGeom prst="line">
                <a:avLst/>
              </a:prstGeom>
              <a:noFill/>
              <a:ln w="12700">
                <a:solidFill>
                  <a:srgbClr val="000000"/>
                </a:solidFill>
                <a:round/>
                <a:headEnd type="none" w="sm" len="sm"/>
                <a:tailEnd type="none" w="sm" len="sm"/>
              </a:ln>
            </p:spPr>
            <p:txBody>
              <a:bodyPr wrap="none" anchor="ctr"/>
              <a:lstStyle/>
              <a:p>
                <a:endParaRPr lang="en-US"/>
              </a:p>
            </p:txBody>
          </p:sp>
        </p:grpSp>
        <p:sp>
          <p:nvSpPr>
            <p:cNvPr id="68" name="Line 73"/>
            <p:cNvSpPr>
              <a:spLocks noChangeShapeType="1"/>
            </p:cNvSpPr>
            <p:nvPr/>
          </p:nvSpPr>
          <p:spPr bwMode="auto">
            <a:xfrm>
              <a:off x="990600" y="3190875"/>
              <a:ext cx="0" cy="2057400"/>
            </a:xfrm>
            <a:prstGeom prst="line">
              <a:avLst/>
            </a:prstGeom>
            <a:noFill/>
            <a:ln w="12700">
              <a:solidFill>
                <a:schemeClr val="tx1"/>
              </a:solidFill>
              <a:miter lim="800000"/>
              <a:headEnd type="none" w="sm" len="sm"/>
              <a:tailEnd type="stealth" w="med" len="lg"/>
            </a:ln>
          </p:spPr>
          <p:txBody>
            <a:bodyPr wrap="none" anchor="ctr"/>
            <a:lstStyle/>
            <a:p>
              <a:endParaRPr lang="en-US"/>
            </a:p>
          </p:txBody>
        </p:sp>
        <p:grpSp>
          <p:nvGrpSpPr>
            <p:cNvPr id="69" name="Group 74"/>
            <p:cNvGrpSpPr>
              <a:grpSpLocks/>
            </p:cNvGrpSpPr>
            <p:nvPr/>
          </p:nvGrpSpPr>
          <p:grpSpPr bwMode="auto">
            <a:xfrm>
              <a:off x="3810000" y="5248275"/>
              <a:ext cx="990600" cy="565150"/>
              <a:chOff x="2136" y="2818"/>
              <a:chExt cx="664" cy="356"/>
            </a:xfrm>
          </p:grpSpPr>
          <p:sp>
            <p:nvSpPr>
              <p:cNvPr id="79" name="AutoShape 75"/>
              <p:cNvSpPr>
                <a:spLocks noChangeArrowheads="1"/>
              </p:cNvSpPr>
              <p:nvPr/>
            </p:nvSpPr>
            <p:spPr bwMode="auto">
              <a:xfrm flipV="1">
                <a:off x="2136" y="2818"/>
                <a:ext cx="664" cy="356"/>
              </a:xfrm>
              <a:custGeom>
                <a:avLst/>
                <a:gdLst>
                  <a:gd name="T0" fmla="*/ 581 w 21600"/>
                  <a:gd name="T1" fmla="*/ 178 h 21600"/>
                  <a:gd name="T2" fmla="*/ 332 w 21600"/>
                  <a:gd name="T3" fmla="*/ 356 h 21600"/>
                  <a:gd name="T4" fmla="*/ 83 w 21600"/>
                  <a:gd name="T5" fmla="*/ 178 h 21600"/>
                  <a:gd name="T6" fmla="*/ 332 w 21600"/>
                  <a:gd name="T7" fmla="*/ 0 h 21600"/>
                  <a:gd name="T8" fmla="*/ 0 60000 65536"/>
                  <a:gd name="T9" fmla="*/ 0 60000 65536"/>
                  <a:gd name="T10" fmla="*/ 0 60000 65536"/>
                  <a:gd name="T11" fmla="*/ 0 60000 65536"/>
                  <a:gd name="T12" fmla="*/ 4489 w 21600"/>
                  <a:gd name="T13" fmla="*/ 4490 h 21600"/>
                  <a:gd name="T14" fmla="*/ 17111 w 21600"/>
                  <a:gd name="T15" fmla="*/ 1711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sp>
            <p:nvSpPr>
              <p:cNvPr id="80" name="Rectangle 76"/>
              <p:cNvSpPr>
                <a:spLocks noChangeArrowheads="1"/>
              </p:cNvSpPr>
              <p:nvPr/>
            </p:nvSpPr>
            <p:spPr bwMode="auto">
              <a:xfrm>
                <a:off x="2499" y="2916"/>
                <a:ext cx="80" cy="38"/>
              </a:xfrm>
              <a:prstGeom prst="rect">
                <a:avLst/>
              </a:pr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sp>
            <p:nvSpPr>
              <p:cNvPr id="81" name="Rectangle 77"/>
              <p:cNvSpPr>
                <a:spLocks noChangeArrowheads="1"/>
              </p:cNvSpPr>
              <p:nvPr/>
            </p:nvSpPr>
            <p:spPr bwMode="auto">
              <a:xfrm>
                <a:off x="2219" y="3103"/>
                <a:ext cx="80" cy="38"/>
              </a:xfrm>
              <a:prstGeom prst="rect">
                <a:avLst/>
              </a:pr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sp>
            <p:nvSpPr>
              <p:cNvPr id="82" name="Rectangle 78"/>
              <p:cNvSpPr>
                <a:spLocks noChangeArrowheads="1"/>
              </p:cNvSpPr>
              <p:nvPr/>
            </p:nvSpPr>
            <p:spPr bwMode="auto">
              <a:xfrm>
                <a:off x="2639" y="2998"/>
                <a:ext cx="79" cy="38"/>
              </a:xfrm>
              <a:prstGeom prst="rect">
                <a:avLst/>
              </a:pr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sp>
            <p:nvSpPr>
              <p:cNvPr id="83" name="Rectangle 79"/>
              <p:cNvSpPr>
                <a:spLocks noChangeArrowheads="1"/>
              </p:cNvSpPr>
              <p:nvPr/>
            </p:nvSpPr>
            <p:spPr bwMode="auto">
              <a:xfrm>
                <a:off x="2534" y="3103"/>
                <a:ext cx="80" cy="38"/>
              </a:xfrm>
              <a:prstGeom prst="rect">
                <a:avLst/>
              </a:pr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sp>
            <p:nvSpPr>
              <p:cNvPr id="84" name="Line 80"/>
              <p:cNvSpPr>
                <a:spLocks noChangeShapeType="1"/>
              </p:cNvSpPr>
              <p:nvPr/>
            </p:nvSpPr>
            <p:spPr bwMode="auto">
              <a:xfrm flipH="1">
                <a:off x="2426" y="2953"/>
                <a:ext cx="65" cy="35"/>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85" name="Line 81"/>
              <p:cNvSpPr>
                <a:spLocks noChangeShapeType="1"/>
              </p:cNvSpPr>
              <p:nvPr/>
            </p:nvSpPr>
            <p:spPr bwMode="auto">
              <a:xfrm>
                <a:off x="2583" y="2958"/>
                <a:ext cx="52" cy="36"/>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86" name="Line 82"/>
              <p:cNvSpPr>
                <a:spLocks noChangeShapeType="1"/>
              </p:cNvSpPr>
              <p:nvPr/>
            </p:nvSpPr>
            <p:spPr bwMode="auto">
              <a:xfrm flipH="1">
                <a:off x="2303" y="3031"/>
                <a:ext cx="76" cy="68"/>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87" name="Line 83"/>
              <p:cNvSpPr>
                <a:spLocks noChangeShapeType="1"/>
              </p:cNvSpPr>
              <p:nvPr/>
            </p:nvSpPr>
            <p:spPr bwMode="auto">
              <a:xfrm>
                <a:off x="2457" y="3039"/>
                <a:ext cx="91" cy="6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88" name="Rectangle 84"/>
              <p:cNvSpPr>
                <a:spLocks noChangeArrowheads="1"/>
              </p:cNvSpPr>
              <p:nvPr/>
            </p:nvSpPr>
            <p:spPr bwMode="auto">
              <a:xfrm>
                <a:off x="2350" y="2864"/>
                <a:ext cx="123" cy="181"/>
              </a:xfrm>
              <a:prstGeom prst="rect">
                <a:avLst/>
              </a:prstGeom>
              <a:solidFill>
                <a:srgbClr val="CC99FF"/>
              </a:solidFill>
              <a:ln w="9525">
                <a:noFill/>
                <a:miter lim="800000"/>
                <a:headEnd/>
                <a:tailEnd/>
              </a:ln>
            </p:spPr>
            <p:txBody>
              <a:bodyPr lIns="92075" tIns="46038" rIns="92075" bIns="46038">
                <a:spAutoFit/>
              </a:bodyPr>
              <a:lstStyle/>
              <a:p>
                <a:endParaRPr lang="en-US" sz="1100">
                  <a:latin typeface="Calibri" pitchFamily="34" charset="0"/>
                </a:endParaRPr>
              </a:p>
            </p:txBody>
          </p:sp>
          <p:sp>
            <p:nvSpPr>
              <p:cNvPr id="89" name="Rectangle 85"/>
              <p:cNvSpPr>
                <a:spLocks noChangeArrowheads="1"/>
              </p:cNvSpPr>
              <p:nvPr/>
            </p:nvSpPr>
            <p:spPr bwMode="auto">
              <a:xfrm>
                <a:off x="2560" y="2884"/>
                <a:ext cx="123" cy="181"/>
              </a:xfrm>
              <a:prstGeom prst="rect">
                <a:avLst/>
              </a:prstGeom>
              <a:solidFill>
                <a:srgbClr val="CC99FF"/>
              </a:solidFill>
              <a:ln w="9525">
                <a:noFill/>
                <a:miter lim="800000"/>
                <a:headEnd/>
                <a:tailEnd/>
              </a:ln>
            </p:spPr>
            <p:txBody>
              <a:bodyPr lIns="92075" tIns="46038" rIns="92075" bIns="46038">
                <a:spAutoFit/>
              </a:bodyPr>
              <a:lstStyle/>
              <a:p>
                <a:endParaRPr lang="en-US" sz="1100">
                  <a:latin typeface="Calibri" pitchFamily="34" charset="0"/>
                </a:endParaRPr>
              </a:p>
            </p:txBody>
          </p:sp>
          <p:sp>
            <p:nvSpPr>
              <p:cNvPr id="90" name="Rectangle 86"/>
              <p:cNvSpPr>
                <a:spLocks noChangeArrowheads="1"/>
              </p:cNvSpPr>
              <p:nvPr/>
            </p:nvSpPr>
            <p:spPr bwMode="auto">
              <a:xfrm>
                <a:off x="2394" y="3103"/>
                <a:ext cx="80" cy="38"/>
              </a:xfrm>
              <a:prstGeom prst="rect">
                <a:avLst/>
              </a:pr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sp>
            <p:nvSpPr>
              <p:cNvPr id="91" name="Line 87"/>
              <p:cNvSpPr>
                <a:spLocks noChangeShapeType="1"/>
              </p:cNvSpPr>
              <p:nvPr/>
            </p:nvSpPr>
            <p:spPr bwMode="auto">
              <a:xfrm>
                <a:off x="2408" y="3052"/>
                <a:ext cx="18" cy="47"/>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92" name="AutoShape 88"/>
              <p:cNvSpPr>
                <a:spLocks noChangeArrowheads="1"/>
              </p:cNvSpPr>
              <p:nvPr/>
            </p:nvSpPr>
            <p:spPr bwMode="auto">
              <a:xfrm>
                <a:off x="2370" y="2991"/>
                <a:ext cx="85" cy="66"/>
              </a:xfrm>
              <a:prstGeom prst="diamond">
                <a:avLst/>
              </a:prstGeom>
              <a:solidFill>
                <a:srgbClr val="CC99FF"/>
              </a:solidFill>
              <a:ln w="12700">
                <a:solidFill>
                  <a:schemeClr val="tx1"/>
                </a:solidFill>
                <a:miter lim="800000"/>
                <a:headEnd/>
                <a:tailEnd/>
              </a:ln>
            </p:spPr>
            <p:txBody>
              <a:bodyPr wrap="none" anchor="ctr"/>
              <a:lstStyle/>
              <a:p>
                <a:endParaRPr lang="en-US" sz="1600">
                  <a:latin typeface="Calibri" pitchFamily="34" charset="0"/>
                </a:endParaRPr>
              </a:p>
            </p:txBody>
          </p:sp>
        </p:grpSp>
        <p:sp>
          <p:nvSpPr>
            <p:cNvPr id="70" name="Text Box 89"/>
            <p:cNvSpPr txBox="1">
              <a:spLocks noChangeArrowheads="1"/>
            </p:cNvSpPr>
            <p:nvPr/>
          </p:nvSpPr>
          <p:spPr bwMode="auto">
            <a:xfrm>
              <a:off x="3794125" y="5746750"/>
              <a:ext cx="1350963" cy="371885"/>
            </a:xfrm>
            <a:prstGeom prst="rect">
              <a:avLst/>
            </a:prstGeom>
            <a:noFill/>
            <a:ln w="9525">
              <a:noFill/>
              <a:miter lim="800000"/>
              <a:headEnd type="none" w="sm" len="sm"/>
              <a:tailEnd type="none" w="sm" len="sm"/>
            </a:ln>
          </p:spPr>
          <p:txBody>
            <a:bodyPr>
              <a:spAutoFit/>
            </a:bodyPr>
            <a:lstStyle/>
            <a:p>
              <a:r>
                <a:rPr lang="en-US" sz="1600">
                  <a:latin typeface="Calibri" pitchFamily="34" charset="0"/>
                </a:rPr>
                <a:t>Classifier</a:t>
              </a:r>
            </a:p>
          </p:txBody>
        </p:sp>
        <p:sp>
          <p:nvSpPr>
            <p:cNvPr id="71" name="Line 90"/>
            <p:cNvSpPr>
              <a:spLocks noChangeShapeType="1"/>
            </p:cNvSpPr>
            <p:nvPr/>
          </p:nvSpPr>
          <p:spPr bwMode="auto">
            <a:xfrm>
              <a:off x="1371600" y="5553075"/>
              <a:ext cx="2438400" cy="0"/>
            </a:xfrm>
            <a:prstGeom prst="line">
              <a:avLst/>
            </a:prstGeom>
            <a:noFill/>
            <a:ln w="12700">
              <a:solidFill>
                <a:schemeClr val="tx1"/>
              </a:solidFill>
              <a:miter lim="800000"/>
              <a:headEnd type="none" w="sm" len="sm"/>
              <a:tailEnd type="stealth" w="med" len="lg"/>
            </a:ln>
          </p:spPr>
          <p:txBody>
            <a:bodyPr wrap="none" anchor="ctr"/>
            <a:lstStyle/>
            <a:p>
              <a:endParaRPr lang="en-US"/>
            </a:p>
          </p:txBody>
        </p:sp>
        <p:sp>
          <p:nvSpPr>
            <p:cNvPr id="72" name="Text Box 91"/>
            <p:cNvSpPr txBox="1">
              <a:spLocks noChangeArrowheads="1"/>
            </p:cNvSpPr>
            <p:nvPr/>
          </p:nvSpPr>
          <p:spPr bwMode="auto">
            <a:xfrm>
              <a:off x="457200" y="5705475"/>
              <a:ext cx="1874838" cy="371885"/>
            </a:xfrm>
            <a:prstGeom prst="rect">
              <a:avLst/>
            </a:prstGeom>
            <a:noFill/>
            <a:ln w="9525">
              <a:noFill/>
              <a:miter lim="800000"/>
              <a:headEnd type="none" w="sm" len="sm"/>
              <a:tailEnd type="none" w="sm" len="sm"/>
            </a:ln>
          </p:spPr>
          <p:txBody>
            <a:bodyPr>
              <a:spAutoFit/>
            </a:bodyPr>
            <a:lstStyle/>
            <a:p>
              <a:r>
                <a:rPr lang="en-US" sz="1600">
                  <a:latin typeface="Calibri" pitchFamily="34" charset="0"/>
                </a:rPr>
                <a:t>Final Test Set</a:t>
              </a:r>
            </a:p>
          </p:txBody>
        </p:sp>
        <p:sp>
          <p:nvSpPr>
            <p:cNvPr id="73" name="Rectangle 92"/>
            <p:cNvSpPr>
              <a:spLocks noChangeArrowheads="1"/>
            </p:cNvSpPr>
            <p:nvPr/>
          </p:nvSpPr>
          <p:spPr bwMode="auto">
            <a:xfrm>
              <a:off x="6629400" y="4943475"/>
              <a:ext cx="228600" cy="1143000"/>
            </a:xfrm>
            <a:prstGeom prst="rect">
              <a:avLst/>
            </a:prstGeom>
            <a:solidFill>
              <a:srgbClr val="CC99FF"/>
            </a:solidFill>
            <a:ln w="9525">
              <a:solidFill>
                <a:schemeClr val="tx1"/>
              </a:solidFill>
              <a:miter lim="800000"/>
              <a:headEnd type="none" w="sm" len="sm"/>
              <a:tailEnd type="none" w="sm" len="sm"/>
            </a:ln>
          </p:spPr>
          <p:txBody>
            <a:bodyPr wrap="none" anchor="ctr"/>
            <a:lstStyle/>
            <a:p>
              <a:r>
                <a:rPr lang="en-US" sz="1600" b="1">
                  <a:latin typeface="Calibri" pitchFamily="34" charset="0"/>
                </a:rPr>
                <a:t>+</a:t>
              </a:r>
            </a:p>
            <a:p>
              <a:r>
                <a:rPr lang="en-US" sz="1600" b="1">
                  <a:latin typeface="Calibri" pitchFamily="34" charset="0"/>
                </a:rPr>
                <a:t>-</a:t>
              </a:r>
            </a:p>
            <a:p>
              <a:r>
                <a:rPr lang="en-US" sz="1600" b="1">
                  <a:latin typeface="Calibri" pitchFamily="34" charset="0"/>
                </a:rPr>
                <a:t>+</a:t>
              </a:r>
            </a:p>
            <a:p>
              <a:r>
                <a:rPr lang="en-US" sz="1600" b="1">
                  <a:latin typeface="Calibri" pitchFamily="34" charset="0"/>
                </a:rPr>
                <a:t>-</a:t>
              </a:r>
            </a:p>
          </p:txBody>
        </p:sp>
        <p:sp>
          <p:nvSpPr>
            <p:cNvPr id="74" name="Line 93"/>
            <p:cNvSpPr>
              <a:spLocks noChangeShapeType="1"/>
            </p:cNvSpPr>
            <p:nvPr/>
          </p:nvSpPr>
          <p:spPr bwMode="auto">
            <a:xfrm>
              <a:off x="4724400" y="5553075"/>
              <a:ext cx="1905000" cy="0"/>
            </a:xfrm>
            <a:prstGeom prst="line">
              <a:avLst/>
            </a:prstGeom>
            <a:noFill/>
            <a:ln w="12700">
              <a:solidFill>
                <a:schemeClr val="tx1"/>
              </a:solidFill>
              <a:miter lim="800000"/>
              <a:headEnd type="none" w="sm" len="sm"/>
              <a:tailEnd type="stealth" w="med" len="lg"/>
            </a:ln>
          </p:spPr>
          <p:txBody>
            <a:bodyPr wrap="none" anchor="ctr"/>
            <a:lstStyle/>
            <a:p>
              <a:endParaRPr lang="en-US"/>
            </a:p>
          </p:txBody>
        </p:sp>
        <p:sp>
          <p:nvSpPr>
            <p:cNvPr id="75" name="Rectangle 94"/>
            <p:cNvSpPr>
              <a:spLocks noChangeArrowheads="1"/>
            </p:cNvSpPr>
            <p:nvPr/>
          </p:nvSpPr>
          <p:spPr bwMode="auto">
            <a:xfrm>
              <a:off x="6858000" y="5095875"/>
              <a:ext cx="1809750" cy="372590"/>
            </a:xfrm>
            <a:prstGeom prst="rect">
              <a:avLst/>
            </a:prstGeom>
            <a:noFill/>
            <a:ln w="9525">
              <a:noFill/>
              <a:miter lim="800000"/>
              <a:headEnd/>
              <a:tailEnd/>
            </a:ln>
          </p:spPr>
          <p:txBody>
            <a:bodyPr lIns="92075" tIns="46038" rIns="92075" bIns="46038">
              <a:spAutoFit/>
            </a:bodyPr>
            <a:lstStyle/>
            <a:p>
              <a:r>
                <a:rPr lang="en-US" sz="1600">
                  <a:solidFill>
                    <a:srgbClr val="000000"/>
                  </a:solidFill>
                </a:rPr>
                <a:t>Final Evaluation</a:t>
              </a:r>
            </a:p>
          </p:txBody>
        </p:sp>
        <p:sp>
          <p:nvSpPr>
            <p:cNvPr id="76" name="Line 95"/>
            <p:cNvSpPr>
              <a:spLocks noChangeShapeType="1"/>
            </p:cNvSpPr>
            <p:nvPr/>
          </p:nvSpPr>
          <p:spPr bwMode="auto">
            <a:xfrm>
              <a:off x="4343400" y="4791075"/>
              <a:ext cx="0" cy="457200"/>
            </a:xfrm>
            <a:prstGeom prst="line">
              <a:avLst/>
            </a:prstGeom>
            <a:noFill/>
            <a:ln w="12700">
              <a:solidFill>
                <a:schemeClr val="tx1"/>
              </a:solidFill>
              <a:round/>
              <a:headEnd type="none" w="sm" len="sm"/>
              <a:tailEnd type="stealth" w="med" len="lg"/>
            </a:ln>
          </p:spPr>
          <p:txBody>
            <a:bodyPr wrap="none" anchor="ctr"/>
            <a:lstStyle/>
            <a:p>
              <a:endParaRPr lang="en-US"/>
            </a:p>
          </p:txBody>
        </p:sp>
        <p:sp>
          <p:nvSpPr>
            <p:cNvPr id="77" name="Text Box 96"/>
            <p:cNvSpPr txBox="1">
              <a:spLocks noChangeArrowheads="1"/>
            </p:cNvSpPr>
            <p:nvPr/>
          </p:nvSpPr>
          <p:spPr bwMode="auto">
            <a:xfrm>
              <a:off x="7527925" y="1631950"/>
              <a:ext cx="1096963" cy="642348"/>
            </a:xfrm>
            <a:prstGeom prst="rect">
              <a:avLst/>
            </a:prstGeom>
            <a:noFill/>
            <a:ln w="9525">
              <a:noFill/>
              <a:miter lim="800000"/>
              <a:headEnd type="none" w="sm" len="sm"/>
              <a:tailEnd type="none" w="sm" len="sm"/>
            </a:ln>
          </p:spPr>
          <p:txBody>
            <a:bodyPr>
              <a:spAutoFit/>
            </a:bodyPr>
            <a:lstStyle/>
            <a:p>
              <a:r>
                <a:rPr lang="en-US" sz="1600">
                  <a:latin typeface="Calibri" pitchFamily="34" charset="0"/>
                </a:rPr>
                <a:t>Model</a:t>
              </a:r>
            </a:p>
            <a:p>
              <a:r>
                <a:rPr lang="en-US" sz="1600">
                  <a:latin typeface="Calibri" pitchFamily="34" charset="0"/>
                </a:rPr>
                <a:t>Builder</a:t>
              </a:r>
            </a:p>
          </p:txBody>
        </p:sp>
        <p:sp>
          <p:nvSpPr>
            <p:cNvPr id="78" name="Text Box 97"/>
            <p:cNvSpPr txBox="1">
              <a:spLocks noChangeArrowheads="1"/>
            </p:cNvSpPr>
            <p:nvPr/>
          </p:nvSpPr>
          <p:spPr bwMode="auto">
            <a:xfrm>
              <a:off x="1676400" y="6230938"/>
              <a:ext cx="6553200" cy="371885"/>
            </a:xfrm>
            <a:prstGeom prst="rect">
              <a:avLst/>
            </a:prstGeom>
            <a:noFill/>
            <a:ln w="9525">
              <a:noFill/>
              <a:miter lim="800000"/>
              <a:headEnd/>
              <a:tailEnd/>
            </a:ln>
          </p:spPr>
          <p:txBody>
            <a:bodyPr>
              <a:spAutoFit/>
            </a:bodyPr>
            <a:lstStyle/>
            <a:p>
              <a:pPr>
                <a:spcBef>
                  <a:spcPct val="20000"/>
                </a:spcBef>
              </a:pPr>
              <a:r>
                <a:rPr lang="en-US" sz="1600" b="1" i="1">
                  <a:solidFill>
                    <a:srgbClr val="FF0000"/>
                  </a:solidFill>
                  <a:latin typeface="Calibri" pitchFamily="34" charset="0"/>
                </a:rPr>
                <a:t>The test data can’t be used for parameter tuning!</a:t>
              </a:r>
            </a:p>
          </p:txBody>
        </p:sp>
      </p:grpSp>
    </p:spTree>
    <p:extLst>
      <p:ext uri="{BB962C8B-B14F-4D97-AF65-F5344CB8AC3E}">
        <p14:creationId xmlns:p14="http://schemas.microsoft.com/office/powerpoint/2010/main" val="27531921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Making the Most of the Data</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447675" indent="-447675">
              <a:lnSpc>
                <a:spcPct val="120000"/>
              </a:lnSpc>
              <a:spcBef>
                <a:spcPts val="600"/>
              </a:spcBef>
            </a:pPr>
            <a:endParaRPr lang="tr-TR" sz="2400" dirty="0">
              <a:latin typeface="Arial" panose="020B0604020202020204" pitchFamily="34" charset="0"/>
              <a:cs typeface="Arial" panose="020B0604020202020204" pitchFamily="34" charset="0"/>
            </a:endParaRPr>
          </a:p>
          <a:p>
            <a:pPr marL="447675" indent="-447675">
              <a:lnSpc>
                <a:spcPct val="120000"/>
              </a:lnSpc>
              <a:spcBef>
                <a:spcPts val="600"/>
              </a:spcBef>
            </a:pPr>
            <a:r>
              <a:rPr lang="en-US" sz="2400" dirty="0">
                <a:latin typeface="Arial" panose="020B0604020202020204" pitchFamily="34" charset="0"/>
                <a:cs typeface="Arial" panose="020B0604020202020204" pitchFamily="34" charset="0"/>
              </a:rPr>
              <a:t>Once evaluation is complete, </a:t>
            </a:r>
            <a:r>
              <a:rPr lang="en-US" sz="2400" b="1" i="1" u="sng" dirty="0">
                <a:latin typeface="Arial" panose="020B0604020202020204" pitchFamily="34" charset="0"/>
                <a:cs typeface="Arial" panose="020B0604020202020204" pitchFamily="34" charset="0"/>
              </a:rPr>
              <a:t>all the data</a:t>
            </a:r>
            <a:r>
              <a:rPr lang="en-US" sz="2400" b="1" u="sng"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can be used to build the final classifier.</a:t>
            </a:r>
          </a:p>
          <a:p>
            <a:pPr marL="447675" indent="-447675">
              <a:lnSpc>
                <a:spcPct val="120000"/>
              </a:lnSpc>
              <a:spcBef>
                <a:spcPts val="600"/>
              </a:spcBef>
            </a:pPr>
            <a:r>
              <a:rPr lang="en-US" sz="2400" dirty="0">
                <a:latin typeface="Arial" panose="020B0604020202020204" pitchFamily="34" charset="0"/>
                <a:cs typeface="Arial" panose="020B0604020202020204" pitchFamily="34" charset="0"/>
              </a:rPr>
              <a:t>Generally, the </a:t>
            </a:r>
            <a:r>
              <a:rPr lang="en-US" sz="2400" i="1" u="sng" dirty="0">
                <a:latin typeface="Arial" panose="020B0604020202020204" pitchFamily="34" charset="0"/>
                <a:cs typeface="Arial" panose="020B0604020202020204" pitchFamily="34" charset="0"/>
              </a:rPr>
              <a:t>larger the training </a:t>
            </a:r>
            <a:r>
              <a:rPr lang="en-US" sz="2400" dirty="0">
                <a:latin typeface="Arial" panose="020B0604020202020204" pitchFamily="34" charset="0"/>
                <a:cs typeface="Arial" panose="020B0604020202020204" pitchFamily="34" charset="0"/>
              </a:rPr>
              <a:t>data the </a:t>
            </a:r>
            <a:r>
              <a:rPr lang="en-US" sz="2400" i="1" u="sng" dirty="0">
                <a:latin typeface="Arial" panose="020B0604020202020204" pitchFamily="34" charset="0"/>
                <a:cs typeface="Arial" panose="020B0604020202020204" pitchFamily="34" charset="0"/>
              </a:rPr>
              <a:t>better the classifier </a:t>
            </a:r>
            <a:r>
              <a:rPr lang="en-US" sz="2400" dirty="0">
                <a:latin typeface="Arial" panose="020B0604020202020204" pitchFamily="34" charset="0"/>
                <a:cs typeface="Arial" panose="020B0604020202020204" pitchFamily="34" charset="0"/>
              </a:rPr>
              <a:t>(but returns diminish).</a:t>
            </a:r>
          </a:p>
          <a:p>
            <a:pPr marL="447675" indent="-447675">
              <a:lnSpc>
                <a:spcPct val="120000"/>
              </a:lnSpc>
              <a:spcBef>
                <a:spcPts val="600"/>
              </a:spcBef>
            </a:pPr>
            <a:r>
              <a:rPr lang="en-US" sz="2400" dirty="0">
                <a:latin typeface="Arial" panose="020B0604020202020204" pitchFamily="34" charset="0"/>
                <a:cs typeface="Arial" panose="020B0604020202020204" pitchFamily="34" charset="0"/>
              </a:rPr>
              <a:t>The </a:t>
            </a:r>
            <a:r>
              <a:rPr lang="en-US" sz="2400" i="1" u="sng" dirty="0">
                <a:latin typeface="Arial" panose="020B0604020202020204" pitchFamily="34" charset="0"/>
                <a:cs typeface="Arial" panose="020B0604020202020204" pitchFamily="34" charset="0"/>
              </a:rPr>
              <a:t>larger the test data </a:t>
            </a:r>
            <a:r>
              <a:rPr lang="en-US" sz="2400" dirty="0">
                <a:latin typeface="Arial" panose="020B0604020202020204" pitchFamily="34" charset="0"/>
                <a:cs typeface="Arial" panose="020B0604020202020204" pitchFamily="34" charset="0"/>
              </a:rPr>
              <a:t>the </a:t>
            </a:r>
            <a:r>
              <a:rPr lang="en-US" sz="2400" i="1" u="sng" dirty="0">
                <a:latin typeface="Arial" panose="020B0604020202020204" pitchFamily="34" charset="0"/>
                <a:cs typeface="Arial" panose="020B0604020202020204" pitchFamily="34" charset="0"/>
              </a:rPr>
              <a:t>more accurate the error estimate.</a:t>
            </a:r>
          </a:p>
        </p:txBody>
      </p:sp>
    </p:spTree>
    <p:extLst>
      <p:ext uri="{BB962C8B-B14F-4D97-AF65-F5344CB8AC3E}">
        <p14:creationId xmlns:p14="http://schemas.microsoft.com/office/powerpoint/2010/main" val="1410555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Stratification</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225425" indent="-225425">
              <a:lnSpc>
                <a:spcPct val="120000"/>
              </a:lnSpc>
              <a:spcBef>
                <a:spcPts val="600"/>
              </a:spcBef>
            </a:pPr>
            <a:r>
              <a:rPr lang="en-US" sz="2400" dirty="0">
                <a:latin typeface="Arial" panose="020B0604020202020204" pitchFamily="34" charset="0"/>
                <a:cs typeface="Arial" panose="020B0604020202020204" pitchFamily="34" charset="0"/>
              </a:rPr>
              <a:t>The </a:t>
            </a:r>
            <a:r>
              <a:rPr lang="en-US" sz="2400" i="1" dirty="0">
                <a:latin typeface="Arial" panose="020B0604020202020204" pitchFamily="34" charset="0"/>
                <a:cs typeface="Arial" panose="020B0604020202020204" pitchFamily="34" charset="0"/>
              </a:rPr>
              <a:t>holdout</a:t>
            </a:r>
            <a:r>
              <a:rPr lang="en-US" sz="2400" dirty="0">
                <a:latin typeface="Arial" panose="020B0604020202020204" pitchFamily="34" charset="0"/>
                <a:cs typeface="Arial" panose="020B0604020202020204" pitchFamily="34" charset="0"/>
              </a:rPr>
              <a:t> method reserves a certain amount for testing and uses the remainder for training.</a:t>
            </a:r>
          </a:p>
          <a:p>
            <a:pPr marL="566738" lvl="1" indent="-225425">
              <a:lnSpc>
                <a:spcPct val="120000"/>
              </a:lnSpc>
              <a:spcBef>
                <a:spcPts val="600"/>
              </a:spcBef>
            </a:pPr>
            <a:r>
              <a:rPr lang="en-US" i="1" dirty="0">
                <a:latin typeface="Arial" panose="020B0604020202020204" pitchFamily="34" charset="0"/>
                <a:cs typeface="Arial" panose="020B0604020202020204" pitchFamily="34" charset="0"/>
              </a:rPr>
              <a:t>Usually: one third for testing, the rest for training.</a:t>
            </a:r>
          </a:p>
          <a:p>
            <a:pPr marL="225425" indent="-225425">
              <a:lnSpc>
                <a:spcPct val="120000"/>
              </a:lnSpc>
              <a:spcBef>
                <a:spcPts val="600"/>
              </a:spcBef>
            </a:pPr>
            <a:r>
              <a:rPr lang="en-US" sz="2400" dirty="0">
                <a:latin typeface="Arial" panose="020B0604020202020204" pitchFamily="34" charset="0"/>
                <a:cs typeface="Arial" panose="020B0604020202020204" pitchFamily="34" charset="0"/>
              </a:rPr>
              <a:t>For “imbalanced” datasets, samples might not be representative.</a:t>
            </a:r>
          </a:p>
          <a:p>
            <a:pPr marL="566738" lvl="1" indent="-225425">
              <a:lnSpc>
                <a:spcPct val="120000"/>
              </a:lnSpc>
              <a:spcBef>
                <a:spcPts val="600"/>
              </a:spcBef>
            </a:pPr>
            <a:r>
              <a:rPr lang="en-US" i="1" dirty="0">
                <a:latin typeface="Arial" panose="020B0604020202020204" pitchFamily="34" charset="0"/>
                <a:cs typeface="Arial" panose="020B0604020202020204" pitchFamily="34" charset="0"/>
              </a:rPr>
              <a:t>Few or no instances from some classes.</a:t>
            </a:r>
          </a:p>
          <a:p>
            <a:pPr marL="225425" indent="-225425">
              <a:lnSpc>
                <a:spcPct val="120000"/>
              </a:lnSpc>
              <a:spcBef>
                <a:spcPts val="600"/>
              </a:spcBef>
            </a:pPr>
            <a:r>
              <a:rPr lang="en-US" sz="2400" b="1" dirty="0">
                <a:latin typeface="Arial" panose="020B0604020202020204" pitchFamily="34" charset="0"/>
                <a:cs typeface="Arial" panose="020B0604020202020204" pitchFamily="34" charset="0"/>
              </a:rPr>
              <a:t>Stratified sampling: advanced version of balancing the data.</a:t>
            </a:r>
          </a:p>
          <a:p>
            <a:pPr marL="566738" lvl="1" indent="-225425">
              <a:lnSpc>
                <a:spcPct val="120000"/>
              </a:lnSpc>
              <a:spcBef>
                <a:spcPts val="600"/>
              </a:spcBef>
            </a:pPr>
            <a:r>
              <a:rPr lang="en-US" i="1" dirty="0">
                <a:latin typeface="Arial" panose="020B0604020202020204" pitchFamily="34" charset="0"/>
                <a:cs typeface="Arial" panose="020B0604020202020204" pitchFamily="34" charset="0"/>
              </a:rPr>
              <a:t>Make sure that each class is represented with approximately equal proportions in the subsets.</a:t>
            </a:r>
          </a:p>
        </p:txBody>
      </p:sp>
    </p:spTree>
    <p:extLst>
      <p:ext uri="{BB962C8B-B14F-4D97-AF65-F5344CB8AC3E}">
        <p14:creationId xmlns:p14="http://schemas.microsoft.com/office/powerpoint/2010/main" val="3593691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DEB6D-39BE-8F5B-2130-53EEB0D2F2F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A4A985D-DE4D-8F45-DCAC-CADF2C77608C}"/>
              </a:ext>
            </a:extLst>
          </p:cNvPr>
          <p:cNvSpPr>
            <a:spLocks noGrp="1"/>
          </p:cNvSpPr>
          <p:nvPr>
            <p:ph type="title"/>
          </p:nvPr>
        </p:nvSpPr>
        <p:spPr/>
        <p:txBody>
          <a:bodyPr>
            <a:noAutofit/>
          </a:bodyPr>
          <a:lstStyle/>
          <a:p>
            <a:r>
              <a:rPr lang="en-US" b="1" dirty="0"/>
              <a:t>Stratification</a:t>
            </a:r>
          </a:p>
        </p:txBody>
      </p:sp>
      <p:sp>
        <p:nvSpPr>
          <p:cNvPr id="6" name="Content Placeholder 2">
            <a:extLst>
              <a:ext uri="{FF2B5EF4-FFF2-40B4-BE49-F238E27FC236}">
                <a16:creationId xmlns:a16="http://schemas.microsoft.com/office/drawing/2014/main" id="{8D46DCA0-46FE-701F-F0A4-AC8A5BC39785}"/>
              </a:ext>
            </a:extLst>
          </p:cNvPr>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225425" indent="-225425">
              <a:lnSpc>
                <a:spcPct val="120000"/>
              </a:lnSpc>
              <a:spcBef>
                <a:spcPts val="600"/>
              </a:spcBef>
            </a:pPr>
            <a:r>
              <a:rPr lang="en-US" dirty="0"/>
              <a:t>Stratification is the process of dividing a large, heterogeneous population into smaller, distinct subgroups—called strata—that share similar characteristics. </a:t>
            </a:r>
          </a:p>
          <a:p>
            <a:pPr marL="225425" indent="-225425">
              <a:lnSpc>
                <a:spcPct val="120000"/>
              </a:lnSpc>
              <a:spcBef>
                <a:spcPts val="600"/>
              </a:spcBef>
            </a:pPr>
            <a:r>
              <a:rPr lang="en-US" dirty="0"/>
              <a:t>This technique ensures that each subgroup is adequately represented in a sample, which improves the accuracy and reliability of statistical analyses.</a:t>
            </a:r>
          </a:p>
          <a:p>
            <a:pPr marL="225425" indent="-225425">
              <a:lnSpc>
                <a:spcPct val="120000"/>
              </a:lnSpc>
              <a:spcBef>
                <a:spcPts val="600"/>
              </a:spcBef>
            </a:pPr>
            <a:r>
              <a:rPr lang="en-US" b="1" i="1" u="sng" dirty="0">
                <a:latin typeface="Arial" panose="020B0604020202020204" pitchFamily="34" charset="0"/>
                <a:cs typeface="Arial" panose="020B0604020202020204" pitchFamily="34" charset="0"/>
              </a:rPr>
              <a:t>Note that,</a:t>
            </a:r>
            <a:r>
              <a:rPr lang="en-US" i="1" dirty="0">
                <a:latin typeface="Arial" panose="020B0604020202020204" pitchFamily="34" charset="0"/>
                <a:cs typeface="Arial" panose="020B0604020202020204" pitchFamily="34" charset="0"/>
              </a:rPr>
              <a:t> we will later discuss "imbalanced data" and suggest that we need to ensure "approximately balanced" </a:t>
            </a:r>
            <a:r>
              <a:rPr lang="en-US" b="1" i="1" dirty="0">
                <a:latin typeface="Arial" panose="020B0604020202020204" pitchFamily="34" charset="0"/>
                <a:cs typeface="Arial" panose="020B0604020202020204" pitchFamily="34" charset="0"/>
              </a:rPr>
              <a:t>training set</a:t>
            </a:r>
            <a:r>
              <a:rPr lang="en-US"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079942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solidFill>
                  <a:srgbClr val="00B050"/>
                </a:solidFill>
              </a:rPr>
              <a:t>Repeated</a:t>
            </a:r>
            <a:r>
              <a:rPr lang="en-US" b="1" dirty="0"/>
              <a:t> Holdout Method</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buNone/>
            </a:pPr>
            <a:endParaRPr lang="tr-TR" sz="2400" dirty="0">
              <a:latin typeface="Arial" panose="020B0604020202020204" pitchFamily="34" charset="0"/>
              <a:cs typeface="Arial" panose="020B0604020202020204" pitchFamily="34" charset="0"/>
            </a:endParaRPr>
          </a:p>
          <a:p>
            <a:pPr marL="0" indent="0">
              <a:lnSpc>
                <a:spcPct val="120000"/>
              </a:lnSpc>
              <a:spcBef>
                <a:spcPts val="600"/>
              </a:spcBef>
              <a:buNone/>
            </a:pPr>
            <a:endParaRPr lang="tr-TR"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In general, estimates can be made more reliable by repeated sampling</a:t>
            </a:r>
          </a:p>
          <a:p>
            <a:pPr lvl="1">
              <a:lnSpc>
                <a:spcPct val="120000"/>
              </a:lnSpc>
              <a:spcBef>
                <a:spcPts val="600"/>
              </a:spcBef>
            </a:pPr>
            <a:r>
              <a:rPr lang="en-US" dirty="0">
                <a:latin typeface="Arial" panose="020B0604020202020204" pitchFamily="34" charset="0"/>
                <a:cs typeface="Arial" panose="020B0604020202020204" pitchFamily="34" charset="0"/>
              </a:rPr>
              <a:t>Each iteration, a certain proportion is randomly selected for training (possibly with stratification).</a:t>
            </a:r>
          </a:p>
          <a:p>
            <a:pPr lvl="1">
              <a:lnSpc>
                <a:spcPct val="120000"/>
              </a:lnSpc>
              <a:spcBef>
                <a:spcPts val="600"/>
              </a:spcBef>
            </a:pPr>
            <a:r>
              <a:rPr lang="en-US" dirty="0">
                <a:latin typeface="Arial" panose="020B0604020202020204" pitchFamily="34" charset="0"/>
                <a:cs typeface="Arial" panose="020B0604020202020204" pitchFamily="34" charset="0"/>
              </a:rPr>
              <a:t>The error rates on the different iterations are averaged to yield an overall error rate.</a:t>
            </a:r>
          </a:p>
          <a:p>
            <a:pPr>
              <a:lnSpc>
                <a:spcPct val="120000"/>
              </a:lnSpc>
              <a:spcBef>
                <a:spcPts val="600"/>
              </a:spcBef>
              <a:buNone/>
            </a:pPr>
            <a:endParaRPr lang="en-US"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This is called the </a:t>
            </a:r>
            <a:r>
              <a:rPr lang="en-US" sz="2400" i="1" dirty="0">
                <a:latin typeface="Arial" panose="020B0604020202020204" pitchFamily="34" charset="0"/>
                <a:cs typeface="Arial" panose="020B0604020202020204" pitchFamily="34" charset="0"/>
              </a:rPr>
              <a:t>repeated holdout </a:t>
            </a:r>
            <a:r>
              <a:rPr lang="en-US" sz="2400" dirty="0">
                <a:latin typeface="Arial" panose="020B0604020202020204" pitchFamily="34" charset="0"/>
                <a:cs typeface="Arial" panose="020B0604020202020204" pitchFamily="34" charset="0"/>
              </a:rPr>
              <a:t>method.</a:t>
            </a:r>
          </a:p>
        </p:txBody>
      </p:sp>
    </p:spTree>
    <p:extLst>
      <p:ext uri="{BB962C8B-B14F-4D97-AF65-F5344CB8AC3E}">
        <p14:creationId xmlns:p14="http://schemas.microsoft.com/office/powerpoint/2010/main" val="9734591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solidFill>
                  <a:srgbClr val="00B050"/>
                </a:solidFill>
              </a:rPr>
              <a:t>Repeated</a:t>
            </a:r>
            <a:r>
              <a:rPr lang="en-US" b="1" dirty="0"/>
              <a:t> Holdout Method </a:t>
            </a:r>
            <a:r>
              <a:rPr lang="tr-TR" b="1" dirty="0"/>
              <a:t>(</a:t>
            </a:r>
            <a:r>
              <a:rPr lang="en-US" b="1" dirty="0"/>
              <a:t>2</a:t>
            </a:r>
            <a:r>
              <a:rPr lang="tr-TR" b="1" dirty="0"/>
              <a:t>)</a:t>
            </a:r>
            <a:endParaRPr lang="en-US" b="1" dirty="0"/>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buNone/>
            </a:pPr>
            <a:endParaRPr lang="tr-TR" sz="2400" dirty="0">
              <a:latin typeface="Arial" panose="020B0604020202020204" pitchFamily="34" charset="0"/>
              <a:cs typeface="Arial" panose="020B0604020202020204" pitchFamily="34" charset="0"/>
            </a:endParaRPr>
          </a:p>
          <a:p>
            <a:pPr marL="0" indent="0">
              <a:lnSpc>
                <a:spcPct val="120000"/>
              </a:lnSpc>
              <a:spcBef>
                <a:spcPts val="600"/>
              </a:spcBef>
              <a:buNone/>
            </a:pPr>
            <a:endParaRPr lang="tr-TR" sz="2400" dirty="0">
              <a:latin typeface="Arial" panose="020B0604020202020204" pitchFamily="34" charset="0"/>
              <a:cs typeface="Arial" panose="020B0604020202020204" pitchFamily="34" charset="0"/>
            </a:endParaRPr>
          </a:p>
          <a:p>
            <a:pPr>
              <a:lnSpc>
                <a:spcPct val="120000"/>
              </a:lnSpc>
              <a:spcBef>
                <a:spcPts val="600"/>
              </a:spcBef>
            </a:pPr>
            <a:r>
              <a:rPr lang="en-US" sz="2600" dirty="0">
                <a:latin typeface="Arial" panose="020B0604020202020204" pitchFamily="34" charset="0"/>
                <a:cs typeface="Arial" panose="020B0604020202020204" pitchFamily="34" charset="0"/>
              </a:rPr>
              <a:t>Random sampling ≠ optimal </a:t>
            </a:r>
          </a:p>
          <a:p>
            <a:pPr lvl="1">
              <a:lnSpc>
                <a:spcPct val="120000"/>
              </a:lnSpc>
              <a:spcBef>
                <a:spcPts val="600"/>
              </a:spcBef>
            </a:pPr>
            <a:r>
              <a:rPr lang="en-US" sz="2600" dirty="0">
                <a:latin typeface="Arial" panose="020B0604020202020204" pitchFamily="34" charset="0"/>
                <a:cs typeface="Arial" panose="020B0604020202020204" pitchFamily="34" charset="0"/>
              </a:rPr>
              <a:t>the different test sets overlap</a:t>
            </a:r>
          </a:p>
          <a:p>
            <a:pPr lvl="1">
              <a:lnSpc>
                <a:spcPct val="120000"/>
              </a:lnSpc>
              <a:spcBef>
                <a:spcPts val="600"/>
              </a:spcBef>
            </a:pPr>
            <a:r>
              <a:rPr lang="en-US" sz="2600" dirty="0">
                <a:latin typeface="Arial" panose="020B0604020202020204" pitchFamily="34" charset="0"/>
                <a:cs typeface="Arial" panose="020B0604020202020204" pitchFamily="34" charset="0"/>
              </a:rPr>
              <a:t>we would like all our instances from the data to be tested at least once </a:t>
            </a:r>
          </a:p>
          <a:p>
            <a:pPr>
              <a:lnSpc>
                <a:spcPct val="120000"/>
              </a:lnSpc>
              <a:spcBef>
                <a:spcPts val="600"/>
              </a:spcBef>
            </a:pPr>
            <a:r>
              <a:rPr lang="en-US" sz="2600" dirty="0">
                <a:latin typeface="Arial" panose="020B0604020202020204" pitchFamily="34" charset="0"/>
                <a:cs typeface="Arial" panose="020B0604020202020204" pitchFamily="34" charset="0"/>
              </a:rPr>
              <a:t>Can we prevent overlapping?</a:t>
            </a:r>
          </a:p>
        </p:txBody>
      </p:sp>
    </p:spTree>
    <p:extLst>
      <p:ext uri="{BB962C8B-B14F-4D97-AF65-F5344CB8AC3E}">
        <p14:creationId xmlns:p14="http://schemas.microsoft.com/office/powerpoint/2010/main" val="5406710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i="1" dirty="0"/>
              <a:t>k</a:t>
            </a:r>
            <a:r>
              <a:rPr lang="en-US" b="1" dirty="0"/>
              <a:t>-Fold Cross-Validation</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600"/>
              </a:spcBef>
            </a:pPr>
            <a:r>
              <a:rPr lang="en-US" sz="2400" i="1" dirty="0">
                <a:latin typeface="Arial" panose="020B0604020202020204" pitchFamily="34" charset="0"/>
                <a:cs typeface="Arial" panose="020B0604020202020204" pitchFamily="34" charset="0"/>
              </a:rPr>
              <a:t>k-fold cross-validation</a:t>
            </a:r>
            <a:r>
              <a:rPr lang="en-US" sz="2400" dirty="0">
                <a:latin typeface="Arial" panose="020B0604020202020204" pitchFamily="34" charset="0"/>
                <a:cs typeface="Arial" panose="020B0604020202020204" pitchFamily="34" charset="0"/>
              </a:rPr>
              <a:t> avoids overlapping test sets:</a:t>
            </a:r>
          </a:p>
          <a:p>
            <a:pPr lvl="1">
              <a:lnSpc>
                <a:spcPct val="110000"/>
              </a:lnSpc>
              <a:spcBef>
                <a:spcPts val="600"/>
              </a:spcBef>
            </a:pPr>
            <a:r>
              <a:rPr lang="en-US" i="1" dirty="0">
                <a:latin typeface="Arial" panose="020B0604020202020204" pitchFamily="34" charset="0"/>
                <a:cs typeface="Arial" panose="020B0604020202020204" pitchFamily="34" charset="0"/>
              </a:rPr>
              <a:t>First step</a:t>
            </a:r>
            <a:r>
              <a:rPr lang="en-US" dirty="0">
                <a:latin typeface="Arial" panose="020B0604020202020204" pitchFamily="34" charset="0"/>
                <a:cs typeface="Arial" panose="020B0604020202020204" pitchFamily="34" charset="0"/>
              </a:rPr>
              <a:t>: data is split into </a:t>
            </a:r>
            <a:r>
              <a:rPr lang="en-US" i="1" dirty="0">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subsets of equal size;</a:t>
            </a:r>
          </a:p>
          <a:p>
            <a:pPr lvl="1">
              <a:lnSpc>
                <a:spcPct val="110000"/>
              </a:lnSpc>
              <a:spcBef>
                <a:spcPts val="600"/>
              </a:spcBef>
            </a:pPr>
            <a:r>
              <a:rPr lang="en-US" i="1" dirty="0">
                <a:latin typeface="Arial" panose="020B0604020202020204" pitchFamily="34" charset="0"/>
                <a:cs typeface="Arial" panose="020B0604020202020204" pitchFamily="34" charset="0"/>
              </a:rPr>
              <a:t>Second step</a:t>
            </a:r>
            <a:r>
              <a:rPr lang="en-US" dirty="0">
                <a:latin typeface="Arial" panose="020B0604020202020204" pitchFamily="34" charset="0"/>
                <a:cs typeface="Arial" panose="020B0604020202020204" pitchFamily="34" charset="0"/>
              </a:rPr>
              <a:t>: each subset in turn is used for testing and the remainder for training.</a:t>
            </a:r>
          </a:p>
          <a:p>
            <a:pPr>
              <a:lnSpc>
                <a:spcPct val="110000"/>
              </a:lnSpc>
              <a:spcBef>
                <a:spcPts val="600"/>
              </a:spcBef>
            </a:pPr>
            <a:r>
              <a:rPr lang="en-US" sz="2400" dirty="0">
                <a:latin typeface="Arial" panose="020B0604020202020204" pitchFamily="34" charset="0"/>
                <a:cs typeface="Arial" panose="020B0604020202020204" pitchFamily="34" charset="0"/>
              </a:rPr>
              <a:t>The subsets are stratified </a:t>
            </a:r>
          </a:p>
          <a:p>
            <a:pPr>
              <a:lnSpc>
                <a:spcPct val="110000"/>
              </a:lnSpc>
              <a:spcBef>
                <a:spcPts val="600"/>
              </a:spcBef>
              <a:buFontTx/>
              <a:buNone/>
            </a:pPr>
            <a:r>
              <a:rPr lang="en-US" sz="2400" dirty="0">
                <a:latin typeface="Arial" panose="020B0604020202020204" pitchFamily="34" charset="0"/>
                <a:cs typeface="Arial" panose="020B0604020202020204" pitchFamily="34" charset="0"/>
              </a:rPr>
              <a:t>	before the cross-validation.</a:t>
            </a:r>
          </a:p>
          <a:p>
            <a:pPr>
              <a:lnSpc>
                <a:spcPct val="110000"/>
              </a:lnSpc>
              <a:spcBef>
                <a:spcPts val="600"/>
              </a:spcBef>
            </a:pPr>
            <a:r>
              <a:rPr lang="en-US" sz="2400" dirty="0">
                <a:latin typeface="Arial" panose="020B0604020202020204" pitchFamily="34" charset="0"/>
                <a:cs typeface="Arial" panose="020B0604020202020204" pitchFamily="34" charset="0"/>
              </a:rPr>
              <a:t>The estimates are averaged to </a:t>
            </a:r>
          </a:p>
          <a:p>
            <a:pPr>
              <a:lnSpc>
                <a:spcPct val="110000"/>
              </a:lnSpc>
              <a:spcBef>
                <a:spcPts val="600"/>
              </a:spcBef>
              <a:buFontTx/>
              <a:buNone/>
            </a:pPr>
            <a:r>
              <a:rPr lang="en-US" sz="2400" dirty="0">
                <a:latin typeface="Arial" panose="020B0604020202020204" pitchFamily="34" charset="0"/>
                <a:cs typeface="Arial" panose="020B0604020202020204" pitchFamily="34" charset="0"/>
              </a:rPr>
              <a:t>	yield an overall estimate.</a:t>
            </a:r>
          </a:p>
        </p:txBody>
      </p:sp>
      <p:grpSp>
        <p:nvGrpSpPr>
          <p:cNvPr id="4" name="Group 3"/>
          <p:cNvGrpSpPr/>
          <p:nvPr/>
        </p:nvGrpSpPr>
        <p:grpSpPr>
          <a:xfrm>
            <a:off x="5334000" y="3641437"/>
            <a:ext cx="6019800" cy="2960687"/>
            <a:chOff x="5334000" y="3636585"/>
            <a:chExt cx="6019800" cy="2960687"/>
          </a:xfrm>
        </p:grpSpPr>
        <p:sp>
          <p:nvSpPr>
            <p:cNvPr id="5" name="Text Box 6"/>
            <p:cNvSpPr txBox="1">
              <a:spLocks noChangeArrowheads="1"/>
            </p:cNvSpPr>
            <p:nvPr/>
          </p:nvSpPr>
          <p:spPr bwMode="auto">
            <a:xfrm>
              <a:off x="8610600" y="3636585"/>
              <a:ext cx="2286000" cy="369887"/>
            </a:xfrm>
            <a:prstGeom prst="rect">
              <a:avLst/>
            </a:prstGeom>
            <a:solidFill>
              <a:schemeClr val="accent1"/>
            </a:solidFill>
            <a:ln w="9525">
              <a:solidFill>
                <a:schemeClr val="accent1"/>
              </a:solidFill>
              <a:miter lim="800000"/>
              <a:headEnd/>
              <a:tailEnd/>
            </a:ln>
          </p:spPr>
          <p:txBody>
            <a:bodyPr>
              <a:spAutoFit/>
            </a:bodyPr>
            <a:lstStyle/>
            <a:p>
              <a:pPr algn="ctr">
                <a:spcBef>
                  <a:spcPct val="50000"/>
                </a:spcBef>
              </a:pPr>
              <a:r>
                <a:rPr lang="en-US" b="1" i="1">
                  <a:solidFill>
                    <a:schemeClr val="bg1"/>
                  </a:solidFill>
                  <a:latin typeface="Calibri" pitchFamily="34" charset="0"/>
                </a:rPr>
                <a:t>Classifier</a:t>
              </a:r>
            </a:p>
          </p:txBody>
        </p:sp>
        <p:sp>
          <p:nvSpPr>
            <p:cNvPr id="7" name="Text Box 7"/>
            <p:cNvSpPr txBox="1">
              <a:spLocks noChangeArrowheads="1"/>
            </p:cNvSpPr>
            <p:nvPr/>
          </p:nvSpPr>
          <p:spPr bwMode="auto">
            <a:xfrm>
              <a:off x="5334000" y="5617785"/>
              <a:ext cx="2286000" cy="369887"/>
            </a:xfrm>
            <a:prstGeom prst="rect">
              <a:avLst/>
            </a:prstGeom>
            <a:solidFill>
              <a:schemeClr val="accent1"/>
            </a:solidFill>
            <a:ln w="9525">
              <a:solidFill>
                <a:schemeClr val="accent1"/>
              </a:solidFill>
              <a:miter lim="800000"/>
              <a:headEnd/>
              <a:tailEnd/>
            </a:ln>
          </p:spPr>
          <p:txBody>
            <a:bodyPr>
              <a:spAutoFit/>
            </a:bodyPr>
            <a:lstStyle/>
            <a:p>
              <a:pPr algn="ctr">
                <a:spcBef>
                  <a:spcPct val="50000"/>
                </a:spcBef>
              </a:pPr>
              <a:r>
                <a:rPr lang="en-US" b="1" i="1">
                  <a:solidFill>
                    <a:schemeClr val="bg1"/>
                  </a:solidFill>
                  <a:latin typeface="Calibri" pitchFamily="34" charset="0"/>
                </a:rPr>
                <a:t>Data</a:t>
              </a:r>
            </a:p>
          </p:txBody>
        </p:sp>
        <p:grpSp>
          <p:nvGrpSpPr>
            <p:cNvPr id="8" name="Group 8"/>
            <p:cNvGrpSpPr>
              <a:grpSpLocks/>
            </p:cNvGrpSpPr>
            <p:nvPr/>
          </p:nvGrpSpPr>
          <p:grpSpPr bwMode="auto">
            <a:xfrm>
              <a:off x="8242300" y="5008185"/>
              <a:ext cx="3048000" cy="369887"/>
              <a:chOff x="2120" y="2784"/>
              <a:chExt cx="1920" cy="233"/>
            </a:xfrm>
          </p:grpSpPr>
          <p:sp>
            <p:nvSpPr>
              <p:cNvPr id="33" name="Text Box 9"/>
              <p:cNvSpPr txBox="1">
                <a:spLocks noChangeArrowheads="1"/>
              </p:cNvSpPr>
              <p:nvPr/>
            </p:nvSpPr>
            <p:spPr bwMode="auto">
              <a:xfrm>
                <a:off x="2120" y="2784"/>
                <a:ext cx="576" cy="233"/>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a:t>
                </a:r>
              </a:p>
            </p:txBody>
          </p:sp>
          <p:sp>
            <p:nvSpPr>
              <p:cNvPr id="34" name="Text Box 10"/>
              <p:cNvSpPr txBox="1">
                <a:spLocks noChangeArrowheads="1"/>
              </p:cNvSpPr>
              <p:nvPr/>
            </p:nvSpPr>
            <p:spPr bwMode="auto">
              <a:xfrm>
                <a:off x="2792" y="2784"/>
                <a:ext cx="576" cy="233"/>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a:t>
                </a:r>
              </a:p>
            </p:txBody>
          </p:sp>
          <p:sp>
            <p:nvSpPr>
              <p:cNvPr id="35" name="Text Box 11"/>
              <p:cNvSpPr txBox="1">
                <a:spLocks noChangeArrowheads="1"/>
              </p:cNvSpPr>
              <p:nvPr/>
            </p:nvSpPr>
            <p:spPr bwMode="auto">
              <a:xfrm>
                <a:off x="3464" y="2784"/>
                <a:ext cx="576" cy="233"/>
              </a:xfrm>
              <a:prstGeom prst="rect">
                <a:avLst/>
              </a:prstGeom>
              <a:solidFill>
                <a:srgbClr val="0000FF"/>
              </a:solidFill>
              <a:ln w="9525">
                <a:solidFill>
                  <a:srgbClr val="0000FF"/>
                </a:solidFill>
                <a:miter lim="800000"/>
                <a:headEnd/>
                <a:tailEnd/>
              </a:ln>
            </p:spPr>
            <p:txBody>
              <a:bodyPr>
                <a:spAutoFit/>
              </a:bodyPr>
              <a:lstStyle/>
              <a:p>
                <a:pPr algn="ctr">
                  <a:spcBef>
                    <a:spcPct val="50000"/>
                  </a:spcBef>
                </a:pPr>
                <a:r>
                  <a:rPr lang="en-US" b="1" i="1">
                    <a:solidFill>
                      <a:schemeClr val="bg1"/>
                    </a:solidFill>
                    <a:latin typeface="Calibri" pitchFamily="34" charset="0"/>
                  </a:rPr>
                  <a:t>test</a:t>
                </a:r>
              </a:p>
            </p:txBody>
          </p:sp>
        </p:grpSp>
        <p:grpSp>
          <p:nvGrpSpPr>
            <p:cNvPr id="9" name="Group 12"/>
            <p:cNvGrpSpPr>
              <a:grpSpLocks/>
            </p:cNvGrpSpPr>
            <p:nvPr/>
          </p:nvGrpSpPr>
          <p:grpSpPr bwMode="auto">
            <a:xfrm>
              <a:off x="8242300" y="5617785"/>
              <a:ext cx="3048000" cy="369887"/>
              <a:chOff x="2120" y="3168"/>
              <a:chExt cx="1920" cy="233"/>
            </a:xfrm>
          </p:grpSpPr>
          <p:sp>
            <p:nvSpPr>
              <p:cNvPr id="30" name="Text Box 13"/>
              <p:cNvSpPr txBox="1">
                <a:spLocks noChangeArrowheads="1"/>
              </p:cNvSpPr>
              <p:nvPr/>
            </p:nvSpPr>
            <p:spPr bwMode="auto">
              <a:xfrm>
                <a:off x="2120" y="3168"/>
                <a:ext cx="576" cy="233"/>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a:t>
                </a:r>
              </a:p>
            </p:txBody>
          </p:sp>
          <p:sp>
            <p:nvSpPr>
              <p:cNvPr id="31" name="Text Box 14"/>
              <p:cNvSpPr txBox="1">
                <a:spLocks noChangeArrowheads="1"/>
              </p:cNvSpPr>
              <p:nvPr/>
            </p:nvSpPr>
            <p:spPr bwMode="auto">
              <a:xfrm>
                <a:off x="2792" y="3168"/>
                <a:ext cx="576" cy="233"/>
              </a:xfrm>
              <a:prstGeom prst="rect">
                <a:avLst/>
              </a:prstGeom>
              <a:solidFill>
                <a:srgbClr val="0000FF"/>
              </a:solidFill>
              <a:ln w="9525">
                <a:solidFill>
                  <a:srgbClr val="0000FF"/>
                </a:solidFill>
                <a:miter lim="800000"/>
                <a:headEnd/>
                <a:tailEnd/>
              </a:ln>
            </p:spPr>
            <p:txBody>
              <a:bodyPr>
                <a:spAutoFit/>
              </a:bodyPr>
              <a:lstStyle/>
              <a:p>
                <a:pPr algn="ctr">
                  <a:spcBef>
                    <a:spcPct val="50000"/>
                  </a:spcBef>
                </a:pPr>
                <a:r>
                  <a:rPr lang="en-US" b="1" i="1">
                    <a:solidFill>
                      <a:schemeClr val="bg1"/>
                    </a:solidFill>
                    <a:latin typeface="Calibri" pitchFamily="34" charset="0"/>
                  </a:rPr>
                  <a:t>test</a:t>
                </a:r>
              </a:p>
            </p:txBody>
          </p:sp>
          <p:sp>
            <p:nvSpPr>
              <p:cNvPr id="32" name="Text Box 15"/>
              <p:cNvSpPr txBox="1">
                <a:spLocks noChangeArrowheads="1"/>
              </p:cNvSpPr>
              <p:nvPr/>
            </p:nvSpPr>
            <p:spPr bwMode="auto">
              <a:xfrm>
                <a:off x="3464" y="3168"/>
                <a:ext cx="576" cy="233"/>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a:t>
                </a:r>
              </a:p>
            </p:txBody>
          </p:sp>
        </p:grpSp>
        <p:grpSp>
          <p:nvGrpSpPr>
            <p:cNvPr id="10" name="Group 16"/>
            <p:cNvGrpSpPr>
              <a:grpSpLocks/>
            </p:cNvGrpSpPr>
            <p:nvPr/>
          </p:nvGrpSpPr>
          <p:grpSpPr bwMode="auto">
            <a:xfrm>
              <a:off x="8242300" y="6227385"/>
              <a:ext cx="3048000" cy="369887"/>
              <a:chOff x="2120" y="3552"/>
              <a:chExt cx="1920" cy="233"/>
            </a:xfrm>
          </p:grpSpPr>
          <p:sp>
            <p:nvSpPr>
              <p:cNvPr id="27" name="Text Box 17"/>
              <p:cNvSpPr txBox="1">
                <a:spLocks noChangeArrowheads="1"/>
              </p:cNvSpPr>
              <p:nvPr/>
            </p:nvSpPr>
            <p:spPr bwMode="auto">
              <a:xfrm>
                <a:off x="2120" y="3552"/>
                <a:ext cx="576" cy="233"/>
              </a:xfrm>
              <a:prstGeom prst="rect">
                <a:avLst/>
              </a:prstGeom>
              <a:solidFill>
                <a:srgbClr val="0000FF"/>
              </a:solidFill>
              <a:ln w="9525">
                <a:solidFill>
                  <a:srgbClr val="0000FF"/>
                </a:solidFill>
                <a:miter lim="800000"/>
                <a:headEnd/>
                <a:tailEnd/>
              </a:ln>
            </p:spPr>
            <p:txBody>
              <a:bodyPr>
                <a:spAutoFit/>
              </a:bodyPr>
              <a:lstStyle/>
              <a:p>
                <a:pPr algn="ctr">
                  <a:spcBef>
                    <a:spcPct val="50000"/>
                  </a:spcBef>
                </a:pPr>
                <a:r>
                  <a:rPr lang="en-US" b="1" i="1">
                    <a:solidFill>
                      <a:schemeClr val="bg1"/>
                    </a:solidFill>
                    <a:latin typeface="Calibri" pitchFamily="34" charset="0"/>
                  </a:rPr>
                  <a:t>test</a:t>
                </a:r>
              </a:p>
            </p:txBody>
          </p:sp>
          <p:sp>
            <p:nvSpPr>
              <p:cNvPr id="28" name="Text Box 18"/>
              <p:cNvSpPr txBox="1">
                <a:spLocks noChangeArrowheads="1"/>
              </p:cNvSpPr>
              <p:nvPr/>
            </p:nvSpPr>
            <p:spPr bwMode="auto">
              <a:xfrm>
                <a:off x="2792" y="3552"/>
                <a:ext cx="576" cy="233"/>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a:t>
                </a:r>
              </a:p>
            </p:txBody>
          </p:sp>
          <p:sp>
            <p:nvSpPr>
              <p:cNvPr id="29" name="Text Box 19"/>
              <p:cNvSpPr txBox="1">
                <a:spLocks noChangeArrowheads="1"/>
              </p:cNvSpPr>
              <p:nvPr/>
            </p:nvSpPr>
            <p:spPr bwMode="auto">
              <a:xfrm>
                <a:off x="3464" y="3552"/>
                <a:ext cx="576" cy="233"/>
              </a:xfrm>
              <a:prstGeom prst="rect">
                <a:avLst/>
              </a:prstGeom>
              <a:solidFill>
                <a:srgbClr val="FF0000"/>
              </a:solidFill>
              <a:ln w="9525">
                <a:solidFill>
                  <a:srgbClr val="FF0000"/>
                </a:solidFill>
                <a:miter lim="800000"/>
                <a:headEnd/>
                <a:tailEnd/>
              </a:ln>
            </p:spPr>
            <p:txBody>
              <a:bodyPr>
                <a:spAutoFit/>
              </a:bodyPr>
              <a:lstStyle/>
              <a:p>
                <a:pPr algn="ctr">
                  <a:spcBef>
                    <a:spcPct val="50000"/>
                  </a:spcBef>
                </a:pPr>
                <a:r>
                  <a:rPr lang="en-US" b="1" i="1">
                    <a:solidFill>
                      <a:schemeClr val="bg1"/>
                    </a:solidFill>
                    <a:latin typeface="Calibri" pitchFamily="34" charset="0"/>
                  </a:rPr>
                  <a:t>train</a:t>
                </a:r>
              </a:p>
            </p:txBody>
          </p:sp>
        </p:grpSp>
        <p:sp>
          <p:nvSpPr>
            <p:cNvPr id="11" name="Line 20"/>
            <p:cNvSpPr>
              <a:spLocks noChangeShapeType="1"/>
            </p:cNvSpPr>
            <p:nvPr/>
          </p:nvSpPr>
          <p:spPr bwMode="auto">
            <a:xfrm flipV="1">
              <a:off x="7620000" y="5236784"/>
              <a:ext cx="609600" cy="609600"/>
            </a:xfrm>
            <a:prstGeom prst="line">
              <a:avLst/>
            </a:prstGeom>
            <a:noFill/>
            <a:ln w="9525">
              <a:solidFill>
                <a:schemeClr val="accent1"/>
              </a:solidFill>
              <a:round/>
              <a:headEnd/>
              <a:tailEnd type="triangle" w="med" len="med"/>
            </a:ln>
          </p:spPr>
          <p:txBody>
            <a:bodyPr wrap="none" anchor="ctr">
              <a:spAutoFit/>
            </a:bodyPr>
            <a:lstStyle/>
            <a:p>
              <a:endParaRPr lang="en-US"/>
            </a:p>
          </p:txBody>
        </p:sp>
        <p:grpSp>
          <p:nvGrpSpPr>
            <p:cNvPr id="12" name="Group 21"/>
            <p:cNvGrpSpPr>
              <a:grpSpLocks/>
            </p:cNvGrpSpPr>
            <p:nvPr/>
          </p:nvGrpSpPr>
          <p:grpSpPr bwMode="auto">
            <a:xfrm>
              <a:off x="8153400" y="3865184"/>
              <a:ext cx="2057400" cy="1066800"/>
              <a:chOff x="2064" y="2064"/>
              <a:chExt cx="1296" cy="672"/>
            </a:xfrm>
          </p:grpSpPr>
          <p:grpSp>
            <p:nvGrpSpPr>
              <p:cNvPr id="21" name="Group 22"/>
              <p:cNvGrpSpPr>
                <a:grpSpLocks/>
              </p:cNvGrpSpPr>
              <p:nvPr/>
            </p:nvGrpSpPr>
            <p:grpSpPr bwMode="auto">
              <a:xfrm>
                <a:off x="2064" y="2064"/>
                <a:ext cx="288" cy="576"/>
                <a:chOff x="2064" y="2064"/>
                <a:chExt cx="288" cy="576"/>
              </a:xfrm>
            </p:grpSpPr>
            <p:sp>
              <p:nvSpPr>
                <p:cNvPr id="25" name="Line 23"/>
                <p:cNvSpPr>
                  <a:spLocks noChangeShapeType="1"/>
                </p:cNvSpPr>
                <p:nvPr/>
              </p:nvSpPr>
              <p:spPr bwMode="auto">
                <a:xfrm flipV="1">
                  <a:off x="2064" y="2064"/>
                  <a:ext cx="0" cy="576"/>
                </a:xfrm>
                <a:prstGeom prst="line">
                  <a:avLst/>
                </a:prstGeom>
                <a:noFill/>
                <a:ln w="9525">
                  <a:solidFill>
                    <a:schemeClr val="accent1"/>
                  </a:solidFill>
                  <a:round/>
                  <a:headEnd/>
                  <a:tailEnd type="triangle" w="med" len="med"/>
                </a:ln>
              </p:spPr>
              <p:txBody>
                <a:bodyPr wrap="none" anchor="ctr">
                  <a:spAutoFit/>
                </a:bodyPr>
                <a:lstStyle/>
                <a:p>
                  <a:endParaRPr lang="en-US"/>
                </a:p>
              </p:txBody>
            </p:sp>
            <p:sp>
              <p:nvSpPr>
                <p:cNvPr id="26" name="Line 24"/>
                <p:cNvSpPr>
                  <a:spLocks noChangeShapeType="1"/>
                </p:cNvSpPr>
                <p:nvPr/>
              </p:nvSpPr>
              <p:spPr bwMode="auto">
                <a:xfrm>
                  <a:off x="2064"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sp>
            <p:nvSpPr>
              <p:cNvPr id="22" name="Line 25"/>
              <p:cNvSpPr>
                <a:spLocks noChangeShapeType="1"/>
              </p:cNvSpPr>
              <p:nvPr/>
            </p:nvSpPr>
            <p:spPr bwMode="auto">
              <a:xfrm>
                <a:off x="2112" y="2736"/>
                <a:ext cx="1248" cy="0"/>
              </a:xfrm>
              <a:prstGeom prst="line">
                <a:avLst/>
              </a:prstGeom>
              <a:noFill/>
              <a:ln w="9525">
                <a:solidFill>
                  <a:schemeClr val="accent1"/>
                </a:solidFill>
                <a:round/>
                <a:headEnd/>
                <a:tailEnd/>
              </a:ln>
            </p:spPr>
            <p:txBody>
              <a:bodyPr wrap="none" anchor="ctr">
                <a:spAutoFit/>
              </a:bodyPr>
              <a:lstStyle/>
              <a:p>
                <a:endParaRPr lang="en-US"/>
              </a:p>
            </p:txBody>
          </p:sp>
          <p:sp>
            <p:nvSpPr>
              <p:cNvPr id="23" name="Line 26"/>
              <p:cNvSpPr>
                <a:spLocks noChangeShapeType="1"/>
              </p:cNvSpPr>
              <p:nvPr/>
            </p:nvSpPr>
            <p:spPr bwMode="auto">
              <a:xfrm>
                <a:off x="2064" y="2640"/>
                <a:ext cx="672" cy="0"/>
              </a:xfrm>
              <a:prstGeom prst="line">
                <a:avLst/>
              </a:prstGeom>
              <a:noFill/>
              <a:ln w="9525">
                <a:solidFill>
                  <a:schemeClr val="accent1"/>
                </a:solidFill>
                <a:round/>
                <a:headEnd/>
                <a:tailEnd/>
              </a:ln>
            </p:spPr>
            <p:txBody>
              <a:bodyPr wrap="none" anchor="ctr">
                <a:spAutoFit/>
              </a:bodyPr>
              <a:lstStyle/>
              <a:p>
                <a:endParaRPr lang="en-US"/>
              </a:p>
            </p:txBody>
          </p:sp>
          <p:sp>
            <p:nvSpPr>
              <p:cNvPr id="24" name="Line 27"/>
              <p:cNvSpPr>
                <a:spLocks noChangeShapeType="1"/>
              </p:cNvSpPr>
              <p:nvPr/>
            </p:nvSpPr>
            <p:spPr bwMode="auto">
              <a:xfrm>
                <a:off x="2736" y="2640"/>
                <a:ext cx="0" cy="96"/>
              </a:xfrm>
              <a:prstGeom prst="line">
                <a:avLst/>
              </a:prstGeom>
              <a:noFill/>
              <a:ln w="9525">
                <a:solidFill>
                  <a:schemeClr val="accent1"/>
                </a:solidFill>
                <a:round/>
                <a:headEnd/>
                <a:tailEnd/>
              </a:ln>
            </p:spPr>
            <p:txBody>
              <a:bodyPr wrap="none" anchor="ctr">
                <a:spAutoFit/>
              </a:bodyPr>
              <a:lstStyle/>
              <a:p>
                <a:endParaRPr lang="en-US"/>
              </a:p>
            </p:txBody>
          </p:sp>
        </p:grpSp>
        <p:grpSp>
          <p:nvGrpSpPr>
            <p:cNvPr id="14" name="Group 28"/>
            <p:cNvGrpSpPr>
              <a:grpSpLocks/>
            </p:cNvGrpSpPr>
            <p:nvPr/>
          </p:nvGrpSpPr>
          <p:grpSpPr bwMode="auto">
            <a:xfrm>
              <a:off x="10820400" y="3865184"/>
              <a:ext cx="533400" cy="1143000"/>
              <a:chOff x="3744" y="2064"/>
              <a:chExt cx="336" cy="720"/>
            </a:xfrm>
          </p:grpSpPr>
          <p:sp>
            <p:nvSpPr>
              <p:cNvPr id="15" name="Line 29"/>
              <p:cNvSpPr>
                <a:spLocks noChangeShapeType="1"/>
              </p:cNvSpPr>
              <p:nvPr/>
            </p:nvSpPr>
            <p:spPr bwMode="auto">
              <a:xfrm flipH="1">
                <a:off x="3744" y="2632"/>
                <a:ext cx="336"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nvGrpSpPr>
              <p:cNvPr id="16" name="Group 30"/>
              <p:cNvGrpSpPr>
                <a:grpSpLocks/>
              </p:cNvGrpSpPr>
              <p:nvPr/>
            </p:nvGrpSpPr>
            <p:grpSpPr bwMode="auto">
              <a:xfrm>
                <a:off x="3744" y="2064"/>
                <a:ext cx="336" cy="720"/>
                <a:chOff x="3744" y="2064"/>
                <a:chExt cx="336" cy="720"/>
              </a:xfrm>
            </p:grpSpPr>
            <p:grpSp>
              <p:nvGrpSpPr>
                <p:cNvPr id="17" name="Group 31"/>
                <p:cNvGrpSpPr>
                  <a:grpSpLocks/>
                </p:cNvGrpSpPr>
                <p:nvPr/>
              </p:nvGrpSpPr>
              <p:grpSpPr bwMode="auto">
                <a:xfrm>
                  <a:off x="3792" y="2064"/>
                  <a:ext cx="288" cy="576"/>
                  <a:chOff x="3792" y="2064"/>
                  <a:chExt cx="288" cy="576"/>
                </a:xfrm>
              </p:grpSpPr>
              <p:sp>
                <p:nvSpPr>
                  <p:cNvPr id="19" name="Line 32"/>
                  <p:cNvSpPr>
                    <a:spLocks noChangeShapeType="1"/>
                  </p:cNvSpPr>
                  <p:nvPr/>
                </p:nvSpPr>
                <p:spPr bwMode="auto">
                  <a:xfrm flipV="1">
                    <a:off x="4080" y="2064"/>
                    <a:ext cx="0" cy="576"/>
                  </a:xfrm>
                  <a:prstGeom prst="line">
                    <a:avLst/>
                  </a:prstGeom>
                  <a:noFill/>
                  <a:ln w="9525">
                    <a:solidFill>
                      <a:schemeClr val="accent1"/>
                    </a:solidFill>
                    <a:round/>
                    <a:headEnd type="triangle" w="med" len="med"/>
                    <a:tailEnd/>
                  </a:ln>
                </p:spPr>
                <p:txBody>
                  <a:bodyPr wrap="none" anchor="ctr">
                    <a:spAutoFit/>
                  </a:bodyPr>
                  <a:lstStyle/>
                  <a:p>
                    <a:endParaRPr lang="en-US"/>
                  </a:p>
                </p:txBody>
              </p:sp>
              <p:sp>
                <p:nvSpPr>
                  <p:cNvPr id="20" name="Line 33"/>
                  <p:cNvSpPr>
                    <a:spLocks noChangeShapeType="1"/>
                  </p:cNvSpPr>
                  <p:nvPr/>
                </p:nvSpPr>
                <p:spPr bwMode="auto">
                  <a:xfrm>
                    <a:off x="3792" y="2064"/>
                    <a:ext cx="288" cy="0"/>
                  </a:xfrm>
                  <a:prstGeom prst="line">
                    <a:avLst/>
                  </a:prstGeom>
                  <a:noFill/>
                  <a:ln w="9525">
                    <a:solidFill>
                      <a:schemeClr val="accent1"/>
                    </a:solidFill>
                    <a:round/>
                    <a:headEnd/>
                    <a:tailEnd type="triangle" w="med" len="med"/>
                  </a:ln>
                </p:spPr>
                <p:txBody>
                  <a:bodyPr wrap="none" anchor="ctr">
                    <a:spAutoFit/>
                  </a:bodyPr>
                  <a:lstStyle/>
                  <a:p>
                    <a:endParaRPr lang="en-US"/>
                  </a:p>
                </p:txBody>
              </p:sp>
            </p:grpSp>
            <p:sp>
              <p:nvSpPr>
                <p:cNvPr id="18" name="Line 34"/>
                <p:cNvSpPr>
                  <a:spLocks noChangeShapeType="1"/>
                </p:cNvSpPr>
                <p:nvPr/>
              </p:nvSpPr>
              <p:spPr bwMode="auto">
                <a:xfrm>
                  <a:off x="3744" y="2640"/>
                  <a:ext cx="0" cy="144"/>
                </a:xfrm>
                <a:prstGeom prst="line">
                  <a:avLst/>
                </a:prstGeom>
                <a:noFill/>
                <a:ln w="9525">
                  <a:solidFill>
                    <a:schemeClr val="accent1"/>
                  </a:solidFill>
                  <a:round/>
                  <a:headEnd/>
                  <a:tailEnd type="triangle" w="med" len="med"/>
                </a:ln>
              </p:spPr>
              <p:txBody>
                <a:bodyPr wrap="none" anchor="ctr">
                  <a:spAutoFit/>
                </a:bodyPr>
                <a:lstStyle/>
                <a:p>
                  <a:endParaRPr lang="en-US"/>
                </a:p>
              </p:txBody>
            </p:sp>
          </p:grpSp>
        </p:grpSp>
      </p:grpSp>
    </p:spTree>
    <p:extLst>
      <p:ext uri="{BB962C8B-B14F-4D97-AF65-F5344CB8AC3E}">
        <p14:creationId xmlns:p14="http://schemas.microsoft.com/office/powerpoint/2010/main" val="32540125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ea typeface="PMingLiU" pitchFamily="18" charset="-120"/>
              </a:rPr>
              <a:t>More on Cross-Validation</a:t>
            </a:r>
            <a:endParaRPr lang="en-US" b="1" dirty="0"/>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endParaRPr lang="tr-TR"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Standard method for evaluation: stratified 10-fold cross-validation.</a:t>
            </a:r>
          </a:p>
          <a:p>
            <a:pPr>
              <a:lnSpc>
                <a:spcPct val="120000"/>
              </a:lnSpc>
              <a:spcBef>
                <a:spcPts val="600"/>
              </a:spcBef>
            </a:pPr>
            <a:r>
              <a:rPr lang="en-US" sz="2400" dirty="0">
                <a:latin typeface="Arial" panose="020B0604020202020204" pitchFamily="34" charset="0"/>
                <a:cs typeface="Arial" panose="020B0604020202020204" pitchFamily="34" charset="0"/>
              </a:rPr>
              <a:t>Why 10? Extensive experiments have shown that this is the best choice to get an accurate estimate.</a:t>
            </a:r>
          </a:p>
          <a:p>
            <a:pPr>
              <a:lnSpc>
                <a:spcPct val="120000"/>
              </a:lnSpc>
              <a:spcBef>
                <a:spcPts val="600"/>
              </a:spcBef>
            </a:pPr>
            <a:r>
              <a:rPr lang="en-US" sz="2400" dirty="0">
                <a:latin typeface="Arial" panose="020B0604020202020204" pitchFamily="34" charset="0"/>
                <a:cs typeface="Arial" panose="020B0604020202020204" pitchFamily="34" charset="0"/>
              </a:rPr>
              <a:t>Stratification reduces the estimate’s variance.</a:t>
            </a:r>
          </a:p>
          <a:p>
            <a:pPr>
              <a:lnSpc>
                <a:spcPct val="120000"/>
              </a:lnSpc>
              <a:spcBef>
                <a:spcPts val="600"/>
              </a:spcBef>
            </a:pPr>
            <a:endParaRPr lang="en-US" sz="2400" dirty="0">
              <a:latin typeface="Arial" panose="020B0604020202020204" pitchFamily="34" charset="0"/>
              <a:cs typeface="Arial" panose="020B0604020202020204" pitchFamily="34" charset="0"/>
            </a:endParaRPr>
          </a:p>
          <a:p>
            <a:pPr>
              <a:lnSpc>
                <a:spcPct val="120000"/>
              </a:lnSpc>
              <a:spcBef>
                <a:spcPts val="600"/>
              </a:spcBef>
              <a:buNone/>
            </a:pPr>
            <a:r>
              <a:rPr lang="en-US" sz="2400" dirty="0">
                <a:latin typeface="Arial" panose="020B0604020202020204" pitchFamily="34" charset="0"/>
                <a:cs typeface="Arial" panose="020B0604020202020204" pitchFamily="34" charset="0"/>
              </a:rPr>
              <a:t>Even better: </a:t>
            </a:r>
            <a:r>
              <a:rPr lang="en-US" sz="2400" dirty="0">
                <a:solidFill>
                  <a:srgbClr val="376092"/>
                </a:solidFill>
                <a:latin typeface="Arial" panose="020B0604020202020204" pitchFamily="34" charset="0"/>
                <a:cs typeface="Arial" panose="020B0604020202020204" pitchFamily="34" charset="0"/>
              </a:rPr>
              <a:t>repeated </a:t>
            </a:r>
            <a:r>
              <a:rPr lang="en-US" sz="2400" dirty="0">
                <a:latin typeface="Arial" panose="020B0604020202020204" pitchFamily="34" charset="0"/>
                <a:cs typeface="Arial" panose="020B0604020202020204" pitchFamily="34" charset="0"/>
              </a:rPr>
              <a:t>stratified cross-validation:</a:t>
            </a:r>
          </a:p>
          <a:p>
            <a:pPr lvl="1">
              <a:lnSpc>
                <a:spcPct val="120000"/>
              </a:lnSpc>
              <a:spcBef>
                <a:spcPts val="600"/>
              </a:spcBef>
            </a:pPr>
            <a:r>
              <a:rPr lang="en-US" dirty="0">
                <a:latin typeface="Arial" panose="020B0604020202020204" pitchFamily="34" charset="0"/>
                <a:cs typeface="Arial" panose="020B0604020202020204" pitchFamily="34" charset="0"/>
              </a:rPr>
              <a:t>e.g., ten-fold cross-validation is repeated ten times and results are averaged (reduces the variance).</a:t>
            </a:r>
          </a:p>
        </p:txBody>
      </p:sp>
    </p:spTree>
    <p:extLst>
      <p:ext uri="{BB962C8B-B14F-4D97-AF65-F5344CB8AC3E}">
        <p14:creationId xmlns:p14="http://schemas.microsoft.com/office/powerpoint/2010/main" val="23243395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Leave-One-Out Cross-Validation</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endParaRPr lang="tr-TR" sz="2400" dirty="0">
              <a:latin typeface="Arial" panose="020B0604020202020204" pitchFamily="34" charset="0"/>
              <a:cs typeface="Arial" panose="020B0604020202020204" pitchFamily="34" charset="0"/>
            </a:endParaRPr>
          </a:p>
          <a:p>
            <a:pPr marL="457200" indent="-457200">
              <a:lnSpc>
                <a:spcPct val="120000"/>
              </a:lnSpc>
              <a:spcBef>
                <a:spcPts val="600"/>
              </a:spcBef>
            </a:pPr>
            <a:r>
              <a:rPr lang="en-US" sz="2400" dirty="0">
                <a:latin typeface="Arial" panose="020B0604020202020204" pitchFamily="34" charset="0"/>
                <a:cs typeface="Arial" panose="020B0604020202020204" pitchFamily="34" charset="0"/>
              </a:rPr>
              <a:t>Leave-One-Out (aka </a:t>
            </a:r>
            <a:r>
              <a:rPr lang="en-US" sz="2400" b="1" dirty="0">
                <a:latin typeface="Arial" panose="020B0604020202020204" pitchFamily="34" charset="0"/>
                <a:cs typeface="Arial" panose="020B0604020202020204" pitchFamily="34" charset="0"/>
              </a:rPr>
              <a:t>jackknife</a:t>
            </a:r>
            <a:r>
              <a:rPr lang="en-US" sz="2400" dirty="0">
                <a:latin typeface="Arial" panose="020B0604020202020204" pitchFamily="34" charset="0"/>
                <a:cs typeface="Arial" panose="020B0604020202020204" pitchFamily="34" charset="0"/>
              </a:rPr>
              <a:t>) is a particular form of cross-validation:</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Set number of folds to number of training instances;</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i.e., for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training instances, build classifier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times.</a:t>
            </a:r>
          </a:p>
          <a:p>
            <a:pPr marL="457200" indent="-457200">
              <a:lnSpc>
                <a:spcPct val="120000"/>
              </a:lnSpc>
              <a:spcBef>
                <a:spcPts val="600"/>
              </a:spcBef>
            </a:pPr>
            <a:r>
              <a:rPr lang="en-US" sz="2400" dirty="0">
                <a:latin typeface="Arial" panose="020B0604020202020204" pitchFamily="34" charset="0"/>
                <a:cs typeface="Arial" panose="020B0604020202020204" pitchFamily="34" charset="0"/>
              </a:rPr>
              <a:t>Makes best use of the data.</a:t>
            </a:r>
          </a:p>
          <a:p>
            <a:pPr marL="457200" indent="-457200">
              <a:lnSpc>
                <a:spcPct val="120000"/>
              </a:lnSpc>
              <a:spcBef>
                <a:spcPts val="600"/>
              </a:spcBef>
            </a:pPr>
            <a:r>
              <a:rPr lang="en-US" sz="2400" dirty="0">
                <a:latin typeface="Arial" panose="020B0604020202020204" pitchFamily="34" charset="0"/>
                <a:cs typeface="Arial" panose="020B0604020202020204" pitchFamily="34" charset="0"/>
              </a:rPr>
              <a:t>Involves no random sub-sampling.</a:t>
            </a:r>
          </a:p>
          <a:p>
            <a:pPr marL="457200" indent="-457200">
              <a:lnSpc>
                <a:spcPct val="120000"/>
              </a:lnSpc>
              <a:spcBef>
                <a:spcPts val="600"/>
              </a:spcBef>
            </a:pPr>
            <a:r>
              <a:rPr lang="en-US" sz="2400" dirty="0">
                <a:latin typeface="Arial" panose="020B0604020202020204" pitchFamily="34" charset="0"/>
                <a:cs typeface="Arial" panose="020B0604020202020204" pitchFamily="34" charset="0"/>
              </a:rPr>
              <a:t>Computationally expensive.</a:t>
            </a:r>
          </a:p>
        </p:txBody>
      </p:sp>
    </p:spTree>
    <p:extLst>
      <p:ext uri="{BB962C8B-B14F-4D97-AF65-F5344CB8AC3E}">
        <p14:creationId xmlns:p14="http://schemas.microsoft.com/office/powerpoint/2010/main" val="42102145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Leave-One-Out Cross-Validation and Stratification</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endParaRPr lang="tr-TR" sz="2400" dirty="0">
              <a:latin typeface="Arial" panose="020B0604020202020204" pitchFamily="34" charset="0"/>
              <a:cs typeface="Arial" panose="020B0604020202020204" pitchFamily="34" charset="0"/>
            </a:endParaRPr>
          </a:p>
          <a:p>
            <a:pPr marL="457200" indent="-457200">
              <a:lnSpc>
                <a:spcPct val="120000"/>
              </a:lnSpc>
              <a:spcBef>
                <a:spcPts val="600"/>
              </a:spcBef>
            </a:pPr>
            <a:r>
              <a:rPr lang="en-US" sz="2400" dirty="0">
                <a:latin typeface="Arial" panose="020B0604020202020204" pitchFamily="34" charset="0"/>
                <a:cs typeface="Arial" panose="020B0604020202020204" pitchFamily="34" charset="0"/>
              </a:rPr>
              <a:t>A disadvantage of Leave-One-Out-CV is that stratification is not possible:</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It </a:t>
            </a:r>
            <a:r>
              <a:rPr lang="en-US" i="1" dirty="0">
                <a:latin typeface="Arial" panose="020B0604020202020204" pitchFamily="34" charset="0"/>
                <a:cs typeface="Arial" panose="020B0604020202020204" pitchFamily="34" charset="0"/>
              </a:rPr>
              <a:t>guarantees</a:t>
            </a:r>
            <a:r>
              <a:rPr lang="en-US" dirty="0">
                <a:latin typeface="Arial" panose="020B0604020202020204" pitchFamily="34" charset="0"/>
                <a:cs typeface="Arial" panose="020B0604020202020204" pitchFamily="34" charset="0"/>
              </a:rPr>
              <a:t> a non-stratified sample because there is only one instance in the test set!</a:t>
            </a:r>
          </a:p>
          <a:p>
            <a:pPr marL="457200" indent="-457200">
              <a:lnSpc>
                <a:spcPct val="120000"/>
              </a:lnSpc>
              <a:spcBef>
                <a:spcPts val="600"/>
              </a:spcBef>
            </a:pPr>
            <a:r>
              <a:rPr lang="en-US" sz="2400" dirty="0">
                <a:latin typeface="Arial" panose="020B0604020202020204" pitchFamily="34" charset="0"/>
                <a:cs typeface="Arial" panose="020B0604020202020204" pitchFamily="34" charset="0"/>
              </a:rPr>
              <a:t>Consider an extreme example with a dataset where the binary output is equally likely (i.e., split equally into two classes):</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Consider a simple classifier which predicts the </a:t>
            </a:r>
            <a:r>
              <a:rPr lang="en-US" b="1" i="1" dirty="0">
                <a:latin typeface="Arial" panose="020B0604020202020204" pitchFamily="34" charset="0"/>
                <a:cs typeface="Arial" panose="020B0604020202020204" pitchFamily="34" charset="0"/>
              </a:rPr>
              <a:t>larger</a:t>
            </a:r>
            <a:r>
              <a:rPr lang="en-US" dirty="0">
                <a:latin typeface="Arial" panose="020B0604020202020204" pitchFamily="34" charset="0"/>
                <a:cs typeface="Arial" panose="020B0604020202020204" pitchFamily="34" charset="0"/>
              </a:rPr>
              <a:t> class.</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50% accuracy on entire data</a:t>
            </a:r>
            <a:r>
              <a:rPr lang="tr-TR"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Leave-One-Out-CV estimate is 100% error! </a:t>
            </a:r>
          </a:p>
          <a:p>
            <a:pPr marL="1485900" lvl="2" indent="-457200">
              <a:lnSpc>
                <a:spcPct val="120000"/>
              </a:lnSpc>
              <a:spcBef>
                <a:spcPts val="600"/>
              </a:spcBef>
            </a:pPr>
            <a:r>
              <a:rPr lang="en-US" dirty="0">
                <a:latin typeface="Arial" panose="020B0604020202020204" pitchFamily="34" charset="0"/>
                <a:cs typeface="Arial" panose="020B0604020202020204" pitchFamily="34" charset="0"/>
              </a:rPr>
              <a:t>The class left out for testing is minority during training</a:t>
            </a:r>
          </a:p>
        </p:txBody>
      </p:sp>
    </p:spTree>
    <p:extLst>
      <p:ext uri="{BB962C8B-B14F-4D97-AF65-F5344CB8AC3E}">
        <p14:creationId xmlns:p14="http://schemas.microsoft.com/office/powerpoint/2010/main" val="31609416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Bootstrap Method</a:t>
            </a:r>
          </a:p>
        </p:txBody>
      </p:sp>
      <p:sp>
        <p:nvSpPr>
          <p:cNvPr id="6" name="Content Placeholder 2"/>
          <p:cNvSpPr txBox="1">
            <a:spLocks/>
          </p:cNvSpPr>
          <p:nvPr/>
        </p:nvSpPr>
        <p:spPr>
          <a:xfrm>
            <a:off x="838200" y="1690688"/>
            <a:ext cx="10896600"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sz="2400" dirty="0">
                <a:latin typeface="Arial" panose="020B0604020202020204" pitchFamily="34" charset="0"/>
                <a:cs typeface="Arial" panose="020B0604020202020204" pitchFamily="34" charset="0"/>
              </a:rPr>
              <a:t>Cross validation uses sampling </a:t>
            </a:r>
            <a:r>
              <a:rPr lang="en-US" sz="2400" i="1" dirty="0">
                <a:latin typeface="Arial" panose="020B0604020202020204" pitchFamily="34" charset="0"/>
                <a:cs typeface="Arial" panose="020B0604020202020204" pitchFamily="34" charset="0"/>
              </a:rPr>
              <a:t>without replacement:</a:t>
            </a:r>
          </a:p>
          <a:p>
            <a:pPr lvl="1">
              <a:lnSpc>
                <a:spcPct val="120000"/>
              </a:lnSpc>
              <a:spcBef>
                <a:spcPts val="600"/>
              </a:spcBef>
            </a:pPr>
            <a:r>
              <a:rPr lang="en-US" dirty="0">
                <a:latin typeface="Arial" panose="020B0604020202020204" pitchFamily="34" charset="0"/>
                <a:cs typeface="Arial" panose="020B0604020202020204" pitchFamily="34" charset="0"/>
              </a:rPr>
              <a:t>The same instance, once selected, can not be selected again for a particular training/test set</a:t>
            </a:r>
          </a:p>
          <a:p>
            <a:pPr>
              <a:lnSpc>
                <a:spcPct val="120000"/>
              </a:lnSpc>
              <a:spcBef>
                <a:spcPts val="600"/>
              </a:spcBef>
            </a:pPr>
            <a:r>
              <a:rPr lang="en-US" sz="2400" dirty="0">
                <a:latin typeface="Arial" panose="020B0604020202020204" pitchFamily="34" charset="0"/>
                <a:cs typeface="Arial" panose="020B0604020202020204" pitchFamily="34" charset="0"/>
              </a:rPr>
              <a:t>The </a:t>
            </a:r>
            <a:r>
              <a:rPr lang="en-US" sz="2400" i="1" dirty="0">
                <a:latin typeface="Arial" panose="020B0604020202020204" pitchFamily="34" charset="0"/>
                <a:cs typeface="Arial" panose="020B0604020202020204" pitchFamily="34" charset="0"/>
              </a:rPr>
              <a:t>bootstrap</a:t>
            </a:r>
            <a:r>
              <a:rPr lang="en-US" sz="2400" dirty="0">
                <a:latin typeface="Arial" panose="020B0604020202020204" pitchFamily="34" charset="0"/>
                <a:cs typeface="Arial" panose="020B0604020202020204" pitchFamily="34" charset="0"/>
              </a:rPr>
              <a:t> uses sampling </a:t>
            </a:r>
            <a:r>
              <a:rPr lang="en-US" sz="2400" i="1" dirty="0">
                <a:solidFill>
                  <a:srgbClr val="376092"/>
                </a:solidFill>
                <a:latin typeface="Arial" panose="020B0604020202020204" pitchFamily="34" charset="0"/>
                <a:cs typeface="Arial" panose="020B0604020202020204" pitchFamily="34" charset="0"/>
              </a:rPr>
              <a:t>with replacement</a:t>
            </a:r>
            <a:r>
              <a:rPr lang="en-US" sz="2400" dirty="0">
                <a:solidFill>
                  <a:srgbClr val="376092"/>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to form the training set:</a:t>
            </a:r>
          </a:p>
          <a:p>
            <a:pPr lvl="1">
              <a:lnSpc>
                <a:spcPct val="120000"/>
              </a:lnSpc>
              <a:spcBef>
                <a:spcPts val="600"/>
              </a:spcBef>
            </a:pPr>
            <a:r>
              <a:rPr lang="en-US" dirty="0">
                <a:latin typeface="Arial" panose="020B0604020202020204" pitchFamily="34" charset="0"/>
                <a:cs typeface="Arial" panose="020B0604020202020204" pitchFamily="34" charset="0"/>
              </a:rPr>
              <a:t>Sample a dataset of </a:t>
            </a:r>
            <a:r>
              <a:rPr lang="en-US" i="1" dirty="0">
                <a:latin typeface="Arial" panose="020B0604020202020204" pitchFamily="34" charset="0"/>
                <a:cs typeface="Arial" panose="020B0604020202020204" pitchFamily="34" charset="0"/>
              </a:rPr>
              <a:t>n </a:t>
            </a:r>
            <a:r>
              <a:rPr lang="en-US" dirty="0">
                <a:latin typeface="Arial" panose="020B0604020202020204" pitchFamily="34" charset="0"/>
                <a:cs typeface="Arial" panose="020B0604020202020204" pitchFamily="34" charset="0"/>
              </a:rPr>
              <a:t>instances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times </a:t>
            </a:r>
            <a:r>
              <a:rPr lang="en-US" i="1" dirty="0">
                <a:latin typeface="Arial" panose="020B0604020202020204" pitchFamily="34" charset="0"/>
                <a:cs typeface="Arial" panose="020B0604020202020204" pitchFamily="34" charset="0"/>
              </a:rPr>
              <a:t>with replacement</a:t>
            </a:r>
            <a:r>
              <a:rPr lang="en-US" dirty="0">
                <a:latin typeface="Arial" panose="020B0604020202020204" pitchFamily="34" charset="0"/>
                <a:cs typeface="Arial" panose="020B0604020202020204" pitchFamily="34" charset="0"/>
              </a:rPr>
              <a:t> to form a new dataset of </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instances;</a:t>
            </a:r>
          </a:p>
          <a:p>
            <a:pPr lvl="1">
              <a:lnSpc>
                <a:spcPct val="120000"/>
              </a:lnSpc>
              <a:spcBef>
                <a:spcPts val="600"/>
              </a:spcBef>
            </a:pPr>
            <a:r>
              <a:rPr lang="en-US" dirty="0">
                <a:latin typeface="Arial" panose="020B0604020202020204" pitchFamily="34" charset="0"/>
                <a:cs typeface="Arial" panose="020B0604020202020204" pitchFamily="34" charset="0"/>
              </a:rPr>
              <a:t>Use this data as the training set;</a:t>
            </a:r>
          </a:p>
          <a:p>
            <a:pPr lvl="1">
              <a:lnSpc>
                <a:spcPct val="120000"/>
              </a:lnSpc>
              <a:spcBef>
                <a:spcPts val="600"/>
              </a:spcBef>
            </a:pPr>
            <a:r>
              <a:rPr lang="en-US" dirty="0">
                <a:latin typeface="Arial" panose="020B0604020202020204" pitchFamily="34" charset="0"/>
                <a:cs typeface="Arial" panose="020B0604020202020204" pitchFamily="34" charset="0"/>
              </a:rPr>
              <a:t>Use the instances from the original dataset that don’t occur in the new training set for testing.</a:t>
            </a:r>
          </a:p>
        </p:txBody>
      </p:sp>
    </p:spTree>
    <p:extLst>
      <p:ext uri="{BB962C8B-B14F-4D97-AF65-F5344CB8AC3E}">
        <p14:creationId xmlns:p14="http://schemas.microsoft.com/office/powerpoint/2010/main" val="2866897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Bootstrap Method</a:t>
            </a:r>
          </a:p>
        </p:txBody>
      </p:sp>
      <p:sp>
        <p:nvSpPr>
          <p:cNvPr id="6" name="Content Placeholder 2"/>
          <p:cNvSpPr txBox="1">
            <a:spLocks/>
          </p:cNvSpPr>
          <p:nvPr/>
        </p:nvSpPr>
        <p:spPr>
          <a:xfrm>
            <a:off x="377371" y="1690688"/>
            <a:ext cx="11814629"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sz="2400" dirty="0">
                <a:latin typeface="Arial" panose="020B0604020202020204" pitchFamily="34" charset="0"/>
                <a:cs typeface="Arial" panose="020B0604020202020204" pitchFamily="34" charset="0"/>
              </a:rPr>
              <a:t>The bootstrap method is also called the </a:t>
            </a:r>
            <a:r>
              <a:rPr lang="en-US" sz="2400" i="1" dirty="0">
                <a:latin typeface="Arial" panose="020B0604020202020204" pitchFamily="34" charset="0"/>
                <a:cs typeface="Arial" panose="020B0604020202020204" pitchFamily="34" charset="0"/>
              </a:rPr>
              <a:t>0.632 bootstrap:</a:t>
            </a:r>
            <a:endParaRPr lang="en-US" sz="2400" dirty="0">
              <a:latin typeface="Arial" panose="020B0604020202020204" pitchFamily="34" charset="0"/>
              <a:cs typeface="Arial" panose="020B0604020202020204" pitchFamily="34" charset="0"/>
            </a:endParaRP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A particular instance has a probability of 1–1/</a:t>
            </a:r>
            <a:r>
              <a:rPr lang="en-US" i="1" dirty="0">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of </a:t>
            </a:r>
            <a:r>
              <a:rPr lang="en-US" i="1" dirty="0">
                <a:latin typeface="Arial" panose="020B0604020202020204" pitchFamily="34" charset="0"/>
                <a:cs typeface="Arial" panose="020B0604020202020204" pitchFamily="34" charset="0"/>
              </a:rPr>
              <a:t>not </a:t>
            </a:r>
            <a:r>
              <a:rPr lang="en-US" dirty="0">
                <a:latin typeface="Arial" panose="020B0604020202020204" pitchFamily="34" charset="0"/>
                <a:cs typeface="Arial" panose="020B0604020202020204" pitchFamily="34" charset="0"/>
              </a:rPr>
              <a:t>being picked;</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Thus probability of ending up in the test data for each instance is</a:t>
            </a:r>
            <a:r>
              <a:rPr lang="tr-TR" dirty="0">
                <a:latin typeface="Arial" panose="020B0604020202020204" pitchFamily="34" charset="0"/>
                <a:cs typeface="Arial" panose="020B0604020202020204" pitchFamily="34" charset="0"/>
              </a:rPr>
              <a:t> (</a:t>
            </a:r>
            <a:r>
              <a:rPr lang="tr-TR" i="1" dirty="0">
                <a:latin typeface="Arial" panose="020B0604020202020204" pitchFamily="34" charset="0"/>
                <a:cs typeface="Arial" panose="020B0604020202020204" pitchFamily="34" charset="0"/>
              </a:rPr>
              <a:t>as n→∞</a:t>
            </a:r>
            <a:r>
              <a:rPr lang="tr-TR"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p>
            <a:pPr marL="1028700" lvl="1" indent="-457200">
              <a:lnSpc>
                <a:spcPct val="120000"/>
              </a:lnSpc>
              <a:spcBef>
                <a:spcPts val="600"/>
              </a:spcBef>
            </a:pPr>
            <a:endParaRPr lang="en-US" dirty="0">
              <a:latin typeface="Arial" panose="020B0604020202020204" pitchFamily="34" charset="0"/>
              <a:cs typeface="Arial" panose="020B0604020202020204" pitchFamily="34" charset="0"/>
            </a:endParaRPr>
          </a:p>
          <a:p>
            <a:pPr marL="1028700" lvl="1" indent="-457200">
              <a:lnSpc>
                <a:spcPct val="120000"/>
              </a:lnSpc>
              <a:spcBef>
                <a:spcPts val="600"/>
              </a:spcBef>
            </a:pPr>
            <a:endParaRPr lang="tr-TR" dirty="0">
              <a:latin typeface="Arial" panose="020B0604020202020204" pitchFamily="34" charset="0"/>
              <a:cs typeface="Arial" panose="020B0604020202020204" pitchFamily="34" charset="0"/>
            </a:endParaRP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Test Data (Out-of-Bag): Approximately 36.8% of the original instances will never be selected for a given bootstrap training set, making them the "out-of-bag" (OOB) samples used for testing.</a:t>
            </a:r>
          </a:p>
          <a:p>
            <a:pPr marL="1028700" lvl="1" indent="-457200">
              <a:lnSpc>
                <a:spcPct val="120000"/>
              </a:lnSpc>
              <a:spcBef>
                <a:spcPts val="600"/>
              </a:spcBef>
            </a:pPr>
            <a:r>
              <a:rPr lang="en-US" dirty="0">
                <a:latin typeface="Arial" panose="020B0604020202020204" pitchFamily="34" charset="0"/>
                <a:cs typeface="Arial" panose="020B0604020202020204" pitchFamily="34" charset="0"/>
              </a:rPr>
              <a:t>Approximately 63.2% (1−0.368=0.632) of the unique original instances will appear in the bootstrap training set at least once.</a:t>
            </a:r>
          </a:p>
          <a:p>
            <a:pPr marL="1028700" lvl="1" indent="-457200">
              <a:lnSpc>
                <a:spcPct val="120000"/>
              </a:lnSpc>
              <a:spcBef>
                <a:spcPts val="600"/>
              </a:spcBef>
            </a:pPr>
            <a:endParaRPr lang="en-US" dirty="0">
              <a:latin typeface="Arial" panose="020B0604020202020204" pitchFamily="34" charset="0"/>
              <a:cs typeface="Arial" panose="020B0604020202020204" pitchFamily="34"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3479582423"/>
              </p:ext>
            </p:extLst>
          </p:nvPr>
        </p:nvGraphicFramePr>
        <p:xfrm>
          <a:off x="4837906" y="3307226"/>
          <a:ext cx="2897188" cy="946150"/>
        </p:xfrm>
        <a:graphic>
          <a:graphicData uri="http://schemas.openxmlformats.org/presentationml/2006/ole">
            <mc:AlternateContent xmlns:mc="http://schemas.openxmlformats.org/markup-compatibility/2006">
              <mc:Choice xmlns:v="urn:schemas-microsoft-com:vml" Requires="v">
                <p:oleObj name="Equation" r:id="rId2" imgW="2412720" imgH="787320" progId="Equation.3">
                  <p:embed/>
                </p:oleObj>
              </mc:Choice>
              <mc:Fallback>
                <p:oleObj name="Equation" r:id="rId2" imgW="2412720" imgH="787320" progId="Equation.3">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7906" y="3307226"/>
                        <a:ext cx="2897188" cy="94615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Tree>
    <p:extLst>
      <p:ext uri="{BB962C8B-B14F-4D97-AF65-F5344CB8AC3E}">
        <p14:creationId xmlns:p14="http://schemas.microsoft.com/office/powerpoint/2010/main" val="20287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Autofit/>
          </a:bodyPr>
          <a:lstStyle/>
          <a:p>
            <a:r>
              <a:rPr lang="en-US" b="1" dirty="0"/>
              <a:t>Metric Evaluation Summary:</a:t>
            </a:r>
          </a:p>
        </p:txBody>
      </p:sp>
      <p:sp>
        <p:nvSpPr>
          <p:cNvPr id="6" name="Content Placeholder 2"/>
          <p:cNvSpPr txBox="1">
            <a:spLocks/>
          </p:cNvSpPr>
          <p:nvPr/>
        </p:nvSpPr>
        <p:spPr>
          <a:xfrm>
            <a:off x="537029" y="1690688"/>
            <a:ext cx="11509828" cy="4911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spcBef>
                <a:spcPts val="600"/>
              </a:spcBef>
              <a:buFont typeface="Calibri" pitchFamily="34" charset="0"/>
              <a:buAutoNum type="arabicPeriod"/>
            </a:pPr>
            <a:endParaRPr lang="tr-TR" sz="2400" dirty="0">
              <a:latin typeface="Arial" panose="020B0604020202020204" pitchFamily="34" charset="0"/>
              <a:cs typeface="Arial" panose="020B0604020202020204" pitchFamily="34" charset="0"/>
            </a:endParaRPr>
          </a:p>
          <a:p>
            <a:pPr marL="514350" indent="-514350">
              <a:lnSpc>
                <a:spcPct val="120000"/>
              </a:lnSpc>
              <a:spcBef>
                <a:spcPts val="600"/>
              </a:spcBef>
              <a:buFont typeface="Calibri" pitchFamily="34" charset="0"/>
              <a:buAutoNum type="arabicPeriod"/>
            </a:pPr>
            <a:r>
              <a:rPr lang="en-US" sz="2400" dirty="0">
                <a:latin typeface="Arial" panose="020B0604020202020204" pitchFamily="34" charset="0"/>
                <a:cs typeface="Arial" panose="020B0604020202020204" pitchFamily="34" charset="0"/>
              </a:rPr>
              <a:t>Use test sets and the hold-out method for “large” data;</a:t>
            </a:r>
          </a:p>
          <a:p>
            <a:pPr marL="514350" indent="-514350">
              <a:lnSpc>
                <a:spcPct val="120000"/>
              </a:lnSpc>
              <a:spcBef>
                <a:spcPts val="600"/>
              </a:spcBef>
              <a:buFont typeface="Calibri" pitchFamily="34" charset="0"/>
              <a:buAutoNum type="arabicPeriod"/>
            </a:pPr>
            <a:r>
              <a:rPr lang="en-US" sz="2400" dirty="0">
                <a:latin typeface="Arial" panose="020B0604020202020204" pitchFamily="34" charset="0"/>
                <a:cs typeface="Arial" panose="020B0604020202020204" pitchFamily="34" charset="0"/>
              </a:rPr>
              <a:t>Use the cross-validation method for “middle-sized” data;</a:t>
            </a:r>
          </a:p>
          <a:p>
            <a:pPr marL="514350" indent="-514350">
              <a:lnSpc>
                <a:spcPct val="120000"/>
              </a:lnSpc>
              <a:spcBef>
                <a:spcPts val="600"/>
              </a:spcBef>
              <a:buFont typeface="Calibri" pitchFamily="34" charset="0"/>
              <a:buAutoNum type="arabicPeriod"/>
            </a:pPr>
            <a:r>
              <a:rPr lang="en-US" sz="2400" dirty="0">
                <a:latin typeface="Arial" panose="020B0604020202020204" pitchFamily="34" charset="0"/>
                <a:cs typeface="Arial" panose="020B0604020202020204" pitchFamily="34" charset="0"/>
              </a:rPr>
              <a:t>Use the leave-one-out and bootstrap methods for small data;</a:t>
            </a:r>
          </a:p>
          <a:p>
            <a:pPr marL="514350" indent="-514350">
              <a:lnSpc>
                <a:spcPct val="120000"/>
              </a:lnSpc>
              <a:spcBef>
                <a:spcPts val="600"/>
              </a:spcBef>
              <a:buNone/>
            </a:pPr>
            <a:endParaRPr lang="en-US"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Don’t use test data for parameter tuning - use </a:t>
            </a:r>
            <a:r>
              <a:rPr lang="en-US" sz="2400" b="1" i="1" dirty="0">
                <a:latin typeface="Arial" panose="020B0604020202020204" pitchFamily="34" charset="0"/>
                <a:cs typeface="Arial" panose="020B0604020202020204" pitchFamily="34" charset="0"/>
              </a:rPr>
              <a:t>separate validation </a:t>
            </a:r>
            <a:r>
              <a:rPr lang="en-US" sz="2400" dirty="0">
                <a:latin typeface="Arial" panose="020B0604020202020204" pitchFamily="34" charset="0"/>
                <a:cs typeface="Arial" panose="020B0604020202020204" pitchFamily="34" charset="0"/>
              </a:rPr>
              <a:t>data.</a:t>
            </a:r>
          </a:p>
          <a:p>
            <a:pPr marL="514350" indent="-514350">
              <a:lnSpc>
                <a:spcPct val="120000"/>
              </a:lnSpc>
              <a:spcBef>
                <a:spcPts val="600"/>
              </a:spcBef>
              <a:buNone/>
            </a:pPr>
            <a:endParaRPr lang="en-US" sz="2400" dirty="0">
              <a:latin typeface="Arial" panose="020B0604020202020204" pitchFamily="34" charset="0"/>
              <a:cs typeface="Arial" panose="020B0604020202020204" pitchFamily="34" charset="0"/>
            </a:endParaRPr>
          </a:p>
          <a:p>
            <a:pPr>
              <a:lnSpc>
                <a:spcPct val="120000"/>
              </a:lnSpc>
              <a:spcBef>
                <a:spcPts val="600"/>
              </a:spcBef>
            </a:pPr>
            <a:r>
              <a:rPr lang="en-US" sz="2400" dirty="0">
                <a:latin typeface="Arial" panose="020B0604020202020204" pitchFamily="34" charset="0"/>
                <a:cs typeface="Arial" panose="020B0604020202020204" pitchFamily="34" charset="0"/>
              </a:rPr>
              <a:t>Comparing two classifiers to each other can use more advanced statistics: t-test, </a:t>
            </a:r>
            <a:r>
              <a:rPr lang="en-US" sz="2400" dirty="0" err="1">
                <a:latin typeface="Arial" panose="020B0604020202020204" pitchFamily="34" charset="0"/>
                <a:cs typeface="Arial" panose="020B0604020202020204" pitchFamily="34" charset="0"/>
              </a:rPr>
              <a:t>McNemar</a:t>
            </a:r>
            <a:r>
              <a:rPr lang="en-US" sz="2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6961612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Classification</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10000"/>
              </a:lnSpc>
              <a:spcBef>
                <a:spcPts val="600"/>
              </a:spcBef>
              <a:defRPr/>
            </a:pPr>
            <a:r>
              <a:rPr lang="en-US" sz="2200" dirty="0">
                <a:latin typeface="Arial" panose="020B0604020202020204" pitchFamily="34" charset="0"/>
                <a:cs typeface="Arial" panose="020B0604020202020204" pitchFamily="34" charset="0"/>
              </a:rPr>
              <a:t>Key idea</a:t>
            </a:r>
          </a:p>
          <a:p>
            <a:pPr lvl="1">
              <a:lnSpc>
                <a:spcPct val="110000"/>
              </a:lnSpc>
              <a:spcBef>
                <a:spcPts val="600"/>
              </a:spcBef>
              <a:defRPr/>
            </a:pPr>
            <a:r>
              <a:rPr lang="en-US" sz="2200" dirty="0">
                <a:latin typeface="Arial" panose="020B0604020202020204" pitchFamily="34" charset="0"/>
                <a:cs typeface="Arial" panose="020B0604020202020204" pitchFamily="34" charset="0"/>
              </a:rPr>
              <a:t>Known target concept (predict a certain </a:t>
            </a:r>
            <a:r>
              <a:rPr lang="en-US" sz="2200" i="1" dirty="0">
                <a:latin typeface="Arial" panose="020B0604020202020204" pitchFamily="34" charset="0"/>
                <a:cs typeface="Arial" panose="020B0604020202020204" pitchFamily="34" charset="0"/>
              </a:rPr>
              <a:t>categorical</a:t>
            </a:r>
            <a:r>
              <a:rPr lang="en-US" sz="2200" dirty="0">
                <a:latin typeface="Arial" panose="020B0604020202020204" pitchFamily="34" charset="0"/>
                <a:cs typeface="Arial" panose="020B0604020202020204" pitchFamily="34" charset="0"/>
              </a:rPr>
              <a:t> attribute)</a:t>
            </a:r>
          </a:p>
          <a:p>
            <a:pPr lvl="1">
              <a:lnSpc>
                <a:spcPct val="110000"/>
              </a:lnSpc>
              <a:spcBef>
                <a:spcPts val="600"/>
              </a:spcBef>
              <a:defRPr/>
            </a:pPr>
            <a:r>
              <a:rPr lang="en-US" sz="2200" dirty="0">
                <a:latin typeface="Arial" panose="020B0604020202020204" pitchFamily="34" charset="0"/>
                <a:cs typeface="Arial" panose="020B0604020202020204" pitchFamily="34" charset="0"/>
              </a:rPr>
              <a:t>Find out how other attributes can be used</a:t>
            </a:r>
          </a:p>
          <a:p>
            <a:pPr>
              <a:lnSpc>
                <a:spcPct val="110000"/>
              </a:lnSpc>
              <a:spcBef>
                <a:spcPts val="600"/>
              </a:spcBef>
              <a:defRPr/>
            </a:pPr>
            <a:r>
              <a:rPr lang="en-US" sz="2200" dirty="0">
                <a:latin typeface="Arial" panose="020B0604020202020204" pitchFamily="34" charset="0"/>
                <a:cs typeface="Arial" panose="020B0604020202020204" pitchFamily="34" charset="0"/>
              </a:rPr>
              <a:t>Algorithms</a:t>
            </a:r>
          </a:p>
          <a:p>
            <a:pPr lvl="1">
              <a:lnSpc>
                <a:spcPct val="110000"/>
              </a:lnSpc>
              <a:spcBef>
                <a:spcPts val="600"/>
              </a:spcBef>
              <a:defRPr/>
            </a:pPr>
            <a:r>
              <a:rPr lang="en-US" sz="2200" dirty="0">
                <a:latin typeface="Arial" panose="020B0604020202020204" pitchFamily="34" charset="0"/>
                <a:cs typeface="Arial" panose="020B0604020202020204" pitchFamily="34" charset="0"/>
              </a:rPr>
              <a:t>Rudimentary Rules (e.g.,</a:t>
            </a:r>
            <a:r>
              <a:rPr lang="tr-TR" sz="2200" dirty="0">
                <a:latin typeface="Arial" panose="020B0604020202020204" pitchFamily="34" charset="0"/>
                <a:cs typeface="Arial" panose="020B0604020202020204" pitchFamily="34" charset="0"/>
              </a:rPr>
              <a:t> 0R, </a:t>
            </a:r>
            <a:r>
              <a:rPr lang="en-US" sz="2200" dirty="0">
                <a:latin typeface="Arial" panose="020B0604020202020204" pitchFamily="34" charset="0"/>
                <a:cs typeface="Arial" panose="020B0604020202020204" pitchFamily="34" charset="0"/>
              </a:rPr>
              <a:t>1R)</a:t>
            </a:r>
          </a:p>
          <a:p>
            <a:pPr lvl="1">
              <a:lnSpc>
                <a:spcPct val="110000"/>
              </a:lnSpc>
              <a:spcBef>
                <a:spcPts val="600"/>
              </a:spcBef>
              <a:defRPr/>
            </a:pPr>
            <a:r>
              <a:rPr lang="en-US" sz="2200" dirty="0">
                <a:latin typeface="Arial" panose="020B0604020202020204" pitchFamily="34" charset="0"/>
                <a:cs typeface="Arial" panose="020B0604020202020204" pitchFamily="34" charset="0"/>
              </a:rPr>
              <a:t>Divide and Conquer: Decision Trees</a:t>
            </a:r>
          </a:p>
          <a:p>
            <a:pPr lvl="1">
              <a:lnSpc>
                <a:spcPct val="110000"/>
              </a:lnSpc>
              <a:spcBef>
                <a:spcPts val="600"/>
              </a:spcBef>
              <a:defRPr/>
            </a:pPr>
            <a:r>
              <a:rPr lang="en-US" sz="2200" dirty="0">
                <a:latin typeface="Arial" panose="020B0604020202020204" pitchFamily="34" charset="0"/>
                <a:cs typeface="Arial" panose="020B0604020202020204" pitchFamily="34" charset="0"/>
              </a:rPr>
              <a:t>Instance-Based Learning</a:t>
            </a:r>
          </a:p>
          <a:p>
            <a:pPr lvl="1">
              <a:lnSpc>
                <a:spcPct val="110000"/>
              </a:lnSpc>
              <a:spcBef>
                <a:spcPts val="600"/>
              </a:spcBef>
              <a:defRPr/>
            </a:pPr>
            <a:r>
              <a:rPr lang="en-US" sz="2200" dirty="0">
                <a:latin typeface="Arial" panose="020B0604020202020204" pitchFamily="34" charset="0"/>
                <a:cs typeface="Arial" panose="020B0604020202020204" pitchFamily="34" charset="0"/>
              </a:rPr>
              <a:t>Statistical Modeling (e.g., Naïve Bayes)</a:t>
            </a:r>
          </a:p>
          <a:p>
            <a:pPr lvl="1">
              <a:lnSpc>
                <a:spcPct val="110000"/>
              </a:lnSpc>
              <a:spcBef>
                <a:spcPts val="600"/>
              </a:spcBef>
              <a:defRPr/>
            </a:pPr>
            <a:r>
              <a:rPr lang="en-US" sz="2200" dirty="0">
                <a:latin typeface="Arial" panose="020B0604020202020204" pitchFamily="34" charset="0"/>
                <a:cs typeface="Arial" panose="020B0604020202020204" pitchFamily="34" charset="0"/>
              </a:rPr>
              <a:t>Logistic Regression</a:t>
            </a:r>
            <a:endParaRPr lang="tr-TR" sz="2200" dirty="0">
              <a:latin typeface="Arial" panose="020B0604020202020204" pitchFamily="34" charset="0"/>
              <a:cs typeface="Arial" panose="020B0604020202020204" pitchFamily="34" charset="0"/>
            </a:endParaRPr>
          </a:p>
          <a:p>
            <a:pPr lvl="1">
              <a:lnSpc>
                <a:spcPct val="110000"/>
              </a:lnSpc>
              <a:spcBef>
                <a:spcPts val="600"/>
              </a:spcBef>
              <a:defRPr/>
            </a:pPr>
            <a:r>
              <a:rPr lang="en-US" sz="2200" dirty="0">
                <a:latin typeface="Arial" panose="020B0604020202020204" pitchFamily="34" charset="0"/>
                <a:cs typeface="Arial" panose="020B0604020202020204" pitchFamily="34" charset="0"/>
              </a:rPr>
              <a:t>Support Vector Machines</a:t>
            </a:r>
          </a:p>
          <a:p>
            <a:pPr lvl="1">
              <a:lnSpc>
                <a:spcPct val="110000"/>
              </a:lnSpc>
              <a:spcBef>
                <a:spcPts val="600"/>
              </a:spcBef>
              <a:defRPr/>
            </a:pPr>
            <a:r>
              <a:rPr lang="en-US" sz="2200" dirty="0">
                <a:latin typeface="Arial" panose="020B0604020202020204" pitchFamily="34" charset="0"/>
                <a:cs typeface="Arial" panose="020B0604020202020204" pitchFamily="34" charset="0"/>
              </a:rPr>
              <a:t>Neural Networks</a:t>
            </a:r>
            <a:endParaRPr lang="tr-TR"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9761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The Disease Problem</a:t>
            </a:r>
            <a:endParaRPr lang="tr-TR" b="1" dirty="0"/>
          </a:p>
        </p:txBody>
      </p:sp>
      <p:sp>
        <p:nvSpPr>
          <p:cNvPr id="6" name="Rectangle 3"/>
          <p:cNvSpPr>
            <a:spLocks noGrp="1" noChangeArrowheads="1"/>
          </p:cNvSpPr>
          <p:nvPr>
            <p:ph idx="1"/>
          </p:nvPr>
        </p:nvSpPr>
        <p:spPr>
          <a:xfrm>
            <a:off x="838201" y="1695373"/>
            <a:ext cx="11049000" cy="4969419"/>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Suppose that you have a friend who is a doctor. </a:t>
            </a:r>
          </a:p>
          <a:p>
            <a:pPr>
              <a:lnSpc>
                <a:spcPct val="120000"/>
              </a:lnSpc>
              <a:spcBef>
                <a:spcPts val="600"/>
              </a:spcBef>
            </a:pPr>
            <a:r>
              <a:rPr lang="en-US" sz="2000" dirty="0">
                <a:latin typeface="Arial" panose="020B0604020202020204" pitchFamily="34" charset="0"/>
                <a:cs typeface="Arial" panose="020B0604020202020204" pitchFamily="34" charset="0"/>
              </a:rPr>
              <a:t>A laboratory test is required to determine the illness. </a:t>
            </a:r>
          </a:p>
          <a:p>
            <a:pPr>
              <a:lnSpc>
                <a:spcPct val="120000"/>
              </a:lnSpc>
              <a:spcBef>
                <a:spcPts val="600"/>
              </a:spcBef>
            </a:pPr>
            <a:r>
              <a:rPr lang="en-US" sz="2000" dirty="0">
                <a:latin typeface="Arial" panose="020B0604020202020204" pitchFamily="34" charset="0"/>
                <a:cs typeface="Arial" panose="020B0604020202020204" pitchFamily="34" charset="0"/>
              </a:rPr>
              <a:t>If they </a:t>
            </a:r>
            <a:r>
              <a:rPr lang="en-US" sz="2000" b="1" dirty="0">
                <a:latin typeface="Arial" panose="020B0604020202020204" pitchFamily="34" charset="0"/>
                <a:cs typeface="Arial" panose="020B0604020202020204" pitchFamily="34" charset="0"/>
              </a:rPr>
              <a:t>send</a:t>
            </a:r>
            <a:r>
              <a:rPr lang="en-US" sz="2000" dirty="0">
                <a:latin typeface="Arial" panose="020B0604020202020204" pitchFamily="34" charset="0"/>
                <a:cs typeface="Arial" panose="020B0604020202020204" pitchFamily="34" charset="0"/>
              </a:rPr>
              <a:t> someone who is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healthy </a:t>
            </a:r>
            <a:r>
              <a:rPr lang="en-US" sz="2000" dirty="0">
                <a:latin typeface="Arial" panose="020B0604020202020204" pitchFamily="34" charset="0"/>
                <a:cs typeface="Arial" panose="020B0604020202020204" pitchFamily="34" charset="0"/>
              </a:rPr>
              <a:t>for the test, they waste 100 TL</a:t>
            </a:r>
            <a:r>
              <a:rPr lang="tr-TR"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(i.e., the cost of the test). </a:t>
            </a:r>
          </a:p>
          <a:p>
            <a:pPr>
              <a:lnSpc>
                <a:spcPct val="120000"/>
              </a:lnSpc>
              <a:spcBef>
                <a:spcPts val="600"/>
              </a:spcBef>
            </a:pPr>
            <a:r>
              <a:rPr lang="en-US" sz="2000" dirty="0">
                <a:latin typeface="Arial" panose="020B0604020202020204" pitchFamily="34" charset="0"/>
                <a:cs typeface="Arial" panose="020B0604020202020204" pitchFamily="34" charset="0"/>
              </a:rPr>
              <a:t>If they </a:t>
            </a:r>
            <a:r>
              <a:rPr lang="en-US" sz="2000" b="1" dirty="0">
                <a:latin typeface="Arial" panose="020B0604020202020204" pitchFamily="34" charset="0"/>
                <a:cs typeface="Arial" panose="020B0604020202020204" pitchFamily="34" charset="0"/>
              </a:rPr>
              <a:t>fail to send </a:t>
            </a:r>
            <a:r>
              <a:rPr lang="en-US" sz="2000" dirty="0">
                <a:latin typeface="Arial" panose="020B0604020202020204" pitchFamily="34" charset="0"/>
                <a:cs typeface="Arial" panose="020B0604020202020204" pitchFamily="34" charset="0"/>
              </a:rPr>
              <a:t>someone who is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sick </a:t>
            </a:r>
            <a:r>
              <a:rPr lang="en-US" sz="2000" dirty="0">
                <a:latin typeface="Arial" panose="020B0604020202020204" pitchFamily="34" charset="0"/>
                <a:cs typeface="Arial" panose="020B0604020202020204" pitchFamily="34" charset="0"/>
              </a:rPr>
              <a:t>for the test, they pay a penalty of 100 TL for the wrong diagnosis. </a:t>
            </a:r>
          </a:p>
          <a:p>
            <a:pPr>
              <a:lnSpc>
                <a:spcPct val="120000"/>
              </a:lnSpc>
              <a:spcBef>
                <a:spcPts val="600"/>
              </a:spcBef>
            </a:pPr>
            <a:r>
              <a:rPr lang="en-US" sz="2000" dirty="0">
                <a:latin typeface="Arial" panose="020B0604020202020204" pitchFamily="34" charset="0"/>
                <a:cs typeface="Arial" panose="020B0604020202020204" pitchFamily="34" charset="0"/>
              </a:rPr>
              <a:t>If they make this decision by tossing a coin, what would be the cost of </a:t>
            </a:r>
            <a:r>
              <a:rPr lang="en-US" sz="2000" b="1" u="sng" dirty="0">
                <a:latin typeface="Arial" panose="020B0604020202020204" pitchFamily="34" charset="0"/>
                <a:cs typeface="Arial" panose="020B0604020202020204" pitchFamily="34" charset="0"/>
              </a:rPr>
              <a:t>wrong decisions</a:t>
            </a:r>
            <a:r>
              <a:rPr lang="tr-TR"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for the day?</a:t>
            </a:r>
            <a:endParaRPr lang="tr-TR"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For each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healthy" </a:t>
            </a:r>
            <a:r>
              <a:rPr lang="en-US" sz="2000" dirty="0">
                <a:latin typeface="Arial" panose="020B0604020202020204" pitchFamily="34" charset="0"/>
                <a:cs typeface="Arial" panose="020B0604020202020204" pitchFamily="34" charset="0"/>
              </a:rPr>
              <a:t>asking a laboratory test is a </a:t>
            </a:r>
            <a:r>
              <a:rPr lang="en-US" sz="2000" b="1" dirty="0">
                <a:latin typeface="Arial" panose="020B0604020202020204" pitchFamily="34" charset="0"/>
                <a:cs typeface="Arial" panose="020B0604020202020204" pitchFamily="34" charset="0"/>
              </a:rPr>
              <a:t>wrong decision (100 TL waste).</a:t>
            </a:r>
            <a:endParaRPr lang="en-US" sz="2000"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For each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sick" </a:t>
            </a:r>
            <a:r>
              <a:rPr lang="en-US" sz="2000" b="1" i="1" u="sng" dirty="0">
                <a:latin typeface="Arial" panose="020B0604020202020204" pitchFamily="34" charset="0"/>
                <a:cs typeface="Arial" panose="020B0604020202020204" pitchFamily="34" charset="0"/>
              </a:rPr>
              <a:t>not</a:t>
            </a:r>
            <a:r>
              <a:rPr lang="en-US" sz="2000" dirty="0">
                <a:latin typeface="Arial" panose="020B0604020202020204" pitchFamily="34" charset="0"/>
                <a:cs typeface="Arial" panose="020B0604020202020204" pitchFamily="34" charset="0"/>
              </a:rPr>
              <a:t> asking a laboratory test is a </a:t>
            </a:r>
            <a:r>
              <a:rPr lang="en-US" sz="2000" b="1" dirty="0">
                <a:latin typeface="Arial" panose="020B0604020202020204" pitchFamily="34" charset="0"/>
                <a:cs typeface="Arial" panose="020B0604020202020204" pitchFamily="34" charset="0"/>
              </a:rPr>
              <a:t>wrong decision (100 TL penalty).</a:t>
            </a:r>
            <a:endParaRPr lang="tr-TR" sz="2000" b="1" dirty="0">
              <a:latin typeface="Arial" panose="020B0604020202020204" pitchFamily="34" charset="0"/>
              <a:cs typeface="Arial" panose="020B0604020202020204" pitchFamily="34" charset="0"/>
            </a:endParaRPr>
          </a:p>
          <a:p>
            <a:pPr>
              <a:lnSpc>
                <a:spcPct val="120000"/>
              </a:lnSpc>
              <a:spcBef>
                <a:spcPts val="600"/>
              </a:spcBef>
            </a:pPr>
            <a:r>
              <a:rPr lang="en-US" sz="2000" dirty="0">
                <a:latin typeface="Arial" panose="020B0604020202020204" pitchFamily="34" charset="0"/>
                <a:cs typeface="Arial" panose="020B0604020202020204" pitchFamily="34" charset="0"/>
              </a:rPr>
              <a:t>Can we </a:t>
            </a:r>
            <a:r>
              <a:rPr lang="en-US" sz="2000" i="1" u="sng" dirty="0">
                <a:latin typeface="Arial" panose="020B0604020202020204" pitchFamily="34" charset="0"/>
                <a:cs typeface="Arial" panose="020B0604020202020204" pitchFamily="34" charset="0"/>
              </a:rPr>
              <a:t>minimize the cost of wrong decision by using data</a:t>
            </a:r>
            <a:r>
              <a:rPr lang="en-US" sz="2000" dirty="0">
                <a:latin typeface="Arial" panose="020B0604020202020204" pitchFamily="34" charset="0"/>
                <a:cs typeface="Arial" panose="020B0604020202020204" pitchFamily="34" charset="0"/>
              </a:rPr>
              <a:t>? (i.e., making informed decisions)</a:t>
            </a:r>
          </a:p>
          <a:p>
            <a:pPr>
              <a:lnSpc>
                <a:spcPct val="120000"/>
              </a:lnSpc>
              <a:spcBef>
                <a:spcPts val="600"/>
              </a:spcBef>
            </a:pPr>
            <a:endParaRPr lang="tr-TR" sz="2000" b="1" dirty="0">
              <a:solidFill>
                <a:srgbClr val="00B050"/>
              </a:solidFill>
              <a:latin typeface="Arial" panose="020B0604020202020204" pitchFamily="34" charset="0"/>
              <a:cs typeface="Arial" panose="020B0604020202020204" pitchFamily="34" charset="0"/>
            </a:endParaRPr>
          </a:p>
          <a:p>
            <a:pPr>
              <a:lnSpc>
                <a:spcPct val="110000"/>
              </a:lnSpc>
            </a:pPr>
            <a:endParaRPr lang="tr-TR" sz="2200" b="1" dirty="0">
              <a:solidFill>
                <a:srgbClr val="00B050"/>
              </a:solidFill>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0883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The Disease Problem</a:t>
            </a:r>
            <a:endParaRPr lang="tr-TR" b="1" dirty="0"/>
          </a:p>
        </p:txBody>
      </p:sp>
      <p:graphicFrame>
        <p:nvGraphicFramePr>
          <p:cNvPr id="2" name="Table 1"/>
          <p:cNvGraphicFramePr>
            <a:graphicFrameLocks noGrp="1"/>
          </p:cNvGraphicFramePr>
          <p:nvPr/>
        </p:nvGraphicFramePr>
        <p:xfrm>
          <a:off x="838200" y="1690688"/>
          <a:ext cx="2587496" cy="5097358"/>
        </p:xfrm>
        <a:graphic>
          <a:graphicData uri="http://schemas.openxmlformats.org/drawingml/2006/table">
            <a:tbl>
              <a:tblPr firstRow="1" bandRow="1">
                <a:tableStyleId>{10A1B5D5-9B99-4C35-A422-299274C87663}</a:tableStyleId>
              </a:tblPr>
              <a:tblGrid>
                <a:gridCol w="695634">
                  <a:extLst>
                    <a:ext uri="{9D8B030D-6E8A-4147-A177-3AD203B41FA5}">
                      <a16:colId xmlns:a16="http://schemas.microsoft.com/office/drawing/2014/main" val="4151893868"/>
                    </a:ext>
                  </a:extLst>
                </a:gridCol>
                <a:gridCol w="1891862">
                  <a:extLst>
                    <a:ext uri="{9D8B030D-6E8A-4147-A177-3AD203B41FA5}">
                      <a16:colId xmlns:a16="http://schemas.microsoft.com/office/drawing/2014/main" val="3683188331"/>
                    </a:ext>
                  </a:extLst>
                </a:gridCol>
              </a:tblGrid>
              <a:tr h="403438">
                <a:tc>
                  <a:txBody>
                    <a:bodyPr/>
                    <a:lstStyle/>
                    <a:p>
                      <a:pPr marL="0" algn="ctr" defTabSz="914400" rtl="0" eaLnBrk="1" latinLnBrk="0" hangingPunct="1"/>
                      <a:r>
                        <a:rPr lang="tr-TR" sz="16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6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Disease</a:t>
                      </a:r>
                      <a:endParaRPr lang="en-US" sz="16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309869">
                <a:tc>
                  <a:txBody>
                    <a:bodyPr/>
                    <a:lstStyle/>
                    <a:p>
                      <a:pPr algn="ctr"/>
                      <a:r>
                        <a:rPr lang="tr-TR" sz="1600" noProof="0" dirty="0">
                          <a:latin typeface="Arial" panose="020B0604020202020204" pitchFamily="34" charset="0"/>
                          <a:cs typeface="Arial" panose="020B0604020202020204" pitchFamily="34" charset="0"/>
                        </a:rPr>
                        <a:t>14</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
        <p:nvSpPr>
          <p:cNvPr id="3" name="Rectangle 3">
            <a:extLst>
              <a:ext uri="{FF2B5EF4-FFF2-40B4-BE49-F238E27FC236}">
                <a16:creationId xmlns:a16="http://schemas.microsoft.com/office/drawing/2014/main" id="{8B1F8BC2-CB90-76D8-3A37-87F7BF14A8DF}"/>
              </a:ext>
            </a:extLst>
          </p:cNvPr>
          <p:cNvSpPr txBox="1">
            <a:spLocks noChangeArrowheads="1"/>
          </p:cNvSpPr>
          <p:nvPr/>
        </p:nvSpPr>
        <p:spPr>
          <a:xfrm>
            <a:off x="3657599" y="1320801"/>
            <a:ext cx="8273144" cy="53439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sz="2000" dirty="0">
                <a:latin typeface="Arial" panose="020B0604020202020204" pitchFamily="34" charset="0"/>
                <a:cs typeface="Arial" panose="020B0604020202020204" pitchFamily="34" charset="0"/>
              </a:rPr>
              <a:t>Suppose that</a:t>
            </a:r>
            <a:r>
              <a:rPr lang="tr-TR" sz="2000" dirty="0">
                <a:latin typeface="Arial" panose="020B0604020202020204" pitchFamily="34" charset="0"/>
                <a:cs typeface="Arial" panose="020B0604020202020204" pitchFamily="34" charset="0"/>
              </a:rPr>
              <a:t> o</a:t>
            </a:r>
            <a:r>
              <a:rPr lang="en-US" sz="2000" dirty="0">
                <a:latin typeface="Arial" panose="020B0604020202020204" pitchFamily="34" charset="0"/>
                <a:cs typeface="Arial" panose="020B0604020202020204" pitchFamily="34" charset="0"/>
              </a:rPr>
              <a:t>n that day, 14 people came in for an examination. </a:t>
            </a:r>
          </a:p>
          <a:p>
            <a:pPr marL="0" indent="0">
              <a:lnSpc>
                <a:spcPct val="120000"/>
              </a:lnSpc>
              <a:spcBef>
                <a:spcPts val="600"/>
              </a:spcBef>
              <a:buFont typeface="Arial" panose="020B0604020202020204" pitchFamily="34" charset="0"/>
              <a:buNone/>
            </a:pPr>
            <a:r>
              <a:rPr lang="en-US" sz="2000" b="1" i="1" u="sng" dirty="0">
                <a:latin typeface="Arial" panose="020B0604020202020204" pitchFamily="34" charset="0"/>
                <a:cs typeface="Arial" panose="020B0604020202020204" pitchFamily="34" charset="0"/>
              </a:rPr>
              <a:t>Recall:</a:t>
            </a:r>
          </a:p>
          <a:p>
            <a:pPr>
              <a:lnSpc>
                <a:spcPct val="120000"/>
              </a:lnSpc>
              <a:spcBef>
                <a:spcPts val="600"/>
              </a:spcBef>
            </a:pPr>
            <a:r>
              <a:rPr lang="en-US" sz="2000" dirty="0">
                <a:latin typeface="Arial" panose="020B0604020202020204" pitchFamily="34" charset="0"/>
                <a:cs typeface="Arial" panose="020B0604020202020204" pitchFamily="34" charset="0"/>
              </a:rPr>
              <a:t>A laboratory test is required to determine the illness. </a:t>
            </a:r>
          </a:p>
          <a:p>
            <a:pPr>
              <a:lnSpc>
                <a:spcPct val="120000"/>
              </a:lnSpc>
              <a:spcBef>
                <a:spcPts val="600"/>
              </a:spcBef>
            </a:pPr>
            <a:r>
              <a:rPr lang="en-US" sz="2000" dirty="0">
                <a:latin typeface="Arial" panose="020B0604020202020204" pitchFamily="34" charset="0"/>
                <a:cs typeface="Arial" panose="020B0604020202020204" pitchFamily="34" charset="0"/>
              </a:rPr>
              <a:t>If they </a:t>
            </a:r>
            <a:r>
              <a:rPr lang="en-US" sz="2000" b="1" dirty="0">
                <a:latin typeface="Arial" panose="020B0604020202020204" pitchFamily="34" charset="0"/>
                <a:cs typeface="Arial" panose="020B0604020202020204" pitchFamily="34" charset="0"/>
              </a:rPr>
              <a:t>send</a:t>
            </a:r>
            <a:r>
              <a:rPr lang="en-US" sz="2000" dirty="0">
                <a:latin typeface="Arial" panose="020B0604020202020204" pitchFamily="34" charset="0"/>
                <a:cs typeface="Arial" panose="020B0604020202020204" pitchFamily="34" charset="0"/>
              </a:rPr>
              <a:t> someone who is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healthy </a:t>
            </a:r>
            <a:r>
              <a:rPr lang="en-US" sz="2000" dirty="0">
                <a:latin typeface="Arial" panose="020B0604020202020204" pitchFamily="34" charset="0"/>
                <a:cs typeface="Arial" panose="020B0604020202020204" pitchFamily="34" charset="0"/>
              </a:rPr>
              <a:t>for the test, they waste 100 TL</a:t>
            </a:r>
            <a:r>
              <a:rPr lang="tr-TR"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(i.e., the cost of the test). </a:t>
            </a:r>
          </a:p>
          <a:p>
            <a:pPr>
              <a:lnSpc>
                <a:spcPct val="120000"/>
              </a:lnSpc>
              <a:spcBef>
                <a:spcPts val="600"/>
              </a:spcBef>
            </a:pPr>
            <a:r>
              <a:rPr lang="en-US" sz="2000" dirty="0">
                <a:latin typeface="Arial" panose="020B0604020202020204" pitchFamily="34" charset="0"/>
                <a:cs typeface="Arial" panose="020B0604020202020204" pitchFamily="34" charset="0"/>
              </a:rPr>
              <a:t>If they </a:t>
            </a:r>
            <a:r>
              <a:rPr lang="en-US" sz="2000" b="1" dirty="0">
                <a:latin typeface="Arial" panose="020B0604020202020204" pitchFamily="34" charset="0"/>
                <a:cs typeface="Arial" panose="020B0604020202020204" pitchFamily="34" charset="0"/>
              </a:rPr>
              <a:t>fail to send </a:t>
            </a:r>
            <a:r>
              <a:rPr lang="en-US" sz="2000" dirty="0">
                <a:latin typeface="Arial" panose="020B0604020202020204" pitchFamily="34" charset="0"/>
                <a:cs typeface="Arial" panose="020B0604020202020204" pitchFamily="34" charset="0"/>
              </a:rPr>
              <a:t>someone who is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sick </a:t>
            </a:r>
            <a:r>
              <a:rPr lang="en-US" sz="2000" dirty="0">
                <a:latin typeface="Arial" panose="020B0604020202020204" pitchFamily="34" charset="0"/>
                <a:cs typeface="Arial" panose="020B0604020202020204" pitchFamily="34" charset="0"/>
              </a:rPr>
              <a:t>for the test, they pay a penalty of 100 TL for the wrong diagnosis. </a:t>
            </a:r>
          </a:p>
          <a:p>
            <a:pPr>
              <a:lnSpc>
                <a:spcPct val="120000"/>
              </a:lnSpc>
              <a:spcBef>
                <a:spcPts val="600"/>
              </a:spcBef>
            </a:pPr>
            <a:r>
              <a:rPr lang="en-US" sz="2000" dirty="0">
                <a:latin typeface="Arial" panose="020B0604020202020204" pitchFamily="34" charset="0"/>
                <a:cs typeface="Arial" panose="020B0604020202020204" pitchFamily="34" charset="0"/>
              </a:rPr>
              <a:t>If they make this decision by tossing a coin, what would be the cost for the day?</a:t>
            </a:r>
          </a:p>
        </p:txBody>
      </p:sp>
    </p:spTree>
    <p:extLst>
      <p:ext uri="{BB962C8B-B14F-4D97-AF65-F5344CB8AC3E}">
        <p14:creationId xmlns:p14="http://schemas.microsoft.com/office/powerpoint/2010/main" val="23281747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The Disease Problem</a:t>
            </a:r>
            <a:endParaRPr lang="tr-TR" b="1" dirty="0"/>
          </a:p>
        </p:txBody>
      </p:sp>
      <p:graphicFrame>
        <p:nvGraphicFramePr>
          <p:cNvPr id="2" name="Table 1"/>
          <p:cNvGraphicFramePr>
            <a:graphicFrameLocks noGrp="1"/>
          </p:cNvGraphicFramePr>
          <p:nvPr/>
        </p:nvGraphicFramePr>
        <p:xfrm>
          <a:off x="838200" y="1690688"/>
          <a:ext cx="2587496" cy="5097358"/>
        </p:xfrm>
        <a:graphic>
          <a:graphicData uri="http://schemas.openxmlformats.org/drawingml/2006/table">
            <a:tbl>
              <a:tblPr firstRow="1" bandRow="1">
                <a:tableStyleId>{10A1B5D5-9B99-4C35-A422-299274C87663}</a:tableStyleId>
              </a:tblPr>
              <a:tblGrid>
                <a:gridCol w="695634">
                  <a:extLst>
                    <a:ext uri="{9D8B030D-6E8A-4147-A177-3AD203B41FA5}">
                      <a16:colId xmlns:a16="http://schemas.microsoft.com/office/drawing/2014/main" val="4151893868"/>
                    </a:ext>
                  </a:extLst>
                </a:gridCol>
                <a:gridCol w="1891862">
                  <a:extLst>
                    <a:ext uri="{9D8B030D-6E8A-4147-A177-3AD203B41FA5}">
                      <a16:colId xmlns:a16="http://schemas.microsoft.com/office/drawing/2014/main" val="3683188331"/>
                    </a:ext>
                  </a:extLst>
                </a:gridCol>
              </a:tblGrid>
              <a:tr h="403438">
                <a:tc>
                  <a:txBody>
                    <a:bodyPr/>
                    <a:lstStyle/>
                    <a:p>
                      <a:pPr marL="0" algn="ctr" defTabSz="914400" rtl="0" eaLnBrk="1" latinLnBrk="0" hangingPunct="1"/>
                      <a:r>
                        <a:rPr lang="tr-TR" sz="16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6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Disease</a:t>
                      </a:r>
                      <a:endParaRPr lang="en-US" sz="16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309869">
                <a:tc>
                  <a:txBody>
                    <a:bodyPr/>
                    <a:lstStyle/>
                    <a:p>
                      <a:pPr algn="ctr"/>
                      <a:r>
                        <a:rPr lang="tr-TR" sz="1600" noProof="0" dirty="0">
                          <a:latin typeface="Arial" panose="020B0604020202020204" pitchFamily="34" charset="0"/>
                          <a:cs typeface="Arial" panose="020B0604020202020204" pitchFamily="34" charset="0"/>
                        </a:rPr>
                        <a:t>14</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
        <p:nvSpPr>
          <p:cNvPr id="4" name="Rectangle 3"/>
          <p:cNvSpPr>
            <a:spLocks noGrp="1" noChangeArrowheads="1"/>
          </p:cNvSpPr>
          <p:nvPr>
            <p:ph idx="1"/>
          </p:nvPr>
        </p:nvSpPr>
        <p:spPr>
          <a:xfrm>
            <a:off x="3657599" y="1320801"/>
            <a:ext cx="8273144" cy="5343992"/>
          </a:xfrm>
        </p:spPr>
        <p:txBody>
          <a:bodyPr>
            <a:noAutofit/>
          </a:bodyPr>
          <a:lstStyle/>
          <a:p>
            <a:pPr>
              <a:lnSpc>
                <a:spcPct val="120000"/>
              </a:lnSpc>
              <a:spcBef>
                <a:spcPts val="600"/>
              </a:spcBef>
            </a:pPr>
            <a:r>
              <a:rPr lang="en-US" sz="2000" dirty="0">
                <a:latin typeface="Arial" panose="020B0604020202020204" pitchFamily="34" charset="0"/>
                <a:cs typeface="Arial" panose="020B0604020202020204" pitchFamily="34" charset="0"/>
              </a:rPr>
              <a:t>Suppose that</a:t>
            </a:r>
            <a:r>
              <a:rPr lang="tr-TR" sz="2000" dirty="0">
                <a:latin typeface="Arial" panose="020B0604020202020204" pitchFamily="34" charset="0"/>
                <a:cs typeface="Arial" panose="020B0604020202020204" pitchFamily="34" charset="0"/>
              </a:rPr>
              <a:t> o</a:t>
            </a:r>
            <a:r>
              <a:rPr lang="en-US" sz="2000" dirty="0">
                <a:latin typeface="Arial" panose="020B0604020202020204" pitchFamily="34" charset="0"/>
                <a:cs typeface="Arial" panose="020B0604020202020204" pitchFamily="34" charset="0"/>
              </a:rPr>
              <a:t>n that day, 14 people came in for an examination. </a:t>
            </a:r>
          </a:p>
          <a:p>
            <a:pPr marL="0" indent="0">
              <a:lnSpc>
                <a:spcPct val="120000"/>
              </a:lnSpc>
              <a:spcBef>
                <a:spcPts val="600"/>
              </a:spcBef>
              <a:buNone/>
            </a:pPr>
            <a:r>
              <a:rPr lang="en-US" sz="2000" b="1" i="1" u="sng" dirty="0">
                <a:latin typeface="Arial" panose="020B0604020202020204" pitchFamily="34" charset="0"/>
                <a:cs typeface="Arial" panose="020B0604020202020204" pitchFamily="34" charset="0"/>
              </a:rPr>
              <a:t>Recall:</a:t>
            </a:r>
          </a:p>
          <a:p>
            <a:pPr>
              <a:lnSpc>
                <a:spcPct val="120000"/>
              </a:lnSpc>
              <a:spcBef>
                <a:spcPts val="600"/>
              </a:spcBef>
            </a:pPr>
            <a:r>
              <a:rPr lang="en-US" sz="2000" dirty="0">
                <a:latin typeface="Arial" panose="020B0604020202020204" pitchFamily="34" charset="0"/>
                <a:cs typeface="Arial" panose="020B0604020202020204" pitchFamily="34" charset="0"/>
              </a:rPr>
              <a:t>A laboratory test is required to determine the illness. </a:t>
            </a:r>
          </a:p>
          <a:p>
            <a:pPr>
              <a:lnSpc>
                <a:spcPct val="120000"/>
              </a:lnSpc>
              <a:spcBef>
                <a:spcPts val="600"/>
              </a:spcBef>
            </a:pPr>
            <a:r>
              <a:rPr lang="en-US" sz="2000" dirty="0">
                <a:latin typeface="Arial" panose="020B0604020202020204" pitchFamily="34" charset="0"/>
                <a:cs typeface="Arial" panose="020B0604020202020204" pitchFamily="34" charset="0"/>
              </a:rPr>
              <a:t>If they </a:t>
            </a:r>
            <a:r>
              <a:rPr lang="en-US" sz="2000" b="1" dirty="0">
                <a:latin typeface="Arial" panose="020B0604020202020204" pitchFamily="34" charset="0"/>
                <a:cs typeface="Arial" panose="020B0604020202020204" pitchFamily="34" charset="0"/>
              </a:rPr>
              <a:t>send</a:t>
            </a:r>
            <a:r>
              <a:rPr lang="en-US" sz="2000" dirty="0">
                <a:latin typeface="Arial" panose="020B0604020202020204" pitchFamily="34" charset="0"/>
                <a:cs typeface="Arial" panose="020B0604020202020204" pitchFamily="34" charset="0"/>
              </a:rPr>
              <a:t> someone who is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healthy </a:t>
            </a:r>
            <a:r>
              <a:rPr lang="en-US" sz="2000" dirty="0">
                <a:latin typeface="Arial" panose="020B0604020202020204" pitchFamily="34" charset="0"/>
                <a:cs typeface="Arial" panose="020B0604020202020204" pitchFamily="34" charset="0"/>
              </a:rPr>
              <a:t>for the test, they waste 100 TL</a:t>
            </a:r>
            <a:r>
              <a:rPr lang="tr-TR"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(i.e., the cost of the test). </a:t>
            </a:r>
          </a:p>
          <a:p>
            <a:pPr>
              <a:lnSpc>
                <a:spcPct val="120000"/>
              </a:lnSpc>
              <a:spcBef>
                <a:spcPts val="600"/>
              </a:spcBef>
            </a:pPr>
            <a:r>
              <a:rPr lang="en-US" sz="2000" dirty="0">
                <a:latin typeface="Arial" panose="020B0604020202020204" pitchFamily="34" charset="0"/>
                <a:cs typeface="Arial" panose="020B0604020202020204" pitchFamily="34" charset="0"/>
              </a:rPr>
              <a:t>If they </a:t>
            </a:r>
            <a:r>
              <a:rPr lang="en-US" sz="2000" b="1" dirty="0">
                <a:latin typeface="Arial" panose="020B0604020202020204" pitchFamily="34" charset="0"/>
                <a:cs typeface="Arial" panose="020B0604020202020204" pitchFamily="34" charset="0"/>
              </a:rPr>
              <a:t>fail to send </a:t>
            </a:r>
            <a:r>
              <a:rPr lang="en-US" sz="2000" dirty="0">
                <a:latin typeface="Arial" panose="020B0604020202020204" pitchFamily="34" charset="0"/>
                <a:cs typeface="Arial" panose="020B0604020202020204" pitchFamily="34" charset="0"/>
              </a:rPr>
              <a:t>someone who is </a:t>
            </a:r>
            <a:r>
              <a:rPr lang="en-US" sz="2000" i="1" u="sng" dirty="0">
                <a:latin typeface="Arial" panose="020B0604020202020204" pitchFamily="34" charset="0"/>
                <a:cs typeface="Arial" panose="020B0604020202020204" pitchFamily="34" charset="0"/>
              </a:rPr>
              <a:t>actually</a:t>
            </a:r>
            <a:r>
              <a:rPr lang="en-US" sz="2000" b="1" dirty="0">
                <a:latin typeface="Arial" panose="020B0604020202020204" pitchFamily="34" charset="0"/>
                <a:cs typeface="Arial" panose="020B0604020202020204" pitchFamily="34" charset="0"/>
              </a:rPr>
              <a:t> sick </a:t>
            </a:r>
            <a:r>
              <a:rPr lang="en-US" sz="2000" dirty="0">
                <a:latin typeface="Arial" panose="020B0604020202020204" pitchFamily="34" charset="0"/>
                <a:cs typeface="Arial" panose="020B0604020202020204" pitchFamily="34" charset="0"/>
              </a:rPr>
              <a:t>for the test, they pay a penalty of 100 TL for the wrong diagnosis. </a:t>
            </a:r>
          </a:p>
          <a:p>
            <a:pPr>
              <a:lnSpc>
                <a:spcPct val="120000"/>
              </a:lnSpc>
              <a:spcBef>
                <a:spcPts val="600"/>
              </a:spcBef>
            </a:pPr>
            <a:r>
              <a:rPr lang="en-US" sz="2000" dirty="0">
                <a:latin typeface="Arial" panose="020B0604020202020204" pitchFamily="34" charset="0"/>
                <a:cs typeface="Arial" panose="020B0604020202020204" pitchFamily="34" charset="0"/>
              </a:rPr>
              <a:t>If they make this decision by tossing a coin, what would be the cost for the day?</a:t>
            </a:r>
          </a:p>
          <a:p>
            <a:r>
              <a:rPr lang="en-US" sz="2000" b="1" dirty="0">
                <a:solidFill>
                  <a:srgbClr val="FF0000"/>
                </a:solidFill>
                <a:latin typeface="Arial" panose="020B0604020202020204" pitchFamily="34" charset="0"/>
                <a:cs typeface="Arial" panose="020B0604020202020204" pitchFamily="34" charset="0"/>
              </a:rPr>
              <a:t>There are 9 sick patients</a:t>
            </a:r>
            <a:r>
              <a:rPr lang="en-US" sz="2000" dirty="0">
                <a:solidFill>
                  <a:srgbClr val="FF0000"/>
                </a:solidFill>
                <a:latin typeface="Arial" panose="020B0604020202020204" pitchFamily="34" charset="0"/>
                <a:cs typeface="Arial" panose="020B0604020202020204" pitchFamily="34" charset="0"/>
              </a:rPr>
              <a:t>. Half of them will make the right decision, and half will make the wrong decision. </a:t>
            </a:r>
            <a:r>
              <a:rPr lang="en-US" sz="2000" b="1" dirty="0">
                <a:solidFill>
                  <a:srgbClr val="FF0000"/>
                </a:solidFill>
                <a:latin typeface="Arial" panose="020B0604020202020204" pitchFamily="34" charset="0"/>
                <a:cs typeface="Arial" panose="020B0604020202020204" pitchFamily="34" charset="0"/>
              </a:rPr>
              <a:t>The expected cost is 450 TL.</a:t>
            </a:r>
          </a:p>
          <a:p>
            <a:r>
              <a:rPr lang="en-US" sz="2000" dirty="0">
                <a:solidFill>
                  <a:srgbClr val="00B050"/>
                </a:solidFill>
                <a:latin typeface="Arial" panose="020B0604020202020204" pitchFamily="34" charset="0"/>
                <a:cs typeface="Arial" panose="020B0604020202020204" pitchFamily="34" charset="0"/>
              </a:rPr>
              <a:t>There are </a:t>
            </a:r>
            <a:r>
              <a:rPr lang="en-US" sz="2000" b="1" dirty="0">
                <a:solidFill>
                  <a:srgbClr val="00B050"/>
                </a:solidFill>
                <a:latin typeface="Arial" panose="020B0604020202020204" pitchFamily="34" charset="0"/>
                <a:cs typeface="Arial" panose="020B0604020202020204" pitchFamily="34" charset="0"/>
              </a:rPr>
              <a:t>5 healthy individuals</a:t>
            </a:r>
            <a:r>
              <a:rPr lang="en-US" sz="2000" dirty="0">
                <a:solidFill>
                  <a:srgbClr val="00B050"/>
                </a:solidFill>
                <a:latin typeface="Arial" panose="020B0604020202020204" pitchFamily="34" charset="0"/>
                <a:cs typeface="Arial" panose="020B0604020202020204" pitchFamily="34" charset="0"/>
              </a:rPr>
              <a:t>. Half of them will make the right decision, and half will make the wrong decision. </a:t>
            </a:r>
            <a:r>
              <a:rPr lang="en-US" sz="2000" b="1" dirty="0">
                <a:solidFill>
                  <a:srgbClr val="00B050"/>
                </a:solidFill>
                <a:latin typeface="Arial" panose="020B0604020202020204" pitchFamily="34" charset="0"/>
                <a:cs typeface="Arial" panose="020B0604020202020204" pitchFamily="34" charset="0"/>
              </a:rPr>
              <a:t>The expected cost is 250 TL.</a:t>
            </a:r>
            <a:endParaRPr lang="tr-TR" sz="2200" b="1" dirty="0">
              <a:solidFill>
                <a:srgbClr val="00B050"/>
              </a:solidFill>
              <a:latin typeface="Arial" panose="020B0604020202020204" pitchFamily="34" charset="0"/>
              <a:cs typeface="Arial" panose="020B0604020202020204" pitchFamily="34" charset="0"/>
            </a:endParaRPr>
          </a:p>
        </p:txBody>
      </p:sp>
      <p:sp>
        <p:nvSpPr>
          <p:cNvPr id="6" name="Cloud 5"/>
          <p:cNvSpPr/>
          <p:nvPr/>
        </p:nvSpPr>
        <p:spPr>
          <a:xfrm>
            <a:off x="6552199" y="5398699"/>
            <a:ext cx="4258639" cy="1459301"/>
          </a:xfrm>
          <a:prstGeom prst="cloud">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200" b="1" dirty="0">
                <a:solidFill>
                  <a:srgbClr val="00B0F0"/>
                </a:solidFill>
                <a:latin typeface="Arial" panose="020B0604020202020204" pitchFamily="34" charset="0"/>
                <a:cs typeface="Arial" panose="020B0604020202020204" pitchFamily="34" charset="0"/>
              </a:rPr>
              <a:t>TOTAL </a:t>
            </a:r>
          </a:p>
          <a:p>
            <a:pPr algn="ctr"/>
            <a:r>
              <a:rPr lang="tr-TR" sz="2200" b="1" dirty="0">
                <a:solidFill>
                  <a:srgbClr val="FF0000"/>
                </a:solidFill>
                <a:latin typeface="Arial" panose="020B0604020202020204" pitchFamily="34" charset="0"/>
                <a:cs typeface="Arial" panose="020B0604020202020204" pitchFamily="34" charset="0"/>
              </a:rPr>
              <a:t>450 </a:t>
            </a:r>
            <a:r>
              <a:rPr lang="tr-TR" sz="2200" b="1" dirty="0">
                <a:solidFill>
                  <a:srgbClr val="00B0F0"/>
                </a:solidFill>
                <a:latin typeface="Arial" panose="020B0604020202020204" pitchFamily="34" charset="0"/>
                <a:cs typeface="Arial" panose="020B0604020202020204" pitchFamily="34" charset="0"/>
              </a:rPr>
              <a:t>+ </a:t>
            </a:r>
            <a:r>
              <a:rPr lang="tr-TR" sz="2200" b="1" dirty="0">
                <a:solidFill>
                  <a:srgbClr val="00B050"/>
                </a:solidFill>
                <a:latin typeface="Arial" panose="020B0604020202020204" pitchFamily="34" charset="0"/>
                <a:cs typeface="Arial" panose="020B0604020202020204" pitchFamily="34" charset="0"/>
              </a:rPr>
              <a:t>250</a:t>
            </a:r>
            <a:r>
              <a:rPr lang="tr-TR" sz="2200" b="1" dirty="0">
                <a:solidFill>
                  <a:srgbClr val="00B0F0"/>
                </a:solidFill>
                <a:latin typeface="Arial" panose="020B0604020202020204" pitchFamily="34" charset="0"/>
                <a:cs typeface="Arial" panose="020B0604020202020204" pitchFamily="34" charset="0"/>
              </a:rPr>
              <a:t> = 700 TL!</a:t>
            </a:r>
            <a:endParaRPr lang="en-US" sz="2200" b="1" dirty="0">
              <a:solidFill>
                <a:srgbClr val="00B0F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905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b="1" dirty="0"/>
              <a:t>Creating Value From Data</a:t>
            </a:r>
          </a:p>
        </p:txBody>
      </p:sp>
      <p:grpSp>
        <p:nvGrpSpPr>
          <p:cNvPr id="4" name="Group 3"/>
          <p:cNvGrpSpPr/>
          <p:nvPr/>
        </p:nvGrpSpPr>
        <p:grpSpPr>
          <a:xfrm>
            <a:off x="838200" y="1690688"/>
            <a:ext cx="3403798" cy="4934787"/>
            <a:chOff x="3903636" y="1690687"/>
            <a:chExt cx="3403798" cy="4934787"/>
          </a:xfrm>
        </p:grpSpPr>
        <p:grpSp>
          <p:nvGrpSpPr>
            <p:cNvPr id="6" name="Group 5"/>
            <p:cNvGrpSpPr/>
            <p:nvPr/>
          </p:nvGrpSpPr>
          <p:grpSpPr>
            <a:xfrm>
              <a:off x="3903636" y="1690687"/>
              <a:ext cx="1375718" cy="2694512"/>
              <a:chOff x="3874139" y="1690688"/>
              <a:chExt cx="1375718" cy="2694512"/>
            </a:xfrm>
          </p:grpSpPr>
          <p:sp>
            <p:nvSpPr>
              <p:cNvPr id="17" name="Rectangle 6"/>
              <p:cNvSpPr>
                <a:spLocks noChangeArrowheads="1"/>
              </p:cNvSpPr>
              <p:nvPr/>
            </p:nvSpPr>
            <p:spPr bwMode="auto">
              <a:xfrm>
                <a:off x="3874139" y="3959751"/>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8" name="Rectangle 6"/>
              <p:cNvSpPr>
                <a:spLocks noChangeArrowheads="1"/>
              </p:cNvSpPr>
              <p:nvPr/>
            </p:nvSpPr>
            <p:spPr bwMode="auto">
              <a:xfrm>
                <a:off x="3874139" y="2825219"/>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9" name="Rectangle 6"/>
              <p:cNvSpPr>
                <a:spLocks noChangeArrowheads="1"/>
              </p:cNvSpPr>
              <p:nvPr/>
            </p:nvSpPr>
            <p:spPr bwMode="auto">
              <a:xfrm>
                <a:off x="3874139" y="3392485"/>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0" name="Rectangle 6"/>
              <p:cNvSpPr>
                <a:spLocks noChangeArrowheads="1"/>
              </p:cNvSpPr>
              <p:nvPr/>
            </p:nvSpPr>
            <p:spPr bwMode="auto">
              <a:xfrm>
                <a:off x="3874139" y="1690688"/>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1" name="Rectangle 6"/>
              <p:cNvSpPr>
                <a:spLocks noChangeArrowheads="1"/>
              </p:cNvSpPr>
              <p:nvPr/>
            </p:nvSpPr>
            <p:spPr bwMode="auto">
              <a:xfrm>
                <a:off x="3874139" y="2257954"/>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grpSp>
        <p:grpSp>
          <p:nvGrpSpPr>
            <p:cNvPr id="7" name="Group 6"/>
            <p:cNvGrpSpPr/>
            <p:nvPr/>
          </p:nvGrpSpPr>
          <p:grpSpPr>
            <a:xfrm>
              <a:off x="5931716" y="1690688"/>
              <a:ext cx="1375718" cy="4934786"/>
              <a:chOff x="5931716" y="1690688"/>
              <a:chExt cx="1375718" cy="4934786"/>
            </a:xfrm>
          </p:grpSpPr>
          <p:sp>
            <p:nvSpPr>
              <p:cNvPr id="8" name="Rectangle 6"/>
              <p:cNvSpPr>
                <a:spLocks noChangeArrowheads="1"/>
              </p:cNvSpPr>
              <p:nvPr/>
            </p:nvSpPr>
            <p:spPr bwMode="auto">
              <a:xfrm>
                <a:off x="5931716" y="1690688"/>
                <a:ext cx="1375718" cy="425449"/>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9" name="Rectangle 6"/>
              <p:cNvSpPr>
                <a:spLocks noChangeArrowheads="1"/>
              </p:cNvSpPr>
              <p:nvPr/>
            </p:nvSpPr>
            <p:spPr bwMode="auto">
              <a:xfrm>
                <a:off x="5931716" y="2257954"/>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0" name="Rectangle 6"/>
              <p:cNvSpPr>
                <a:spLocks noChangeArrowheads="1"/>
              </p:cNvSpPr>
              <p:nvPr/>
            </p:nvSpPr>
            <p:spPr bwMode="auto">
              <a:xfrm>
                <a:off x="5931716" y="2825219"/>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1" name="Rectangle 6"/>
              <p:cNvSpPr>
                <a:spLocks noChangeArrowheads="1"/>
              </p:cNvSpPr>
              <p:nvPr/>
            </p:nvSpPr>
            <p:spPr bwMode="auto">
              <a:xfrm>
                <a:off x="5931716" y="3392484"/>
                <a:ext cx="1375718" cy="425449"/>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2" name="Rectangle 6"/>
              <p:cNvSpPr>
                <a:spLocks noChangeArrowheads="1"/>
              </p:cNvSpPr>
              <p:nvPr/>
            </p:nvSpPr>
            <p:spPr bwMode="auto">
              <a:xfrm>
                <a:off x="5931716" y="3959750"/>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3" name="Rectangle 6"/>
              <p:cNvSpPr>
                <a:spLocks noChangeArrowheads="1"/>
              </p:cNvSpPr>
              <p:nvPr/>
            </p:nvSpPr>
            <p:spPr bwMode="auto">
              <a:xfrm>
                <a:off x="5931716" y="4498229"/>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4" name="Rectangle 6"/>
              <p:cNvSpPr>
                <a:spLocks noChangeArrowheads="1"/>
              </p:cNvSpPr>
              <p:nvPr/>
            </p:nvSpPr>
            <p:spPr bwMode="auto">
              <a:xfrm>
                <a:off x="5931716" y="5065494"/>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5" name="Rectangle 6"/>
              <p:cNvSpPr>
                <a:spLocks noChangeArrowheads="1"/>
              </p:cNvSpPr>
              <p:nvPr/>
            </p:nvSpPr>
            <p:spPr bwMode="auto">
              <a:xfrm>
                <a:off x="5931716" y="5632759"/>
                <a:ext cx="1375718" cy="425449"/>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6" name="Rectangle 6"/>
              <p:cNvSpPr>
                <a:spLocks noChangeArrowheads="1"/>
              </p:cNvSpPr>
              <p:nvPr/>
            </p:nvSpPr>
            <p:spPr bwMode="auto">
              <a:xfrm>
                <a:off x="5931716" y="6200025"/>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grpSp>
      <p:sp>
        <p:nvSpPr>
          <p:cNvPr id="22" name="Rectangle 3"/>
          <p:cNvSpPr>
            <a:spLocks noGrp="1" noChangeArrowheads="1"/>
          </p:cNvSpPr>
          <p:nvPr>
            <p:ph idx="1"/>
          </p:nvPr>
        </p:nvSpPr>
        <p:spPr>
          <a:xfrm>
            <a:off x="4454013" y="1695373"/>
            <a:ext cx="7552149" cy="4969419"/>
          </a:xfrm>
        </p:spPr>
        <p:txBody>
          <a:bodyPr>
            <a:noAutofit/>
          </a:bodyPr>
          <a:lstStyle/>
          <a:p>
            <a:pPr>
              <a:lnSpc>
                <a:spcPct val="120000"/>
              </a:lnSpc>
              <a:spcBef>
                <a:spcPts val="600"/>
              </a:spcBef>
            </a:pPr>
            <a:r>
              <a:rPr lang="en-US" sz="1900" dirty="0">
                <a:latin typeface="Arial" panose="020B0604020202020204" pitchFamily="34" charset="0"/>
                <a:cs typeface="Arial" panose="020B0604020202020204" pitchFamily="34" charset="0"/>
              </a:rPr>
              <a:t>Suppose that the data suggests </a:t>
            </a:r>
            <a:r>
              <a:rPr lang="en-US" sz="1900" b="1" i="1" u="sng" dirty="0">
                <a:latin typeface="Arial" panose="020B0604020202020204" pitchFamily="34" charset="0"/>
                <a:cs typeface="Arial" panose="020B0604020202020204" pitchFamily="34" charset="0"/>
              </a:rPr>
              <a:t>that in general population</a:t>
            </a:r>
            <a:r>
              <a:rPr lang="en-US" sz="1900" b="1" dirty="0">
                <a:latin typeface="Arial" panose="020B0604020202020204" pitchFamily="34" charset="0"/>
                <a:cs typeface="Arial" panose="020B0604020202020204" pitchFamily="34" charset="0"/>
              </a:rPr>
              <a:t> </a:t>
            </a:r>
            <a:r>
              <a:rPr lang="en-US" sz="1900" b="1" dirty="0">
                <a:solidFill>
                  <a:srgbClr val="00B050"/>
                </a:solidFill>
                <a:latin typeface="Arial" panose="020B0604020202020204" pitchFamily="34" charset="0"/>
                <a:cs typeface="Arial" panose="020B0604020202020204" pitchFamily="34" charset="0"/>
              </a:rPr>
              <a:t>5</a:t>
            </a:r>
            <a:r>
              <a:rPr lang="en-US" sz="1900" dirty="0">
                <a:latin typeface="Arial" panose="020B0604020202020204" pitchFamily="34" charset="0"/>
                <a:cs typeface="Arial" panose="020B0604020202020204" pitchFamily="34" charset="0"/>
              </a:rPr>
              <a:t> </a:t>
            </a:r>
            <a:r>
              <a:rPr lang="en-US" sz="1900" b="1" dirty="0">
                <a:solidFill>
                  <a:srgbClr val="00B050"/>
                </a:solidFill>
                <a:latin typeface="Arial" panose="020B0604020202020204" pitchFamily="34" charset="0"/>
                <a:cs typeface="Arial" panose="020B0604020202020204" pitchFamily="34" charset="0"/>
              </a:rPr>
              <a:t>out of 14 is healthy</a:t>
            </a:r>
            <a:r>
              <a:rPr lang="en-US" sz="1900" dirty="0">
                <a:latin typeface="Arial" panose="020B0604020202020204" pitchFamily="34" charset="0"/>
                <a:cs typeface="Arial" panose="020B0604020202020204" pitchFamily="34" charset="0"/>
              </a:rPr>
              <a:t> and </a:t>
            </a:r>
            <a:r>
              <a:rPr lang="en-US" sz="1900" b="1" dirty="0">
                <a:solidFill>
                  <a:srgbClr val="FF0000"/>
                </a:solidFill>
                <a:latin typeface="Arial" panose="020B0604020202020204" pitchFamily="34" charset="0"/>
                <a:cs typeface="Arial" panose="020B0604020202020204" pitchFamily="34" charset="0"/>
              </a:rPr>
              <a:t>9 out of 14 is sick.  </a:t>
            </a:r>
          </a:p>
          <a:p>
            <a:pPr>
              <a:lnSpc>
                <a:spcPct val="120000"/>
              </a:lnSpc>
              <a:spcBef>
                <a:spcPts val="600"/>
              </a:spcBef>
            </a:pPr>
            <a:r>
              <a:rPr lang="en-US" sz="1900" dirty="0">
                <a:latin typeface="Arial" panose="020B0604020202020204" pitchFamily="34" charset="0"/>
                <a:cs typeface="Arial" panose="020B0604020202020204" pitchFamily="34" charset="0"/>
              </a:rPr>
              <a:t>What if we used this data and made </a:t>
            </a:r>
            <a:r>
              <a:rPr lang="en-US" sz="1900" b="1" u="sng" dirty="0">
                <a:latin typeface="Arial" panose="020B0604020202020204" pitchFamily="34" charset="0"/>
                <a:cs typeface="Arial" panose="020B0604020202020204" pitchFamily="34" charset="0"/>
              </a:rPr>
              <a:t>informed decisions?</a:t>
            </a:r>
          </a:p>
          <a:p>
            <a:pPr>
              <a:lnSpc>
                <a:spcPct val="120000"/>
              </a:lnSpc>
              <a:spcBef>
                <a:spcPts val="600"/>
              </a:spcBef>
            </a:pPr>
            <a:r>
              <a:rPr lang="en-US" sz="1900" dirty="0">
                <a:latin typeface="Arial" panose="020B0604020202020204" pitchFamily="34" charset="0"/>
                <a:cs typeface="Arial" panose="020B0604020202020204" pitchFamily="34" charset="0"/>
              </a:rPr>
              <a:t>If they </a:t>
            </a:r>
            <a:r>
              <a:rPr lang="en-US" sz="1900" b="1" dirty="0">
                <a:latin typeface="Arial" panose="020B0604020202020204" pitchFamily="34" charset="0"/>
                <a:cs typeface="Arial" panose="020B0604020202020204" pitchFamily="34" charset="0"/>
              </a:rPr>
              <a:t>send</a:t>
            </a:r>
            <a:r>
              <a:rPr lang="en-US" sz="1900" dirty="0">
                <a:latin typeface="Arial" panose="020B0604020202020204" pitchFamily="34" charset="0"/>
                <a:cs typeface="Arial" panose="020B0604020202020204" pitchFamily="34" charset="0"/>
              </a:rPr>
              <a:t> everyone for the test, they would waste </a:t>
            </a:r>
            <a:r>
              <a:rPr lang="en-US" sz="1900" b="1" dirty="0">
                <a:solidFill>
                  <a:srgbClr val="00B050"/>
                </a:solidFill>
                <a:latin typeface="Arial" panose="020B0604020202020204" pitchFamily="34" charset="0"/>
                <a:cs typeface="Arial" panose="020B0604020202020204" pitchFamily="34" charset="0"/>
              </a:rPr>
              <a:t>500 TL </a:t>
            </a:r>
            <a:r>
              <a:rPr lang="en-US" sz="1900" dirty="0">
                <a:latin typeface="Arial" panose="020B0604020202020204" pitchFamily="34" charset="0"/>
                <a:cs typeface="Arial" panose="020B0604020202020204" pitchFamily="34" charset="0"/>
              </a:rPr>
              <a:t>(i.e., the cost of the redundant test for the </a:t>
            </a:r>
            <a:r>
              <a:rPr lang="en-US" sz="1900" b="1" dirty="0">
                <a:solidFill>
                  <a:srgbClr val="00B050"/>
                </a:solidFill>
                <a:latin typeface="Arial" panose="020B0604020202020204" pitchFamily="34" charset="0"/>
                <a:cs typeface="Arial" panose="020B0604020202020204" pitchFamily="34" charset="0"/>
              </a:rPr>
              <a:t>5 healthy</a:t>
            </a:r>
            <a:r>
              <a:rPr lang="en-US" sz="1900" dirty="0">
                <a:latin typeface="Arial" panose="020B0604020202020204" pitchFamily="34" charset="0"/>
                <a:cs typeface="Arial" panose="020B0604020202020204" pitchFamily="34" charset="0"/>
              </a:rPr>
              <a:t>). </a:t>
            </a:r>
          </a:p>
          <a:p>
            <a:pPr>
              <a:lnSpc>
                <a:spcPct val="120000"/>
              </a:lnSpc>
              <a:spcBef>
                <a:spcPts val="600"/>
              </a:spcBef>
            </a:pPr>
            <a:r>
              <a:rPr lang="en-US" sz="1900" dirty="0">
                <a:latin typeface="Arial" panose="020B0604020202020204" pitchFamily="34" charset="0"/>
                <a:cs typeface="Arial" panose="020B0604020202020204" pitchFamily="34" charset="0"/>
              </a:rPr>
              <a:t>If they </a:t>
            </a:r>
            <a:r>
              <a:rPr lang="en-US" sz="1900" b="1" dirty="0">
                <a:latin typeface="Arial" panose="020B0604020202020204" pitchFamily="34" charset="0"/>
                <a:cs typeface="Arial" panose="020B0604020202020204" pitchFamily="34" charset="0"/>
              </a:rPr>
              <a:t>don’t send </a:t>
            </a:r>
            <a:r>
              <a:rPr lang="en-US" sz="1900" dirty="0">
                <a:latin typeface="Arial" panose="020B0604020202020204" pitchFamily="34" charset="0"/>
                <a:cs typeface="Arial" panose="020B0604020202020204" pitchFamily="34" charset="0"/>
              </a:rPr>
              <a:t>anyone for the test, they would pay a penalty of </a:t>
            </a:r>
            <a:r>
              <a:rPr lang="en-US" sz="1900" b="1" dirty="0">
                <a:solidFill>
                  <a:srgbClr val="FF0000"/>
                </a:solidFill>
                <a:latin typeface="Arial" panose="020B0604020202020204" pitchFamily="34" charset="0"/>
                <a:cs typeface="Arial" panose="020B0604020202020204" pitchFamily="34" charset="0"/>
              </a:rPr>
              <a:t>900 TL </a:t>
            </a:r>
            <a:r>
              <a:rPr lang="en-US" sz="1900" dirty="0">
                <a:latin typeface="Arial" panose="020B0604020202020204" pitchFamily="34" charset="0"/>
                <a:cs typeface="Arial" panose="020B0604020202020204" pitchFamily="34" charset="0"/>
              </a:rPr>
              <a:t>(for the </a:t>
            </a:r>
            <a:r>
              <a:rPr lang="en-US" sz="1900" b="1" dirty="0">
                <a:solidFill>
                  <a:srgbClr val="FF0000"/>
                </a:solidFill>
                <a:latin typeface="Arial" panose="020B0604020202020204" pitchFamily="34" charset="0"/>
                <a:cs typeface="Arial" panose="020B0604020202020204" pitchFamily="34" charset="0"/>
              </a:rPr>
              <a:t>9 sick</a:t>
            </a:r>
            <a:r>
              <a:rPr lang="en-US" sz="1900" dirty="0">
                <a:latin typeface="Arial" panose="020B0604020202020204" pitchFamily="34" charset="0"/>
                <a:cs typeface="Arial" panose="020B0604020202020204" pitchFamily="34" charset="0"/>
              </a:rPr>
              <a:t>). </a:t>
            </a:r>
            <a:endParaRPr lang="tr-TR" sz="1900" dirty="0">
              <a:latin typeface="Arial" panose="020B0604020202020204" pitchFamily="34" charset="0"/>
              <a:cs typeface="Arial" panose="020B0604020202020204" pitchFamily="34" charset="0"/>
            </a:endParaRPr>
          </a:p>
          <a:p>
            <a:pPr>
              <a:lnSpc>
                <a:spcPct val="120000"/>
              </a:lnSpc>
              <a:spcBef>
                <a:spcPts val="600"/>
              </a:spcBef>
            </a:pPr>
            <a:r>
              <a:rPr lang="en-US" sz="1900" b="1" dirty="0">
                <a:latin typeface="Arial" panose="020B0604020202020204" pitchFamily="34" charset="0"/>
                <a:cs typeface="Arial" panose="020B0604020202020204" pitchFamily="34" charset="0"/>
              </a:rPr>
              <a:t>Best option is sending everyone for the test</a:t>
            </a:r>
            <a:r>
              <a:rPr lang="tr-TR" sz="1900" b="1" dirty="0">
                <a:latin typeface="Arial" panose="020B0604020202020204" pitchFamily="34" charset="0"/>
                <a:cs typeface="Arial" panose="020B0604020202020204" pitchFamily="34" charset="0"/>
              </a:rPr>
              <a:t>!</a:t>
            </a:r>
            <a:endParaRPr lang="en-US" sz="1900" b="1" dirty="0">
              <a:latin typeface="Arial" panose="020B0604020202020204" pitchFamily="34" charset="0"/>
              <a:cs typeface="Arial" panose="020B0604020202020204" pitchFamily="34" charset="0"/>
            </a:endParaRPr>
          </a:p>
          <a:p>
            <a:pPr marL="0" indent="0">
              <a:lnSpc>
                <a:spcPct val="120000"/>
              </a:lnSpc>
              <a:spcBef>
                <a:spcPts val="600"/>
              </a:spcBef>
              <a:buNone/>
            </a:pPr>
            <a:r>
              <a:rPr lang="en-US" sz="1900" b="1" i="1" u="sng" dirty="0">
                <a:latin typeface="Arial" panose="020B0604020202020204" pitchFamily="34" charset="0"/>
                <a:cs typeface="Arial" panose="020B0604020202020204" pitchFamily="34" charset="0"/>
              </a:rPr>
              <a:t>The cost of wrong decisions:</a:t>
            </a:r>
          </a:p>
          <a:p>
            <a:pPr>
              <a:lnSpc>
                <a:spcPct val="120000"/>
              </a:lnSpc>
              <a:spcBef>
                <a:spcPts val="600"/>
              </a:spcBef>
            </a:pPr>
            <a:r>
              <a:rPr lang="en-US" sz="1900" dirty="0">
                <a:latin typeface="Arial" panose="020B0604020202020204" pitchFamily="34" charset="0"/>
                <a:cs typeface="Arial" panose="020B0604020202020204" pitchFamily="34" charset="0"/>
              </a:rPr>
              <a:t>Tossing a coin: </a:t>
            </a:r>
            <a:r>
              <a:rPr lang="en-US" sz="1900" b="1" dirty="0">
                <a:solidFill>
                  <a:srgbClr val="00B0F0"/>
                </a:solidFill>
                <a:latin typeface="Arial" panose="020B0604020202020204" pitchFamily="34" charset="0"/>
                <a:cs typeface="Arial" panose="020B0604020202020204" pitchFamily="34" charset="0"/>
              </a:rPr>
              <a:t>700 TL </a:t>
            </a:r>
          </a:p>
          <a:p>
            <a:pPr>
              <a:lnSpc>
                <a:spcPct val="120000"/>
              </a:lnSpc>
              <a:spcBef>
                <a:spcPts val="600"/>
              </a:spcBef>
            </a:pPr>
            <a:r>
              <a:rPr lang="en-US" sz="1900" dirty="0">
                <a:latin typeface="Arial" panose="020B0604020202020204" pitchFamily="34" charset="0"/>
                <a:cs typeface="Arial" panose="020B0604020202020204" pitchFamily="34" charset="0"/>
              </a:rPr>
              <a:t>Sending everyone for the test: </a:t>
            </a:r>
            <a:r>
              <a:rPr lang="en-US" sz="1900" b="1" dirty="0">
                <a:solidFill>
                  <a:srgbClr val="00B050"/>
                </a:solidFill>
                <a:latin typeface="Arial" panose="020B0604020202020204" pitchFamily="34" charset="0"/>
                <a:cs typeface="Arial" panose="020B0604020202020204" pitchFamily="34" charset="0"/>
              </a:rPr>
              <a:t>500 TL </a:t>
            </a:r>
          </a:p>
          <a:p>
            <a:pPr>
              <a:lnSpc>
                <a:spcPct val="120000"/>
              </a:lnSpc>
              <a:spcBef>
                <a:spcPts val="600"/>
              </a:spcBef>
            </a:pPr>
            <a:r>
              <a:rPr lang="en-US" sz="1900" dirty="0">
                <a:latin typeface="Arial" panose="020B0604020202020204" pitchFamily="34" charset="0"/>
                <a:cs typeface="Arial" panose="020B0604020202020204" pitchFamily="34" charset="0"/>
              </a:rPr>
              <a:t>The data </a:t>
            </a:r>
            <a:r>
              <a:rPr lang="tr-TR" sz="1900" dirty="0">
                <a:latin typeface="Arial" panose="020B0604020202020204" pitchFamily="34" charset="0"/>
                <a:cs typeface="Arial" panose="020B0604020202020204" pitchFamily="34" charset="0"/>
              </a:rPr>
              <a:t>on</a:t>
            </a:r>
            <a:r>
              <a:rPr lang="en-US" sz="1900" dirty="0">
                <a:latin typeface="Arial" panose="020B0604020202020204" pitchFamily="34" charset="0"/>
                <a:cs typeface="Arial" panose="020B0604020202020204" pitchFamily="34" charset="0"/>
              </a:rPr>
              <a:t> the percentage of sick in population saves us</a:t>
            </a:r>
            <a:r>
              <a:rPr lang="tr-TR" sz="1900" dirty="0">
                <a:latin typeface="Arial" panose="020B0604020202020204" pitchFamily="34" charset="0"/>
                <a:cs typeface="Arial" panose="020B0604020202020204" pitchFamily="34" charset="0"/>
              </a:rPr>
              <a:t>:</a:t>
            </a:r>
            <a:r>
              <a:rPr lang="en-US" sz="1900" dirty="0">
                <a:latin typeface="Arial" panose="020B0604020202020204" pitchFamily="34" charset="0"/>
                <a:cs typeface="Arial" panose="020B0604020202020204" pitchFamily="34" charset="0"/>
              </a:rPr>
              <a:t> </a:t>
            </a:r>
            <a:endParaRPr lang="tr-TR" sz="1900" dirty="0">
              <a:latin typeface="Arial" panose="020B0604020202020204" pitchFamily="34" charset="0"/>
              <a:cs typeface="Arial" panose="020B0604020202020204" pitchFamily="34" charset="0"/>
            </a:endParaRPr>
          </a:p>
          <a:p>
            <a:pPr marL="0" indent="0">
              <a:lnSpc>
                <a:spcPct val="120000"/>
              </a:lnSpc>
              <a:spcBef>
                <a:spcPts val="600"/>
              </a:spcBef>
              <a:buNone/>
            </a:pPr>
            <a:r>
              <a:rPr lang="tr-TR" sz="1900" b="1" dirty="0">
                <a:solidFill>
                  <a:srgbClr val="00B0F0"/>
                </a:solidFill>
                <a:latin typeface="Arial" panose="020B0604020202020204" pitchFamily="34" charset="0"/>
                <a:cs typeface="Arial" panose="020B0604020202020204" pitchFamily="34" charset="0"/>
              </a:rPr>
              <a:t>	</a:t>
            </a:r>
            <a:r>
              <a:rPr lang="en-US" sz="1900" b="1" dirty="0">
                <a:solidFill>
                  <a:srgbClr val="00B0F0"/>
                </a:solidFill>
                <a:latin typeface="Arial" panose="020B0604020202020204" pitchFamily="34" charset="0"/>
                <a:cs typeface="Arial" panose="020B0604020202020204" pitchFamily="34" charset="0"/>
              </a:rPr>
              <a:t>700 TL  - </a:t>
            </a:r>
            <a:r>
              <a:rPr lang="en-US" sz="1900" b="1" dirty="0">
                <a:solidFill>
                  <a:srgbClr val="00B050"/>
                </a:solidFill>
                <a:latin typeface="Arial" panose="020B0604020202020204" pitchFamily="34" charset="0"/>
                <a:cs typeface="Arial" panose="020B0604020202020204" pitchFamily="34" charset="0"/>
              </a:rPr>
              <a:t>500 TL  = </a:t>
            </a:r>
            <a:r>
              <a:rPr lang="en-US" sz="1900" b="1" i="1" u="sng" dirty="0">
                <a:solidFill>
                  <a:srgbClr val="7030A0"/>
                </a:solidFill>
                <a:latin typeface="Arial" panose="020B0604020202020204" pitchFamily="34" charset="0"/>
                <a:cs typeface="Arial" panose="020B0604020202020204" pitchFamily="34" charset="0"/>
              </a:rPr>
              <a:t>200 TL!</a:t>
            </a:r>
            <a:r>
              <a:rPr lang="en-US" sz="1900" b="1" dirty="0">
                <a:solidFill>
                  <a:srgbClr val="00B0F0"/>
                </a:solidFill>
                <a:latin typeface="Arial" panose="020B0604020202020204" pitchFamily="34" charset="0"/>
                <a:cs typeface="Arial" panose="020B0604020202020204" pitchFamily="34" charset="0"/>
              </a:rPr>
              <a:t> </a:t>
            </a:r>
          </a:p>
          <a:p>
            <a:pPr>
              <a:lnSpc>
                <a:spcPct val="120000"/>
              </a:lnSpc>
              <a:spcBef>
                <a:spcPts val="600"/>
              </a:spcBef>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4833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The Disease Problem</a:t>
            </a:r>
            <a:endParaRPr lang="en-US" b="1" dirty="0"/>
          </a:p>
        </p:txBody>
      </p:sp>
      <p:graphicFrame>
        <p:nvGraphicFramePr>
          <p:cNvPr id="2" name="Table 1"/>
          <p:cNvGraphicFramePr>
            <a:graphicFrameLocks noGrp="1"/>
          </p:cNvGraphicFramePr>
          <p:nvPr/>
        </p:nvGraphicFramePr>
        <p:xfrm>
          <a:off x="838198" y="1690688"/>
          <a:ext cx="9264446" cy="5097358"/>
        </p:xfrm>
        <a:graphic>
          <a:graphicData uri="http://schemas.openxmlformats.org/drawingml/2006/table">
            <a:tbl>
              <a:tblPr firstRow="1" bandRow="1">
                <a:tableStyleId>{10A1B5D5-9B99-4C35-A422-299274C87663}</a:tableStyleId>
              </a:tblPr>
              <a:tblGrid>
                <a:gridCol w="695634">
                  <a:extLst>
                    <a:ext uri="{9D8B030D-6E8A-4147-A177-3AD203B41FA5}">
                      <a16:colId xmlns:a16="http://schemas.microsoft.com/office/drawing/2014/main" val="4151893868"/>
                    </a:ext>
                  </a:extLst>
                </a:gridCol>
                <a:gridCol w="1297858">
                  <a:extLst>
                    <a:ext uri="{9D8B030D-6E8A-4147-A177-3AD203B41FA5}">
                      <a16:colId xmlns:a16="http://schemas.microsoft.com/office/drawing/2014/main" val="2331074717"/>
                    </a:ext>
                  </a:extLst>
                </a:gridCol>
                <a:gridCol w="2035278">
                  <a:extLst>
                    <a:ext uri="{9D8B030D-6E8A-4147-A177-3AD203B41FA5}">
                      <a16:colId xmlns:a16="http://schemas.microsoft.com/office/drawing/2014/main" val="3641374271"/>
                    </a:ext>
                  </a:extLst>
                </a:gridCol>
                <a:gridCol w="1415845">
                  <a:extLst>
                    <a:ext uri="{9D8B030D-6E8A-4147-A177-3AD203B41FA5}">
                      <a16:colId xmlns:a16="http://schemas.microsoft.com/office/drawing/2014/main" val="3905258309"/>
                    </a:ext>
                  </a:extLst>
                </a:gridCol>
                <a:gridCol w="2566219">
                  <a:extLst>
                    <a:ext uri="{9D8B030D-6E8A-4147-A177-3AD203B41FA5}">
                      <a16:colId xmlns:a16="http://schemas.microsoft.com/office/drawing/2014/main" val="1282154045"/>
                    </a:ext>
                  </a:extLst>
                </a:gridCol>
                <a:gridCol w="1253612">
                  <a:extLst>
                    <a:ext uri="{9D8B030D-6E8A-4147-A177-3AD203B41FA5}">
                      <a16:colId xmlns:a16="http://schemas.microsoft.com/office/drawing/2014/main" val="3683188331"/>
                    </a:ext>
                  </a:extLst>
                </a:gridCol>
              </a:tblGrid>
              <a:tr h="403438">
                <a:tc>
                  <a:txBody>
                    <a:bodyPr/>
                    <a:lstStyle/>
                    <a:p>
                      <a:pPr marL="0" algn="ctr" defTabSz="914400" rtl="0" eaLnBrk="1" latinLnBrk="0" hangingPunct="1"/>
                      <a:r>
                        <a:rPr lang="tr-TR" sz="16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6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Age</a:t>
                      </a:r>
                      <a:endParaRPr lang="en-US" sz="16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Body Mass</a:t>
                      </a:r>
                      <a:r>
                        <a:rPr lang="tr-TR" sz="1600" u="none" strike="noStrike" kern="1200" baseline="0" dirty="0">
                          <a:latin typeface="Arial" panose="020B0604020202020204" pitchFamily="34" charset="0"/>
                          <a:cs typeface="Arial" panose="020B0604020202020204" pitchFamily="34" charset="0"/>
                        </a:rPr>
                        <a:t> Index</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Gender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Intensity of Symptoms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Disease</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309869">
                <a:tc>
                  <a:txBody>
                    <a:bodyPr/>
                    <a:lstStyle/>
                    <a:p>
                      <a:pPr algn="ctr"/>
                      <a:r>
                        <a:rPr lang="tr-TR" sz="1600" noProof="0" dirty="0">
                          <a:latin typeface="Arial" panose="020B0604020202020204" pitchFamily="34" charset="0"/>
                          <a:cs typeface="Arial" panose="020B0604020202020204" pitchFamily="34" charset="0"/>
                        </a:rPr>
                        <a:t>14</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Tree>
    <p:extLst>
      <p:ext uri="{BB962C8B-B14F-4D97-AF65-F5344CB8AC3E}">
        <p14:creationId xmlns:p14="http://schemas.microsoft.com/office/powerpoint/2010/main" val="9625597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b="1" dirty="0"/>
              <a:t>Rudimentary Rules</a:t>
            </a:r>
            <a:r>
              <a:rPr lang="tr-TR" b="1" dirty="0"/>
              <a:t> – </a:t>
            </a:r>
            <a:r>
              <a:rPr lang="tr-TR" b="1" dirty="0">
                <a:solidFill>
                  <a:srgbClr val="00B050"/>
                </a:solidFill>
              </a:rPr>
              <a:t>0</a:t>
            </a:r>
            <a:r>
              <a:rPr lang="tr-TR" b="1" dirty="0"/>
              <a:t>R</a:t>
            </a:r>
            <a:endParaRPr lang="en-US" b="1" dirty="0"/>
          </a:p>
        </p:txBody>
      </p:sp>
      <p:grpSp>
        <p:nvGrpSpPr>
          <p:cNvPr id="4" name="Group 3"/>
          <p:cNvGrpSpPr/>
          <p:nvPr/>
        </p:nvGrpSpPr>
        <p:grpSpPr>
          <a:xfrm>
            <a:off x="4394101" y="1690688"/>
            <a:ext cx="3403798" cy="4934787"/>
            <a:chOff x="3903636" y="1690687"/>
            <a:chExt cx="3403798" cy="4934787"/>
          </a:xfrm>
        </p:grpSpPr>
        <p:grpSp>
          <p:nvGrpSpPr>
            <p:cNvPr id="6" name="Group 5"/>
            <p:cNvGrpSpPr/>
            <p:nvPr/>
          </p:nvGrpSpPr>
          <p:grpSpPr>
            <a:xfrm>
              <a:off x="3903636" y="1690687"/>
              <a:ext cx="1375718" cy="2694512"/>
              <a:chOff x="3874139" y="1690688"/>
              <a:chExt cx="1375718" cy="2694512"/>
            </a:xfrm>
          </p:grpSpPr>
          <p:sp>
            <p:nvSpPr>
              <p:cNvPr id="17" name="Rectangle 6"/>
              <p:cNvSpPr>
                <a:spLocks noChangeArrowheads="1"/>
              </p:cNvSpPr>
              <p:nvPr/>
            </p:nvSpPr>
            <p:spPr bwMode="auto">
              <a:xfrm>
                <a:off x="3874139" y="3959751"/>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8" name="Rectangle 6"/>
              <p:cNvSpPr>
                <a:spLocks noChangeArrowheads="1"/>
              </p:cNvSpPr>
              <p:nvPr/>
            </p:nvSpPr>
            <p:spPr bwMode="auto">
              <a:xfrm>
                <a:off x="3874139" y="2825219"/>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9" name="Rectangle 6"/>
              <p:cNvSpPr>
                <a:spLocks noChangeArrowheads="1"/>
              </p:cNvSpPr>
              <p:nvPr/>
            </p:nvSpPr>
            <p:spPr bwMode="auto">
              <a:xfrm>
                <a:off x="3874139" y="3392485"/>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0" name="Rectangle 6"/>
              <p:cNvSpPr>
                <a:spLocks noChangeArrowheads="1"/>
              </p:cNvSpPr>
              <p:nvPr/>
            </p:nvSpPr>
            <p:spPr bwMode="auto">
              <a:xfrm>
                <a:off x="3874139" y="1690688"/>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1" name="Rectangle 6"/>
              <p:cNvSpPr>
                <a:spLocks noChangeArrowheads="1"/>
              </p:cNvSpPr>
              <p:nvPr/>
            </p:nvSpPr>
            <p:spPr bwMode="auto">
              <a:xfrm>
                <a:off x="3874139" y="2257954"/>
                <a:ext cx="1375718" cy="425449"/>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grpSp>
        <p:grpSp>
          <p:nvGrpSpPr>
            <p:cNvPr id="7" name="Group 6"/>
            <p:cNvGrpSpPr/>
            <p:nvPr/>
          </p:nvGrpSpPr>
          <p:grpSpPr>
            <a:xfrm>
              <a:off x="5931716" y="1690688"/>
              <a:ext cx="1375718" cy="4934786"/>
              <a:chOff x="5931716" y="1690688"/>
              <a:chExt cx="1375718" cy="4934786"/>
            </a:xfrm>
          </p:grpSpPr>
          <p:sp>
            <p:nvSpPr>
              <p:cNvPr id="8" name="Rectangle 6"/>
              <p:cNvSpPr>
                <a:spLocks noChangeArrowheads="1"/>
              </p:cNvSpPr>
              <p:nvPr/>
            </p:nvSpPr>
            <p:spPr bwMode="auto">
              <a:xfrm>
                <a:off x="5931716" y="1690688"/>
                <a:ext cx="1375718" cy="425449"/>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9" name="Rectangle 6"/>
              <p:cNvSpPr>
                <a:spLocks noChangeArrowheads="1"/>
              </p:cNvSpPr>
              <p:nvPr/>
            </p:nvSpPr>
            <p:spPr bwMode="auto">
              <a:xfrm>
                <a:off x="5931716" y="2257954"/>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0" name="Rectangle 6"/>
              <p:cNvSpPr>
                <a:spLocks noChangeArrowheads="1"/>
              </p:cNvSpPr>
              <p:nvPr/>
            </p:nvSpPr>
            <p:spPr bwMode="auto">
              <a:xfrm>
                <a:off x="5931716" y="2825219"/>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1" name="Rectangle 6"/>
              <p:cNvSpPr>
                <a:spLocks noChangeArrowheads="1"/>
              </p:cNvSpPr>
              <p:nvPr/>
            </p:nvSpPr>
            <p:spPr bwMode="auto">
              <a:xfrm>
                <a:off x="5931716" y="3392484"/>
                <a:ext cx="1375718" cy="425449"/>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2" name="Rectangle 6"/>
              <p:cNvSpPr>
                <a:spLocks noChangeArrowheads="1"/>
              </p:cNvSpPr>
              <p:nvPr/>
            </p:nvSpPr>
            <p:spPr bwMode="auto">
              <a:xfrm>
                <a:off x="5931716" y="3959750"/>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3" name="Rectangle 6"/>
              <p:cNvSpPr>
                <a:spLocks noChangeArrowheads="1"/>
              </p:cNvSpPr>
              <p:nvPr/>
            </p:nvSpPr>
            <p:spPr bwMode="auto">
              <a:xfrm>
                <a:off x="5931716" y="4498229"/>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4" name="Rectangle 6"/>
              <p:cNvSpPr>
                <a:spLocks noChangeArrowheads="1"/>
              </p:cNvSpPr>
              <p:nvPr/>
            </p:nvSpPr>
            <p:spPr bwMode="auto">
              <a:xfrm>
                <a:off x="5931716" y="5065494"/>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5" name="Rectangle 6"/>
              <p:cNvSpPr>
                <a:spLocks noChangeArrowheads="1"/>
              </p:cNvSpPr>
              <p:nvPr/>
            </p:nvSpPr>
            <p:spPr bwMode="auto">
              <a:xfrm>
                <a:off x="5931716" y="5632759"/>
                <a:ext cx="1375718" cy="425449"/>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6" name="Rectangle 6"/>
              <p:cNvSpPr>
                <a:spLocks noChangeArrowheads="1"/>
              </p:cNvSpPr>
              <p:nvPr/>
            </p:nvSpPr>
            <p:spPr bwMode="auto">
              <a:xfrm>
                <a:off x="5931716" y="6200025"/>
                <a:ext cx="1375718" cy="425449"/>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grpSp>
    </p:spTree>
    <p:extLst>
      <p:ext uri="{BB962C8B-B14F-4D97-AF65-F5344CB8AC3E}">
        <p14:creationId xmlns:p14="http://schemas.microsoft.com/office/powerpoint/2010/main" val="35227863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tr-TR" altLang="en-US" b="1" dirty="0">
                <a:solidFill>
                  <a:srgbClr val="00B050"/>
                </a:solidFill>
              </a:rPr>
              <a:t>0</a:t>
            </a:r>
            <a:r>
              <a:rPr lang="en-US" altLang="en-US" b="1" dirty="0"/>
              <a:t>-Rule</a:t>
            </a:r>
            <a:r>
              <a:rPr lang="tr-TR" altLang="en-US" b="1" dirty="0"/>
              <a:t> (</a:t>
            </a:r>
            <a:r>
              <a:rPr lang="tr-TR" altLang="en-US" b="1" dirty="0">
                <a:solidFill>
                  <a:srgbClr val="00B050"/>
                </a:solidFill>
              </a:rPr>
              <a:t>0</a:t>
            </a:r>
            <a:r>
              <a:rPr lang="tr-TR" altLang="en-US" b="1" dirty="0"/>
              <a:t>R)</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Very simple.</a:t>
            </a:r>
          </a:p>
          <a:p>
            <a:pPr>
              <a:lnSpc>
                <a:spcPct val="120000"/>
              </a:lnSpc>
              <a:spcBef>
                <a:spcPts val="600"/>
              </a:spcBef>
            </a:pPr>
            <a:r>
              <a:rPr lang="en-US" altLang="en-US" sz="2400" dirty="0">
                <a:latin typeface="Arial" panose="020B0604020202020204" pitchFamily="34" charset="0"/>
                <a:cs typeface="Arial" panose="020B0604020202020204" pitchFamily="34" charset="0"/>
              </a:rPr>
              <a:t>Which ever class is most frequent (i.e., the mode of the output) is the prediction for the new test instance.</a:t>
            </a:r>
          </a:p>
          <a:p>
            <a:pPr>
              <a:lnSpc>
                <a:spcPct val="120000"/>
              </a:lnSpc>
              <a:spcBef>
                <a:spcPts val="600"/>
              </a:spcBef>
            </a:pPr>
            <a:r>
              <a:rPr lang="en-US" altLang="en-US" sz="2400" dirty="0">
                <a:latin typeface="Arial" panose="020B0604020202020204" pitchFamily="34" charset="0"/>
                <a:cs typeface="Arial" panose="020B0604020202020204" pitchFamily="34" charset="0"/>
              </a:rPr>
              <a:t>So we use </a:t>
            </a:r>
            <a:r>
              <a:rPr lang="en-US" altLang="en-US" sz="2400" dirty="0">
                <a:solidFill>
                  <a:srgbClr val="00B050"/>
                </a:solidFill>
                <a:latin typeface="Arial" panose="020B0604020202020204" pitchFamily="34" charset="0"/>
                <a:cs typeface="Arial" panose="020B0604020202020204" pitchFamily="34" charset="0"/>
              </a:rPr>
              <a:t>0 </a:t>
            </a:r>
            <a:r>
              <a:rPr lang="en-US" altLang="en-US" sz="2400" dirty="0">
                <a:latin typeface="Arial" panose="020B0604020202020204" pitchFamily="34" charset="0"/>
                <a:cs typeface="Arial" panose="020B0604020202020204" pitchFamily="34" charset="0"/>
              </a:rPr>
              <a:t>input features for classification (thus is referred to as 0R).</a:t>
            </a:r>
          </a:p>
          <a:p>
            <a:pPr>
              <a:lnSpc>
                <a:spcPct val="120000"/>
              </a:lnSpc>
              <a:spcBef>
                <a:spcPts val="600"/>
              </a:spcBef>
            </a:pPr>
            <a:endParaRPr lang="en-US" altLang="en-US" sz="2400" dirty="0">
              <a:latin typeface="Arial" panose="020B0604020202020204" pitchFamily="34" charset="0"/>
              <a:cs typeface="Arial" panose="020B0604020202020204" pitchFamily="34" charset="0"/>
            </a:endParaRPr>
          </a:p>
          <a:p>
            <a:pPr>
              <a:lnSpc>
                <a:spcPct val="110000"/>
              </a:lnSpc>
            </a:pPr>
            <a:r>
              <a:rPr lang="en-US" sz="2400" dirty="0">
                <a:latin typeface="Arial" panose="020B0604020202020204" pitchFamily="34" charset="0"/>
                <a:cs typeface="Arial" panose="020B0604020202020204" pitchFamily="34" charset="0"/>
              </a:rPr>
              <a:t>There are 9 "Sick" &amp; 5 "Healthy" in the training data. </a:t>
            </a:r>
          </a:p>
          <a:p>
            <a:pPr>
              <a:lnSpc>
                <a:spcPct val="110000"/>
              </a:lnSpc>
            </a:pPr>
            <a:r>
              <a:rPr lang="en-US" sz="2400" dirty="0">
                <a:latin typeface="Arial" panose="020B0604020202020204" pitchFamily="34" charset="0"/>
                <a:cs typeface="Arial" panose="020B0604020202020204" pitchFamily="34" charset="0"/>
              </a:rPr>
              <a:t>So "Next instance" is predicted to be as "Sick"!</a:t>
            </a:r>
          </a:p>
          <a:p>
            <a:pPr>
              <a:lnSpc>
                <a:spcPct val="110000"/>
              </a:lnSpc>
            </a:pPr>
            <a:r>
              <a:rPr lang="en-US" sz="2400" dirty="0">
                <a:latin typeface="Arial" panose="020B0604020202020204" pitchFamily="34" charset="0"/>
                <a:cs typeface="Arial" panose="020B0604020202020204" pitchFamily="34" charset="0"/>
              </a:rPr>
              <a:t>If we use the training data as test:</a:t>
            </a:r>
          </a:p>
          <a:p>
            <a:pPr lvl="1">
              <a:lnSpc>
                <a:spcPct val="110000"/>
              </a:lnSpc>
            </a:pPr>
            <a:r>
              <a:rPr lang="en-US" dirty="0">
                <a:latin typeface="Arial" panose="020B0604020202020204" pitchFamily="34" charset="0"/>
                <a:cs typeface="Arial" panose="020B0604020202020204" pitchFamily="34" charset="0"/>
              </a:rPr>
              <a:t>(Training) Accuracy= 9/14</a:t>
            </a:r>
          </a:p>
          <a:p>
            <a:pPr lvl="1">
              <a:lnSpc>
                <a:spcPct val="110000"/>
              </a:lnSpc>
            </a:pPr>
            <a:r>
              <a:rPr lang="en-US" dirty="0">
                <a:latin typeface="Arial" panose="020B0604020202020204" pitchFamily="34" charset="0"/>
                <a:cs typeface="Arial" panose="020B0604020202020204" pitchFamily="34" charset="0"/>
              </a:rPr>
              <a:t>(Training) Error=5/14</a:t>
            </a:r>
          </a:p>
          <a:p>
            <a:pPr>
              <a:lnSpc>
                <a:spcPct val="110000"/>
              </a:lnSpc>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52986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solidFill>
                  <a:srgbClr val="00B050"/>
                </a:solidFill>
              </a:rPr>
              <a:t>1</a:t>
            </a:r>
            <a:r>
              <a:rPr lang="en-US" altLang="en-US" b="1" dirty="0"/>
              <a:t>R: Algorithm</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Basically it is a </a:t>
            </a:r>
            <a:r>
              <a:rPr lang="en-US" altLang="en-US" sz="2400" b="1" dirty="0">
                <a:latin typeface="Arial" panose="020B0604020202020204" pitchFamily="34" charset="0"/>
                <a:cs typeface="Arial" panose="020B0604020202020204" pitchFamily="34" charset="0"/>
              </a:rPr>
              <a:t>one-level decision tree</a:t>
            </a:r>
            <a:r>
              <a:rPr lang="en-US" altLang="en-US" sz="2400" dirty="0">
                <a:latin typeface="Arial" panose="020B0604020202020204" pitchFamily="34" charset="0"/>
                <a:cs typeface="Arial" panose="020B0604020202020204" pitchFamily="34" charset="0"/>
              </a:rPr>
              <a:t>.</a:t>
            </a:r>
          </a:p>
          <a:p>
            <a:pPr>
              <a:lnSpc>
                <a:spcPct val="120000"/>
              </a:lnSpc>
              <a:spcBef>
                <a:spcPts val="600"/>
              </a:spcBef>
            </a:pPr>
            <a:r>
              <a:rPr lang="en-US" altLang="en-US" sz="2400" dirty="0">
                <a:latin typeface="Arial" panose="020B0604020202020204" pitchFamily="34" charset="0"/>
                <a:cs typeface="Arial" panose="020B0604020202020204" pitchFamily="34" charset="0"/>
              </a:rPr>
              <a:t>It uses only </a:t>
            </a:r>
            <a:r>
              <a:rPr lang="en-US" altLang="en-US" sz="2400" b="1" u="sng" dirty="0">
                <a:latin typeface="Arial" panose="020B0604020202020204" pitchFamily="34" charset="0"/>
                <a:cs typeface="Arial" panose="020B0604020202020204" pitchFamily="34" charset="0"/>
              </a:rPr>
              <a:t>one of the input features </a:t>
            </a:r>
            <a:r>
              <a:rPr lang="en-US" altLang="en-US" sz="2400" dirty="0">
                <a:latin typeface="Arial" panose="020B0604020202020204" pitchFamily="34" charset="0"/>
                <a:cs typeface="Arial" panose="020B0604020202020204" pitchFamily="34" charset="0"/>
              </a:rPr>
              <a:t>(</a:t>
            </a:r>
            <a:r>
              <a:rPr lang="en-US" altLang="en-US" sz="2400" i="1" dirty="0">
                <a:latin typeface="Arial" panose="020B0604020202020204" pitchFamily="34" charset="0"/>
                <a:cs typeface="Arial" panose="020B0604020202020204" pitchFamily="34" charset="0"/>
              </a:rPr>
              <a:t>aka </a:t>
            </a:r>
            <a:r>
              <a:rPr lang="en-US" altLang="en-US" sz="2400" dirty="0">
                <a:latin typeface="Arial" panose="020B0604020202020204" pitchFamily="34" charset="0"/>
                <a:cs typeface="Arial" panose="020B0604020202020204" pitchFamily="34" charset="0"/>
              </a:rPr>
              <a:t>attribute) for classification.</a:t>
            </a:r>
          </a:p>
          <a:p>
            <a:pPr>
              <a:lnSpc>
                <a:spcPct val="120000"/>
              </a:lnSpc>
              <a:spcBef>
                <a:spcPts val="600"/>
              </a:spcBef>
            </a:pPr>
            <a:r>
              <a:rPr lang="en-US" altLang="en-US" sz="2400" dirty="0">
                <a:latin typeface="Arial" panose="020B0604020202020204" pitchFamily="34" charset="0"/>
                <a:cs typeface="Arial" panose="020B0604020202020204" pitchFamily="34" charset="0"/>
              </a:rPr>
              <a:t>Sometimes performs quite well!</a:t>
            </a:r>
          </a:p>
          <a:p>
            <a:pPr>
              <a:lnSpc>
                <a:spcPct val="120000"/>
              </a:lnSpc>
              <a:spcBef>
                <a:spcPts val="600"/>
              </a:spcBef>
            </a:pPr>
            <a:r>
              <a:rPr lang="en-US" altLang="en-US" sz="2400" dirty="0">
                <a:latin typeface="Arial" panose="020B0604020202020204" pitchFamily="34" charset="0"/>
                <a:cs typeface="Arial" panose="020B0604020202020204" pitchFamily="34" charset="0"/>
              </a:rPr>
              <a:t>Basic idea:</a:t>
            </a:r>
          </a:p>
          <a:p>
            <a:pPr lvl="1">
              <a:lnSpc>
                <a:spcPct val="120000"/>
              </a:lnSpc>
              <a:spcBef>
                <a:spcPts val="600"/>
              </a:spcBef>
            </a:pPr>
            <a:r>
              <a:rPr lang="en-US" altLang="en-US" dirty="0">
                <a:latin typeface="Arial" panose="020B0604020202020204" pitchFamily="34" charset="0"/>
                <a:cs typeface="Arial" panose="020B0604020202020204" pitchFamily="34" charset="0"/>
              </a:rPr>
              <a:t>Create a rule for each feature.</a:t>
            </a:r>
          </a:p>
          <a:p>
            <a:pPr lvl="1">
              <a:lnSpc>
                <a:spcPct val="120000"/>
              </a:lnSpc>
              <a:spcBef>
                <a:spcPts val="600"/>
              </a:spcBef>
            </a:pPr>
            <a:r>
              <a:rPr lang="en-US" altLang="en-US" dirty="0">
                <a:latin typeface="Arial" panose="020B0604020202020204" pitchFamily="34" charset="0"/>
                <a:cs typeface="Arial" panose="020B0604020202020204" pitchFamily="34" charset="0"/>
              </a:rPr>
              <a:t>Classify according to the frequency in training data.</a:t>
            </a:r>
          </a:p>
          <a:p>
            <a:pPr lvl="1">
              <a:lnSpc>
                <a:spcPct val="120000"/>
              </a:lnSpc>
              <a:spcBef>
                <a:spcPts val="600"/>
              </a:spcBef>
            </a:pPr>
            <a:r>
              <a:rPr lang="en-US" altLang="en-US" dirty="0">
                <a:latin typeface="Arial" panose="020B0604020202020204" pitchFamily="34" charset="0"/>
                <a:cs typeface="Arial" panose="020B0604020202020204" pitchFamily="34" charset="0"/>
              </a:rPr>
              <a:t>Evaluate error rate for each feature.</a:t>
            </a:r>
          </a:p>
          <a:p>
            <a:pPr lvl="1">
              <a:lnSpc>
                <a:spcPct val="120000"/>
              </a:lnSpc>
              <a:spcBef>
                <a:spcPts val="600"/>
              </a:spcBef>
            </a:pPr>
            <a:r>
              <a:rPr lang="en-US" altLang="en-US" dirty="0">
                <a:latin typeface="Arial" panose="020B0604020202020204" pitchFamily="34" charset="0"/>
                <a:cs typeface="Arial" panose="020B0604020202020204" pitchFamily="34" charset="0"/>
              </a:rPr>
              <a:t>Choose the best feature and the corresponding rule as the classifier.</a:t>
            </a:r>
          </a:p>
          <a:p>
            <a:pPr marL="236538" lvl="1" indent="-236538">
              <a:lnSpc>
                <a:spcPct val="120000"/>
              </a:lnSpc>
              <a:spcBef>
                <a:spcPts val="600"/>
              </a:spcBef>
            </a:pPr>
            <a:r>
              <a:rPr lang="en-US" altLang="en-US" dirty="0">
                <a:latin typeface="Arial" panose="020B0604020202020204" pitchFamily="34" charset="0"/>
                <a:cs typeface="Arial" panose="020B0604020202020204" pitchFamily="34" charset="0"/>
              </a:rPr>
              <a:t>Which feature to use?</a:t>
            </a:r>
          </a:p>
          <a:p>
            <a:pPr marL="236538" lvl="1" indent="-236538">
              <a:lnSpc>
                <a:spcPct val="120000"/>
              </a:lnSpc>
              <a:spcBef>
                <a:spcPts val="600"/>
              </a:spcBef>
            </a:pPr>
            <a:r>
              <a:rPr lang="en-US" altLang="en-US" dirty="0">
                <a:latin typeface="Arial" panose="020B0604020202020204" pitchFamily="34" charset="0"/>
                <a:cs typeface="Arial" panose="020B0604020202020204" pitchFamily="34" charset="0"/>
              </a:rPr>
              <a:t>Let’s check the data…</a:t>
            </a:r>
          </a:p>
          <a:p>
            <a:pPr lvl="1">
              <a:lnSpc>
                <a:spcPct val="120000"/>
              </a:lnSpc>
              <a:spcBef>
                <a:spcPts val="600"/>
              </a:spcBef>
            </a:pPr>
            <a:endParaRPr lang="tr-TR" altLang="en-US" dirty="0">
              <a:latin typeface="Arial" panose="020B0604020202020204" pitchFamily="34" charset="0"/>
              <a:cs typeface="Arial" panose="020B0604020202020204" pitchFamily="34" charset="0"/>
            </a:endParaRPr>
          </a:p>
          <a:p>
            <a:pPr marL="0" indent="0">
              <a:lnSpc>
                <a:spcPct val="120000"/>
              </a:lnSpc>
              <a:spcBef>
                <a:spcPts val="600"/>
              </a:spcBef>
              <a:buNone/>
            </a:pPr>
            <a:endParaRPr lang="en-US" altLang="en-US" dirty="0">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272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The Disease Problem</a:t>
            </a:r>
            <a:endParaRPr lang="en-US" b="1" dirty="0"/>
          </a:p>
        </p:txBody>
      </p:sp>
      <p:graphicFrame>
        <p:nvGraphicFramePr>
          <p:cNvPr id="2" name="Table 1"/>
          <p:cNvGraphicFramePr>
            <a:graphicFrameLocks noGrp="1"/>
          </p:cNvGraphicFramePr>
          <p:nvPr/>
        </p:nvGraphicFramePr>
        <p:xfrm>
          <a:off x="838198" y="1690688"/>
          <a:ext cx="9264446" cy="5097358"/>
        </p:xfrm>
        <a:graphic>
          <a:graphicData uri="http://schemas.openxmlformats.org/drawingml/2006/table">
            <a:tbl>
              <a:tblPr firstRow="1" bandRow="1">
                <a:tableStyleId>{10A1B5D5-9B99-4C35-A422-299274C87663}</a:tableStyleId>
              </a:tblPr>
              <a:tblGrid>
                <a:gridCol w="695634">
                  <a:extLst>
                    <a:ext uri="{9D8B030D-6E8A-4147-A177-3AD203B41FA5}">
                      <a16:colId xmlns:a16="http://schemas.microsoft.com/office/drawing/2014/main" val="4151893868"/>
                    </a:ext>
                  </a:extLst>
                </a:gridCol>
                <a:gridCol w="1297858">
                  <a:extLst>
                    <a:ext uri="{9D8B030D-6E8A-4147-A177-3AD203B41FA5}">
                      <a16:colId xmlns:a16="http://schemas.microsoft.com/office/drawing/2014/main" val="2331074717"/>
                    </a:ext>
                  </a:extLst>
                </a:gridCol>
                <a:gridCol w="2035278">
                  <a:extLst>
                    <a:ext uri="{9D8B030D-6E8A-4147-A177-3AD203B41FA5}">
                      <a16:colId xmlns:a16="http://schemas.microsoft.com/office/drawing/2014/main" val="3641374271"/>
                    </a:ext>
                  </a:extLst>
                </a:gridCol>
                <a:gridCol w="1415845">
                  <a:extLst>
                    <a:ext uri="{9D8B030D-6E8A-4147-A177-3AD203B41FA5}">
                      <a16:colId xmlns:a16="http://schemas.microsoft.com/office/drawing/2014/main" val="3905258309"/>
                    </a:ext>
                  </a:extLst>
                </a:gridCol>
                <a:gridCol w="2566219">
                  <a:extLst>
                    <a:ext uri="{9D8B030D-6E8A-4147-A177-3AD203B41FA5}">
                      <a16:colId xmlns:a16="http://schemas.microsoft.com/office/drawing/2014/main" val="1282154045"/>
                    </a:ext>
                  </a:extLst>
                </a:gridCol>
                <a:gridCol w="1253612">
                  <a:extLst>
                    <a:ext uri="{9D8B030D-6E8A-4147-A177-3AD203B41FA5}">
                      <a16:colId xmlns:a16="http://schemas.microsoft.com/office/drawing/2014/main" val="3683188331"/>
                    </a:ext>
                  </a:extLst>
                </a:gridCol>
              </a:tblGrid>
              <a:tr h="403438">
                <a:tc>
                  <a:txBody>
                    <a:bodyPr/>
                    <a:lstStyle/>
                    <a:p>
                      <a:pPr marL="0" algn="ctr" defTabSz="914400" rtl="0" eaLnBrk="1" latinLnBrk="0" hangingPunct="1"/>
                      <a:r>
                        <a:rPr lang="tr-TR" sz="16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6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Age</a:t>
                      </a:r>
                      <a:endParaRPr lang="en-US" sz="16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Body Mass</a:t>
                      </a:r>
                      <a:r>
                        <a:rPr lang="tr-TR" sz="1600" u="none" strike="noStrike" kern="1200" baseline="0" dirty="0">
                          <a:latin typeface="Arial" panose="020B0604020202020204" pitchFamily="34" charset="0"/>
                          <a:cs typeface="Arial" panose="020B0604020202020204" pitchFamily="34" charset="0"/>
                        </a:rPr>
                        <a:t> Index</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Gender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Intensity of Symptoms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Disease</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309869">
                <a:tc>
                  <a:txBody>
                    <a:bodyPr/>
                    <a:lstStyle/>
                    <a:p>
                      <a:pPr algn="ctr"/>
                      <a:r>
                        <a:rPr lang="tr-TR" sz="1600" noProof="0" dirty="0">
                          <a:latin typeface="Arial" panose="020B0604020202020204" pitchFamily="34" charset="0"/>
                          <a:cs typeface="Arial" panose="020B0604020202020204" pitchFamily="34" charset="0"/>
                        </a:rPr>
                        <a:t>14</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Tree>
    <p:extLst>
      <p:ext uri="{BB962C8B-B14F-4D97-AF65-F5344CB8AC3E}">
        <p14:creationId xmlns:p14="http://schemas.microsoft.com/office/powerpoint/2010/main" val="18198767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solidFill>
                  <a:srgbClr val="00B050"/>
                </a:solidFill>
              </a:rPr>
              <a:t>1</a:t>
            </a:r>
            <a:r>
              <a:rPr lang="en-US" altLang="en-US" b="1" dirty="0"/>
              <a:t>R</a:t>
            </a:r>
            <a:r>
              <a:rPr lang="tr-TR" altLang="en-US" b="1" dirty="0"/>
              <a:t>:</a:t>
            </a:r>
            <a:r>
              <a:rPr lang="en-US" altLang="en-US" b="1" dirty="0"/>
              <a:t> Which Feature to Use?</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If we use </a:t>
            </a:r>
            <a:r>
              <a:rPr lang="en-US" altLang="en-US" sz="2400" dirty="0">
                <a:solidFill>
                  <a:srgbClr val="0070C0"/>
                </a:solidFill>
                <a:latin typeface="Arial" panose="020B0604020202020204" pitchFamily="34" charset="0"/>
                <a:cs typeface="Arial" panose="020B0604020202020204" pitchFamily="34" charset="0"/>
              </a:rPr>
              <a:t>Age</a:t>
            </a:r>
            <a:r>
              <a:rPr lang="tr-TR" altLang="en-US" sz="2400"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r>
              <a:rPr lang="en-US" altLang="en-US" dirty="0">
                <a:latin typeface="Arial" panose="020B0604020202020204" pitchFamily="34" charset="0"/>
                <a:cs typeface="Arial" panose="020B0604020202020204" pitchFamily="34" charset="0"/>
              </a:rPr>
              <a:t>Rule: "If Young Then Healthy, otherwise Sick" (</a:t>
            </a:r>
            <a:r>
              <a:rPr lang="en-US" altLang="en-US" b="1" u="sng" dirty="0">
                <a:solidFill>
                  <a:srgbClr val="FF0000"/>
                </a:solidFill>
                <a:latin typeface="Arial" panose="020B0604020202020204" pitchFamily="34" charset="0"/>
                <a:cs typeface="Arial" panose="020B0604020202020204" pitchFamily="34" charset="0"/>
              </a:rPr>
              <a:t>4 ERRORS</a:t>
            </a:r>
            <a:r>
              <a:rPr lang="en-US" altLang="en-US"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en-US" altLang="en-US" dirty="0">
              <a:latin typeface="Arial" panose="020B0604020202020204" pitchFamily="34" charset="0"/>
              <a:cs typeface="Arial" panose="020B0604020202020204" pitchFamily="34" charset="0"/>
            </a:endParaRPr>
          </a:p>
          <a:p>
            <a:pPr lvl="1">
              <a:lnSpc>
                <a:spcPct val="120000"/>
              </a:lnSpc>
              <a:spcBef>
                <a:spcPts val="600"/>
              </a:spcBef>
            </a:pPr>
            <a:endParaRPr lang="tr-TR" altLang="en-US" dirty="0">
              <a:latin typeface="Arial" panose="020B0604020202020204" pitchFamily="34" charset="0"/>
              <a:cs typeface="Arial" panose="020B0604020202020204" pitchFamily="34" charset="0"/>
            </a:endParaRPr>
          </a:p>
          <a:p>
            <a:pPr marL="0" indent="0">
              <a:lnSpc>
                <a:spcPct val="120000"/>
              </a:lnSpc>
              <a:spcBef>
                <a:spcPts val="600"/>
              </a:spcBef>
              <a:buNone/>
            </a:pPr>
            <a:endParaRPr lang="en-US" altLang="en-US" dirty="0">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grpSp>
        <p:nvGrpSpPr>
          <p:cNvPr id="4" name="Group 3"/>
          <p:cNvGrpSpPr/>
          <p:nvPr/>
        </p:nvGrpSpPr>
        <p:grpSpPr>
          <a:xfrm>
            <a:off x="3416970" y="1690686"/>
            <a:ext cx="5358060" cy="4112676"/>
            <a:chOff x="2801202" y="1690688"/>
            <a:chExt cx="5638800" cy="4419600"/>
          </a:xfrm>
        </p:grpSpPr>
        <p:sp>
          <p:nvSpPr>
            <p:cNvPr id="5" name="Oval 3"/>
            <p:cNvSpPr>
              <a:spLocks noChangeArrowheads="1"/>
            </p:cNvSpPr>
            <p:nvPr/>
          </p:nvSpPr>
          <p:spPr bwMode="auto">
            <a:xfrm>
              <a:off x="4858602" y="1690688"/>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solidFill>
                    <a:srgbClr val="0070C0"/>
                  </a:solidFill>
                </a:rPr>
                <a:t>Age</a:t>
              </a:r>
            </a:p>
          </p:txBody>
        </p:sp>
        <p:sp>
          <p:nvSpPr>
            <p:cNvPr id="6" name="Line 7"/>
            <p:cNvSpPr>
              <a:spLocks noChangeShapeType="1"/>
            </p:cNvSpPr>
            <p:nvPr/>
          </p:nvSpPr>
          <p:spPr bwMode="auto">
            <a:xfrm flipH="1">
              <a:off x="36394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Text Box 8"/>
            <p:cNvSpPr txBox="1">
              <a:spLocks noChangeArrowheads="1"/>
            </p:cNvSpPr>
            <p:nvPr/>
          </p:nvSpPr>
          <p:spPr bwMode="auto">
            <a:xfrm>
              <a:off x="3980716" y="2262188"/>
              <a:ext cx="1098435"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Young</a:t>
              </a:r>
            </a:p>
          </p:txBody>
        </p:sp>
        <p:sp>
          <p:nvSpPr>
            <p:cNvPr id="8" name="Line 9"/>
            <p:cNvSpPr>
              <a:spLocks noChangeShapeType="1"/>
            </p:cNvSpPr>
            <p:nvPr/>
          </p:nvSpPr>
          <p:spPr bwMode="auto">
            <a:xfrm>
              <a:off x="5696802" y="2300288"/>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10"/>
            <p:cNvSpPr>
              <a:spLocks noChangeShapeType="1"/>
            </p:cNvSpPr>
            <p:nvPr/>
          </p:nvSpPr>
          <p:spPr bwMode="auto">
            <a:xfrm>
              <a:off x="58492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Text Box 12"/>
            <p:cNvSpPr txBox="1">
              <a:spLocks noChangeArrowheads="1"/>
            </p:cNvSpPr>
            <p:nvPr/>
          </p:nvSpPr>
          <p:spPr bwMode="auto">
            <a:xfrm>
              <a:off x="5087201" y="2452689"/>
              <a:ext cx="1137372"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Middle</a:t>
              </a:r>
            </a:p>
          </p:txBody>
        </p:sp>
        <p:sp>
          <p:nvSpPr>
            <p:cNvPr id="11" name="Text Box 8"/>
            <p:cNvSpPr txBox="1">
              <a:spLocks noChangeArrowheads="1"/>
            </p:cNvSpPr>
            <p:nvPr/>
          </p:nvSpPr>
          <p:spPr bwMode="auto">
            <a:xfrm>
              <a:off x="6763603" y="2376489"/>
              <a:ext cx="690318"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Old</a:t>
              </a:r>
            </a:p>
          </p:txBody>
        </p:sp>
        <p:sp>
          <p:nvSpPr>
            <p:cNvPr id="12" name="Rectangle 6"/>
            <p:cNvSpPr>
              <a:spLocks noChangeArrowheads="1"/>
            </p:cNvSpPr>
            <p:nvPr/>
          </p:nvSpPr>
          <p:spPr bwMode="auto">
            <a:xfrm>
              <a:off x="2801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3" name="Rectangle 6"/>
            <p:cNvSpPr>
              <a:spLocks noChangeArrowheads="1"/>
            </p:cNvSpPr>
            <p:nvPr/>
          </p:nvSpPr>
          <p:spPr bwMode="auto">
            <a:xfrm>
              <a:off x="2801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4" name="Rectangle 6"/>
            <p:cNvSpPr>
              <a:spLocks noChangeArrowheads="1"/>
            </p:cNvSpPr>
            <p:nvPr/>
          </p:nvSpPr>
          <p:spPr bwMode="auto">
            <a:xfrm>
              <a:off x="2801202" y="44338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5" name="Rectangle 6"/>
            <p:cNvSpPr>
              <a:spLocks noChangeArrowheads="1"/>
            </p:cNvSpPr>
            <p:nvPr/>
          </p:nvSpPr>
          <p:spPr bwMode="auto">
            <a:xfrm>
              <a:off x="2801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6" name="Rectangle 6"/>
            <p:cNvSpPr>
              <a:spLocks noChangeArrowheads="1"/>
            </p:cNvSpPr>
            <p:nvPr/>
          </p:nvSpPr>
          <p:spPr bwMode="auto">
            <a:xfrm>
              <a:off x="2801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7" name="Rectangle 6"/>
            <p:cNvSpPr>
              <a:spLocks noChangeArrowheads="1"/>
            </p:cNvSpPr>
            <p:nvPr/>
          </p:nvSpPr>
          <p:spPr bwMode="auto">
            <a:xfrm>
              <a:off x="5011002" y="3214688"/>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8" name="Rectangle 6"/>
            <p:cNvSpPr>
              <a:spLocks noChangeArrowheads="1"/>
            </p:cNvSpPr>
            <p:nvPr/>
          </p:nvSpPr>
          <p:spPr bwMode="auto">
            <a:xfrm>
              <a:off x="5011002" y="38242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9" name="Rectangle 6"/>
            <p:cNvSpPr>
              <a:spLocks noChangeArrowheads="1"/>
            </p:cNvSpPr>
            <p:nvPr/>
          </p:nvSpPr>
          <p:spPr bwMode="auto">
            <a:xfrm>
              <a:off x="50110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0" name="Rectangle 6"/>
            <p:cNvSpPr>
              <a:spLocks noChangeArrowheads="1"/>
            </p:cNvSpPr>
            <p:nvPr/>
          </p:nvSpPr>
          <p:spPr bwMode="auto">
            <a:xfrm>
              <a:off x="50110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1" name="Rectangle 6"/>
            <p:cNvSpPr>
              <a:spLocks noChangeArrowheads="1"/>
            </p:cNvSpPr>
            <p:nvPr/>
          </p:nvSpPr>
          <p:spPr bwMode="auto">
            <a:xfrm>
              <a:off x="6992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2" name="Rectangle 6"/>
            <p:cNvSpPr>
              <a:spLocks noChangeArrowheads="1"/>
            </p:cNvSpPr>
            <p:nvPr/>
          </p:nvSpPr>
          <p:spPr bwMode="auto">
            <a:xfrm>
              <a:off x="6992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3" name="Rectangle 6"/>
            <p:cNvSpPr>
              <a:spLocks noChangeArrowheads="1"/>
            </p:cNvSpPr>
            <p:nvPr/>
          </p:nvSpPr>
          <p:spPr bwMode="auto">
            <a:xfrm>
              <a:off x="69922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4" name="Rectangle 6"/>
            <p:cNvSpPr>
              <a:spLocks noChangeArrowheads="1"/>
            </p:cNvSpPr>
            <p:nvPr/>
          </p:nvSpPr>
          <p:spPr bwMode="auto">
            <a:xfrm>
              <a:off x="6992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5" name="Rectangle 6"/>
            <p:cNvSpPr>
              <a:spLocks noChangeArrowheads="1"/>
            </p:cNvSpPr>
            <p:nvPr/>
          </p:nvSpPr>
          <p:spPr bwMode="auto">
            <a:xfrm>
              <a:off x="6992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spTree>
    <p:extLst>
      <p:ext uri="{BB962C8B-B14F-4D97-AF65-F5344CB8AC3E}">
        <p14:creationId xmlns:p14="http://schemas.microsoft.com/office/powerpoint/2010/main" val="19061772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solidFill>
                  <a:srgbClr val="00B050"/>
                </a:solidFill>
              </a:rPr>
              <a:t>1</a:t>
            </a:r>
            <a:r>
              <a:rPr lang="en-US" altLang="en-US" b="1" dirty="0"/>
              <a:t>R</a:t>
            </a:r>
            <a:r>
              <a:rPr lang="tr-TR" altLang="en-US" b="1" dirty="0"/>
              <a:t>:</a:t>
            </a:r>
            <a:r>
              <a:rPr lang="en-US" altLang="en-US" b="1" dirty="0"/>
              <a:t> Which Feature to Use?</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If we use </a:t>
            </a:r>
            <a:r>
              <a:rPr lang="tr-TR" altLang="en-US" sz="2400" dirty="0">
                <a:solidFill>
                  <a:srgbClr val="0070C0"/>
                </a:solidFill>
                <a:latin typeface="Arial" panose="020B0604020202020204" pitchFamily="34" charset="0"/>
                <a:cs typeface="Arial" panose="020B0604020202020204" pitchFamily="34" charset="0"/>
              </a:rPr>
              <a:t>BMI</a:t>
            </a:r>
            <a:r>
              <a:rPr lang="tr-TR" altLang="en-US" sz="2400"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r>
              <a:rPr lang="en-US" altLang="en-US" dirty="0">
                <a:latin typeface="Arial" panose="020B0604020202020204" pitchFamily="34" charset="0"/>
                <a:cs typeface="Arial" panose="020B0604020202020204" pitchFamily="34" charset="0"/>
              </a:rPr>
              <a:t>Rule: "If Under Then Healthy/Sick, if Normal or Over Then Sick" (</a:t>
            </a:r>
            <a:r>
              <a:rPr lang="en-US" altLang="en-US" b="1" u="sng" dirty="0">
                <a:solidFill>
                  <a:srgbClr val="FF0000"/>
                </a:solidFill>
                <a:latin typeface="Arial" panose="020B0604020202020204" pitchFamily="34" charset="0"/>
                <a:cs typeface="Arial" panose="020B0604020202020204" pitchFamily="34" charset="0"/>
              </a:rPr>
              <a:t>5 ERRORS</a:t>
            </a:r>
            <a:r>
              <a:rPr lang="en-US" altLang="en-US"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en-US" altLang="en-US" dirty="0">
              <a:latin typeface="Arial" panose="020B0604020202020204" pitchFamily="34" charset="0"/>
              <a:cs typeface="Arial" panose="020B0604020202020204" pitchFamily="34" charset="0"/>
            </a:endParaRPr>
          </a:p>
          <a:p>
            <a:pPr lvl="1">
              <a:lnSpc>
                <a:spcPct val="120000"/>
              </a:lnSpc>
              <a:spcBef>
                <a:spcPts val="600"/>
              </a:spcBef>
            </a:pPr>
            <a:endParaRPr lang="tr-TR" altLang="en-US" dirty="0">
              <a:latin typeface="Arial" panose="020B0604020202020204" pitchFamily="34" charset="0"/>
              <a:cs typeface="Arial" panose="020B0604020202020204" pitchFamily="34" charset="0"/>
            </a:endParaRPr>
          </a:p>
          <a:p>
            <a:pPr marL="0" indent="0">
              <a:lnSpc>
                <a:spcPct val="120000"/>
              </a:lnSpc>
              <a:spcBef>
                <a:spcPts val="600"/>
              </a:spcBef>
              <a:buNone/>
            </a:pPr>
            <a:endParaRPr lang="en-US" altLang="en-US" dirty="0">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grpSp>
        <p:nvGrpSpPr>
          <p:cNvPr id="26" name="Group 25"/>
          <p:cNvGrpSpPr/>
          <p:nvPr/>
        </p:nvGrpSpPr>
        <p:grpSpPr>
          <a:xfrm>
            <a:off x="3621057" y="1690686"/>
            <a:ext cx="4949886" cy="4482399"/>
            <a:chOff x="3054631" y="1253864"/>
            <a:chExt cx="5638800" cy="5029200"/>
          </a:xfrm>
        </p:grpSpPr>
        <p:sp>
          <p:nvSpPr>
            <p:cNvPr id="27" name="Oval 3"/>
            <p:cNvSpPr>
              <a:spLocks noChangeArrowheads="1"/>
            </p:cNvSpPr>
            <p:nvPr/>
          </p:nvSpPr>
          <p:spPr bwMode="auto">
            <a:xfrm>
              <a:off x="5112031" y="1253864"/>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tr-TR" altLang="en-US" sz="2200" dirty="0">
                  <a:solidFill>
                    <a:srgbClr val="0070C0"/>
                  </a:solidFill>
                </a:rPr>
                <a:t>BMI</a:t>
              </a:r>
              <a:endParaRPr lang="en-US" altLang="en-US" sz="2200" dirty="0">
                <a:solidFill>
                  <a:srgbClr val="0070C0"/>
                </a:solidFill>
              </a:endParaRPr>
            </a:p>
          </p:txBody>
        </p:sp>
        <p:sp>
          <p:nvSpPr>
            <p:cNvPr id="28" name="Line 7"/>
            <p:cNvSpPr>
              <a:spLocks noChangeShapeType="1"/>
            </p:cNvSpPr>
            <p:nvPr/>
          </p:nvSpPr>
          <p:spPr bwMode="auto">
            <a:xfrm flipH="1">
              <a:off x="3892831" y="1863464"/>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8"/>
            <p:cNvSpPr txBox="1">
              <a:spLocks noChangeArrowheads="1"/>
            </p:cNvSpPr>
            <p:nvPr/>
          </p:nvSpPr>
          <p:spPr bwMode="auto">
            <a:xfrm>
              <a:off x="4234145" y="1825365"/>
              <a:ext cx="1139856" cy="48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sz="2200" dirty="0"/>
                <a:t>Under</a:t>
              </a:r>
              <a:endParaRPr lang="en-US" altLang="en-US" sz="2200" dirty="0"/>
            </a:p>
          </p:txBody>
        </p:sp>
        <p:sp>
          <p:nvSpPr>
            <p:cNvPr id="30" name="Line 9"/>
            <p:cNvSpPr>
              <a:spLocks noChangeShapeType="1"/>
            </p:cNvSpPr>
            <p:nvPr/>
          </p:nvSpPr>
          <p:spPr bwMode="auto">
            <a:xfrm>
              <a:off x="5950231" y="1863464"/>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0"/>
            <p:cNvSpPr>
              <a:spLocks noChangeShapeType="1"/>
            </p:cNvSpPr>
            <p:nvPr/>
          </p:nvSpPr>
          <p:spPr bwMode="auto">
            <a:xfrm>
              <a:off x="6102631" y="1863464"/>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Text Box 12"/>
            <p:cNvSpPr txBox="1">
              <a:spLocks noChangeArrowheads="1"/>
            </p:cNvSpPr>
            <p:nvPr/>
          </p:nvSpPr>
          <p:spPr bwMode="auto">
            <a:xfrm>
              <a:off x="5516576" y="2015865"/>
              <a:ext cx="1316987" cy="48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Normal</a:t>
              </a:r>
            </a:p>
          </p:txBody>
        </p:sp>
        <p:sp>
          <p:nvSpPr>
            <p:cNvPr id="33" name="Text Box 8"/>
            <p:cNvSpPr txBox="1">
              <a:spLocks noChangeArrowheads="1"/>
            </p:cNvSpPr>
            <p:nvPr/>
          </p:nvSpPr>
          <p:spPr bwMode="auto">
            <a:xfrm>
              <a:off x="7017032" y="1939665"/>
              <a:ext cx="942637" cy="48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Over</a:t>
              </a:r>
            </a:p>
          </p:txBody>
        </p:sp>
        <p:sp>
          <p:nvSpPr>
            <p:cNvPr id="34" name="Rectangle 6"/>
            <p:cNvSpPr>
              <a:spLocks noChangeArrowheads="1"/>
            </p:cNvSpPr>
            <p:nvPr/>
          </p:nvSpPr>
          <p:spPr bwMode="auto">
            <a:xfrm>
              <a:off x="3054631" y="3387464"/>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5" name="Rectangle 6"/>
            <p:cNvSpPr>
              <a:spLocks noChangeArrowheads="1"/>
            </p:cNvSpPr>
            <p:nvPr/>
          </p:nvSpPr>
          <p:spPr bwMode="auto">
            <a:xfrm>
              <a:off x="3054631" y="46066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6" name="Rectangle 6"/>
            <p:cNvSpPr>
              <a:spLocks noChangeArrowheads="1"/>
            </p:cNvSpPr>
            <p:nvPr/>
          </p:nvSpPr>
          <p:spPr bwMode="auto">
            <a:xfrm>
              <a:off x="5264431" y="2777864"/>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7" name="Rectangle 6"/>
            <p:cNvSpPr>
              <a:spLocks noChangeArrowheads="1"/>
            </p:cNvSpPr>
            <p:nvPr/>
          </p:nvSpPr>
          <p:spPr bwMode="auto">
            <a:xfrm>
              <a:off x="5264431" y="33874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8" name="Rectangle 6"/>
            <p:cNvSpPr>
              <a:spLocks noChangeArrowheads="1"/>
            </p:cNvSpPr>
            <p:nvPr/>
          </p:nvSpPr>
          <p:spPr bwMode="auto">
            <a:xfrm>
              <a:off x="5264431" y="39970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9" name="Rectangle 6"/>
            <p:cNvSpPr>
              <a:spLocks noChangeArrowheads="1"/>
            </p:cNvSpPr>
            <p:nvPr/>
          </p:nvSpPr>
          <p:spPr bwMode="auto">
            <a:xfrm>
              <a:off x="5264431" y="46066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0" name="Rectangle 6"/>
            <p:cNvSpPr>
              <a:spLocks noChangeArrowheads="1"/>
            </p:cNvSpPr>
            <p:nvPr/>
          </p:nvSpPr>
          <p:spPr bwMode="auto">
            <a:xfrm>
              <a:off x="7245631" y="39970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1" name="Rectangle 6"/>
            <p:cNvSpPr>
              <a:spLocks noChangeArrowheads="1"/>
            </p:cNvSpPr>
            <p:nvPr/>
          </p:nvSpPr>
          <p:spPr bwMode="auto">
            <a:xfrm>
              <a:off x="7245631" y="46066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2" name="Rectangle 6"/>
            <p:cNvSpPr>
              <a:spLocks noChangeArrowheads="1"/>
            </p:cNvSpPr>
            <p:nvPr/>
          </p:nvSpPr>
          <p:spPr bwMode="auto">
            <a:xfrm>
              <a:off x="3054631" y="39970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3" name="Rectangle 6"/>
            <p:cNvSpPr>
              <a:spLocks noChangeArrowheads="1"/>
            </p:cNvSpPr>
            <p:nvPr/>
          </p:nvSpPr>
          <p:spPr bwMode="auto">
            <a:xfrm>
              <a:off x="5282830" y="5825864"/>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44" name="Rectangle 6"/>
            <p:cNvSpPr>
              <a:spLocks noChangeArrowheads="1"/>
            </p:cNvSpPr>
            <p:nvPr/>
          </p:nvSpPr>
          <p:spPr bwMode="auto">
            <a:xfrm>
              <a:off x="7245631" y="338461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5" name="Rectangle 6"/>
            <p:cNvSpPr>
              <a:spLocks noChangeArrowheads="1"/>
            </p:cNvSpPr>
            <p:nvPr/>
          </p:nvSpPr>
          <p:spPr bwMode="auto">
            <a:xfrm>
              <a:off x="5280440" y="522162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46" name="Rectangle 6"/>
            <p:cNvSpPr>
              <a:spLocks noChangeArrowheads="1"/>
            </p:cNvSpPr>
            <p:nvPr/>
          </p:nvSpPr>
          <p:spPr bwMode="auto">
            <a:xfrm>
              <a:off x="3054631" y="2777864"/>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47" name="Rectangle 6"/>
            <p:cNvSpPr>
              <a:spLocks noChangeArrowheads="1"/>
            </p:cNvSpPr>
            <p:nvPr/>
          </p:nvSpPr>
          <p:spPr bwMode="auto">
            <a:xfrm>
              <a:off x="7219621" y="278204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grpSp>
    </p:spTree>
    <p:extLst>
      <p:ext uri="{BB962C8B-B14F-4D97-AF65-F5344CB8AC3E}">
        <p14:creationId xmlns:p14="http://schemas.microsoft.com/office/powerpoint/2010/main" val="28088505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solidFill>
                  <a:srgbClr val="00B050"/>
                </a:solidFill>
              </a:rPr>
              <a:t>1</a:t>
            </a:r>
            <a:r>
              <a:rPr lang="en-US" altLang="en-US" b="1" dirty="0"/>
              <a:t>R</a:t>
            </a:r>
            <a:r>
              <a:rPr lang="tr-TR" altLang="en-US" b="1" dirty="0"/>
              <a:t>:</a:t>
            </a:r>
            <a:r>
              <a:rPr lang="en-US" altLang="en-US" b="1" dirty="0"/>
              <a:t> Which Feature to Use?</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If we use </a:t>
            </a:r>
            <a:r>
              <a:rPr lang="en-US" altLang="en-US" sz="2400" dirty="0">
                <a:solidFill>
                  <a:srgbClr val="0070C0"/>
                </a:solidFill>
                <a:latin typeface="Arial" panose="020B0604020202020204" pitchFamily="34" charset="0"/>
                <a:cs typeface="Arial" panose="020B0604020202020204" pitchFamily="34" charset="0"/>
              </a:rPr>
              <a:t>Gender</a:t>
            </a:r>
            <a:r>
              <a:rPr lang="tr-TR" altLang="en-US" sz="2400"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r>
              <a:rPr lang="en-US" altLang="en-US" dirty="0">
                <a:latin typeface="Arial" panose="020B0604020202020204" pitchFamily="34" charset="0"/>
                <a:cs typeface="Arial" panose="020B0604020202020204" pitchFamily="34" charset="0"/>
              </a:rPr>
              <a:t>Rule: "If Male Then Healthy, if Female Then Sick" (</a:t>
            </a:r>
            <a:r>
              <a:rPr lang="en-US" altLang="en-US" b="1" u="sng" dirty="0">
                <a:solidFill>
                  <a:srgbClr val="FF0000"/>
                </a:solidFill>
                <a:latin typeface="Arial" panose="020B0604020202020204" pitchFamily="34" charset="0"/>
                <a:cs typeface="Arial" panose="020B0604020202020204" pitchFamily="34" charset="0"/>
              </a:rPr>
              <a:t>4 ERRORS</a:t>
            </a:r>
            <a:r>
              <a:rPr lang="en-US" altLang="en-US"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en-US" altLang="en-US" dirty="0">
              <a:latin typeface="Arial" panose="020B0604020202020204" pitchFamily="34" charset="0"/>
              <a:cs typeface="Arial" panose="020B0604020202020204" pitchFamily="34" charset="0"/>
            </a:endParaRPr>
          </a:p>
          <a:p>
            <a:pPr lvl="1">
              <a:lnSpc>
                <a:spcPct val="120000"/>
              </a:lnSpc>
              <a:spcBef>
                <a:spcPts val="600"/>
              </a:spcBef>
            </a:pPr>
            <a:endParaRPr lang="tr-TR" altLang="en-US" dirty="0">
              <a:latin typeface="Arial" panose="020B0604020202020204" pitchFamily="34" charset="0"/>
              <a:cs typeface="Arial" panose="020B0604020202020204" pitchFamily="34" charset="0"/>
            </a:endParaRPr>
          </a:p>
          <a:p>
            <a:pPr marL="0" indent="0">
              <a:lnSpc>
                <a:spcPct val="120000"/>
              </a:lnSpc>
              <a:spcBef>
                <a:spcPts val="600"/>
              </a:spcBef>
              <a:buNone/>
            </a:pPr>
            <a:endParaRPr lang="en-US" altLang="en-US" dirty="0">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grpSp>
        <p:nvGrpSpPr>
          <p:cNvPr id="48" name="Group 47"/>
          <p:cNvGrpSpPr/>
          <p:nvPr/>
        </p:nvGrpSpPr>
        <p:grpSpPr>
          <a:xfrm>
            <a:off x="3478281" y="1690686"/>
            <a:ext cx="5235439" cy="4189322"/>
            <a:chOff x="3388057" y="1558664"/>
            <a:chExt cx="5791201" cy="4572000"/>
          </a:xfrm>
        </p:grpSpPr>
        <p:sp>
          <p:nvSpPr>
            <p:cNvPr id="49" name="Oval 3"/>
            <p:cNvSpPr>
              <a:spLocks noChangeArrowheads="1"/>
            </p:cNvSpPr>
            <p:nvPr/>
          </p:nvSpPr>
          <p:spPr bwMode="auto">
            <a:xfrm>
              <a:off x="5445457" y="1558664"/>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solidFill>
                    <a:srgbClr val="0070C0"/>
                  </a:solidFill>
                </a:rPr>
                <a:t>Gender</a:t>
              </a:r>
            </a:p>
          </p:txBody>
        </p:sp>
        <p:sp>
          <p:nvSpPr>
            <p:cNvPr id="50" name="Line 7"/>
            <p:cNvSpPr>
              <a:spLocks noChangeShapeType="1"/>
            </p:cNvSpPr>
            <p:nvPr/>
          </p:nvSpPr>
          <p:spPr bwMode="auto">
            <a:xfrm flipH="1">
              <a:off x="4226257" y="2168264"/>
              <a:ext cx="1905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Text Box 8"/>
            <p:cNvSpPr txBox="1">
              <a:spLocks noChangeArrowheads="1"/>
            </p:cNvSpPr>
            <p:nvPr/>
          </p:nvSpPr>
          <p:spPr bwMode="auto">
            <a:xfrm>
              <a:off x="4207200" y="1863465"/>
              <a:ext cx="899351" cy="470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Male</a:t>
              </a:r>
            </a:p>
          </p:txBody>
        </p:sp>
        <p:sp>
          <p:nvSpPr>
            <p:cNvPr id="52" name="Line 10"/>
            <p:cNvSpPr>
              <a:spLocks noChangeShapeType="1"/>
            </p:cNvSpPr>
            <p:nvPr/>
          </p:nvSpPr>
          <p:spPr bwMode="auto">
            <a:xfrm>
              <a:off x="6436057" y="2168264"/>
              <a:ext cx="2209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Text Box 8"/>
            <p:cNvSpPr txBox="1">
              <a:spLocks noChangeArrowheads="1"/>
            </p:cNvSpPr>
            <p:nvPr/>
          </p:nvSpPr>
          <p:spPr bwMode="auto">
            <a:xfrm>
              <a:off x="7579058" y="1863465"/>
              <a:ext cx="1280582" cy="470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Female</a:t>
              </a:r>
            </a:p>
          </p:txBody>
        </p:sp>
        <p:sp>
          <p:nvSpPr>
            <p:cNvPr id="54" name="Rectangle 6"/>
            <p:cNvSpPr>
              <a:spLocks noChangeArrowheads="1"/>
            </p:cNvSpPr>
            <p:nvPr/>
          </p:nvSpPr>
          <p:spPr bwMode="auto">
            <a:xfrm>
              <a:off x="3388057" y="2930264"/>
              <a:ext cx="1447801"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55" name="Rectangle 6"/>
            <p:cNvSpPr>
              <a:spLocks noChangeArrowheads="1"/>
            </p:cNvSpPr>
            <p:nvPr/>
          </p:nvSpPr>
          <p:spPr bwMode="auto">
            <a:xfrm>
              <a:off x="3388057" y="3463664"/>
              <a:ext cx="1447801"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56" name="Rectangle 6"/>
            <p:cNvSpPr>
              <a:spLocks noChangeArrowheads="1"/>
            </p:cNvSpPr>
            <p:nvPr/>
          </p:nvSpPr>
          <p:spPr bwMode="auto">
            <a:xfrm>
              <a:off x="3388057" y="3997064"/>
              <a:ext cx="1447801"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57" name="Rectangle 6"/>
            <p:cNvSpPr>
              <a:spLocks noChangeArrowheads="1"/>
            </p:cNvSpPr>
            <p:nvPr/>
          </p:nvSpPr>
          <p:spPr bwMode="auto">
            <a:xfrm>
              <a:off x="3388057" y="4530464"/>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58" name="Rectangle 6"/>
            <p:cNvSpPr>
              <a:spLocks noChangeArrowheads="1"/>
            </p:cNvSpPr>
            <p:nvPr/>
          </p:nvSpPr>
          <p:spPr bwMode="auto">
            <a:xfrm>
              <a:off x="3388057" y="5063865"/>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59" name="Rectangle 6"/>
            <p:cNvSpPr>
              <a:spLocks noChangeArrowheads="1"/>
            </p:cNvSpPr>
            <p:nvPr/>
          </p:nvSpPr>
          <p:spPr bwMode="auto">
            <a:xfrm>
              <a:off x="7731457" y="2473064"/>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0" name="Rectangle 6"/>
            <p:cNvSpPr>
              <a:spLocks noChangeArrowheads="1"/>
            </p:cNvSpPr>
            <p:nvPr/>
          </p:nvSpPr>
          <p:spPr bwMode="auto">
            <a:xfrm>
              <a:off x="7731457" y="3006464"/>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1" name="Rectangle 6"/>
            <p:cNvSpPr>
              <a:spLocks noChangeArrowheads="1"/>
            </p:cNvSpPr>
            <p:nvPr/>
          </p:nvSpPr>
          <p:spPr bwMode="auto">
            <a:xfrm>
              <a:off x="7731457" y="51400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2" name="Rectangle 6"/>
            <p:cNvSpPr>
              <a:spLocks noChangeArrowheads="1"/>
            </p:cNvSpPr>
            <p:nvPr/>
          </p:nvSpPr>
          <p:spPr bwMode="auto">
            <a:xfrm>
              <a:off x="3388057" y="5597264"/>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3" name="Rectangle 6"/>
            <p:cNvSpPr>
              <a:spLocks noChangeArrowheads="1"/>
            </p:cNvSpPr>
            <p:nvPr/>
          </p:nvSpPr>
          <p:spPr bwMode="auto">
            <a:xfrm>
              <a:off x="3388057" y="2396864"/>
              <a:ext cx="1447801"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64" name="Rectangle 6"/>
            <p:cNvSpPr>
              <a:spLocks noChangeArrowheads="1"/>
            </p:cNvSpPr>
            <p:nvPr/>
          </p:nvSpPr>
          <p:spPr bwMode="auto">
            <a:xfrm>
              <a:off x="7731457" y="5673464"/>
              <a:ext cx="1447801"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65" name="Rectangle 6"/>
            <p:cNvSpPr>
              <a:spLocks noChangeArrowheads="1"/>
            </p:cNvSpPr>
            <p:nvPr/>
          </p:nvSpPr>
          <p:spPr bwMode="auto">
            <a:xfrm>
              <a:off x="7731457" y="35398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6" name="Rectangle 6"/>
            <p:cNvSpPr>
              <a:spLocks noChangeArrowheads="1"/>
            </p:cNvSpPr>
            <p:nvPr/>
          </p:nvSpPr>
          <p:spPr bwMode="auto">
            <a:xfrm>
              <a:off x="7731457" y="40732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7" name="Rectangle 6"/>
            <p:cNvSpPr>
              <a:spLocks noChangeArrowheads="1"/>
            </p:cNvSpPr>
            <p:nvPr/>
          </p:nvSpPr>
          <p:spPr bwMode="auto">
            <a:xfrm>
              <a:off x="7731457" y="46066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spTree>
    <p:extLst>
      <p:ext uri="{BB962C8B-B14F-4D97-AF65-F5344CB8AC3E}">
        <p14:creationId xmlns:p14="http://schemas.microsoft.com/office/powerpoint/2010/main" val="17977290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solidFill>
                  <a:srgbClr val="00B050"/>
                </a:solidFill>
              </a:rPr>
              <a:t>1</a:t>
            </a:r>
            <a:r>
              <a:rPr lang="en-US" altLang="en-US" b="1" dirty="0"/>
              <a:t>R</a:t>
            </a:r>
            <a:r>
              <a:rPr lang="tr-TR" altLang="en-US" b="1" dirty="0"/>
              <a:t>:</a:t>
            </a:r>
            <a:r>
              <a:rPr lang="en-US" altLang="en-US" b="1" dirty="0"/>
              <a:t> Which Feature to Use?</a:t>
            </a:r>
            <a:endParaRPr lang="en-US" b="1" dirty="0"/>
          </a:p>
        </p:txBody>
      </p:sp>
      <p:sp>
        <p:nvSpPr>
          <p:cNvPr id="197635" name="Rectangle 3"/>
          <p:cNvSpPr>
            <a:spLocks noGrp="1" noChangeArrowheads="1"/>
          </p:cNvSpPr>
          <p:nvPr>
            <p:ph idx="1"/>
          </p:nvPr>
        </p:nvSpPr>
        <p:spPr>
          <a:xfrm>
            <a:off x="838200" y="1690687"/>
            <a:ext cx="11215255" cy="5167313"/>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If we use </a:t>
            </a:r>
            <a:r>
              <a:rPr lang="tr-TR" altLang="en-US" sz="2400" dirty="0" err="1">
                <a:solidFill>
                  <a:srgbClr val="0070C0"/>
                </a:solidFill>
                <a:latin typeface="Arial" panose="020B0604020202020204" pitchFamily="34" charset="0"/>
                <a:cs typeface="Arial" panose="020B0604020202020204" pitchFamily="34" charset="0"/>
              </a:rPr>
              <a:t>IoS</a:t>
            </a:r>
            <a:r>
              <a:rPr lang="en-US" altLang="en-US" sz="2400" dirty="0">
                <a:solidFill>
                  <a:srgbClr val="0070C0"/>
                </a:solidFill>
                <a:latin typeface="Arial" panose="020B0604020202020204" pitchFamily="34" charset="0"/>
                <a:cs typeface="Arial" panose="020B0604020202020204" pitchFamily="34" charset="0"/>
              </a:rPr>
              <a:t>:</a:t>
            </a:r>
            <a:endParaRPr lang="en-US"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sz="600"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sz="600"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sz="600" dirty="0">
              <a:latin typeface="Arial" panose="020B0604020202020204" pitchFamily="34" charset="0"/>
              <a:cs typeface="Arial" panose="020B0604020202020204" pitchFamily="34" charset="0"/>
            </a:endParaRPr>
          </a:p>
          <a:p>
            <a:pPr marL="236538" lvl="1" indent="-236538">
              <a:lnSpc>
                <a:spcPct val="120000"/>
              </a:lnSpc>
              <a:spcBef>
                <a:spcPts val="600"/>
              </a:spcBef>
            </a:pPr>
            <a:r>
              <a:rPr lang="en-US" altLang="en-US" dirty="0">
                <a:latin typeface="Arial" panose="020B0604020202020204" pitchFamily="34" charset="0"/>
                <a:cs typeface="Arial" panose="020B0604020202020204" pitchFamily="34" charset="0"/>
              </a:rPr>
              <a:t>Rule: "If Low Then Healthy/Sick</a:t>
            </a:r>
            <a:r>
              <a:rPr lang="tr-TR" altLang="en-US" dirty="0">
                <a:latin typeface="Arial" panose="020B0604020202020204" pitchFamily="34" charset="0"/>
                <a:cs typeface="Arial" panose="020B0604020202020204" pitchFamily="34" charset="0"/>
              </a:rPr>
              <a:t>, I</a:t>
            </a:r>
            <a:r>
              <a:rPr lang="en-US" altLang="en-US" dirty="0">
                <a:latin typeface="Arial" panose="020B0604020202020204" pitchFamily="34" charset="0"/>
                <a:cs typeface="Arial" panose="020B0604020202020204" pitchFamily="34" charset="0"/>
              </a:rPr>
              <a:t>f High Then Sick" (</a:t>
            </a:r>
            <a:r>
              <a:rPr lang="en-US" altLang="en-US" b="1" u="sng" dirty="0">
                <a:solidFill>
                  <a:srgbClr val="FF0000"/>
                </a:solidFill>
                <a:latin typeface="Arial" panose="020B0604020202020204" pitchFamily="34" charset="0"/>
                <a:cs typeface="Arial" panose="020B0604020202020204" pitchFamily="34" charset="0"/>
              </a:rPr>
              <a:t>5 ERRORS</a:t>
            </a:r>
            <a:r>
              <a:rPr lang="en-US" altLang="en-US" dirty="0">
                <a:latin typeface="Arial" panose="020B0604020202020204" pitchFamily="34" charset="0"/>
                <a:cs typeface="Arial" panose="020B0604020202020204" pitchFamily="34" charset="0"/>
              </a:rPr>
              <a:t>)</a:t>
            </a:r>
          </a:p>
          <a:p>
            <a:pPr marL="236538" lvl="1" indent="-236538">
              <a:lnSpc>
                <a:spcPct val="120000"/>
              </a:lnSpc>
              <a:spcBef>
                <a:spcPts val="600"/>
              </a:spcBef>
            </a:pPr>
            <a:endParaRPr lang="en-US" altLang="en-US" dirty="0">
              <a:latin typeface="Arial" panose="020B0604020202020204" pitchFamily="34" charset="0"/>
              <a:cs typeface="Arial" panose="020B0604020202020204" pitchFamily="34" charset="0"/>
            </a:endParaRPr>
          </a:p>
          <a:p>
            <a:pPr lvl="1">
              <a:lnSpc>
                <a:spcPct val="120000"/>
              </a:lnSpc>
              <a:spcBef>
                <a:spcPts val="600"/>
              </a:spcBef>
            </a:pPr>
            <a:endParaRPr lang="tr-TR" altLang="en-US" dirty="0">
              <a:latin typeface="Arial" panose="020B0604020202020204" pitchFamily="34" charset="0"/>
              <a:cs typeface="Arial" panose="020B0604020202020204" pitchFamily="34" charset="0"/>
            </a:endParaRPr>
          </a:p>
          <a:p>
            <a:pPr marL="0" indent="0">
              <a:lnSpc>
                <a:spcPct val="120000"/>
              </a:lnSpc>
              <a:spcBef>
                <a:spcPts val="600"/>
              </a:spcBef>
              <a:buNone/>
            </a:pPr>
            <a:endParaRPr lang="en-US" altLang="en-US" dirty="0">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grpSp>
        <p:nvGrpSpPr>
          <p:cNvPr id="2" name="Group 1"/>
          <p:cNvGrpSpPr/>
          <p:nvPr/>
        </p:nvGrpSpPr>
        <p:grpSpPr>
          <a:xfrm>
            <a:off x="3200400" y="1357226"/>
            <a:ext cx="5791200" cy="5105400"/>
            <a:chOff x="5680182" y="1622697"/>
            <a:chExt cx="5791200" cy="5105400"/>
          </a:xfrm>
        </p:grpSpPr>
        <p:sp>
          <p:nvSpPr>
            <p:cNvPr id="24" name="Oval 3"/>
            <p:cNvSpPr>
              <a:spLocks noChangeArrowheads="1"/>
            </p:cNvSpPr>
            <p:nvPr/>
          </p:nvSpPr>
          <p:spPr bwMode="auto">
            <a:xfrm>
              <a:off x="7737582" y="1622697"/>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tr-TR" altLang="en-US" sz="2200" dirty="0" err="1">
                  <a:solidFill>
                    <a:srgbClr val="0070C0"/>
                  </a:solidFill>
                </a:rPr>
                <a:t>IoS</a:t>
              </a:r>
              <a:endParaRPr lang="en-US" altLang="en-US" sz="2200" dirty="0">
                <a:solidFill>
                  <a:srgbClr val="0070C0"/>
                </a:solidFill>
              </a:endParaRPr>
            </a:p>
          </p:txBody>
        </p:sp>
        <p:sp>
          <p:nvSpPr>
            <p:cNvPr id="25" name="Line 7"/>
            <p:cNvSpPr>
              <a:spLocks noChangeShapeType="1"/>
            </p:cNvSpPr>
            <p:nvPr/>
          </p:nvSpPr>
          <p:spPr bwMode="auto">
            <a:xfrm flipH="1">
              <a:off x="6518382" y="2232297"/>
              <a:ext cx="1905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Text Box 8"/>
            <p:cNvSpPr txBox="1">
              <a:spLocks noChangeArrowheads="1"/>
            </p:cNvSpPr>
            <p:nvPr/>
          </p:nvSpPr>
          <p:spPr bwMode="auto">
            <a:xfrm>
              <a:off x="6499325" y="1927498"/>
              <a:ext cx="7505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Low</a:t>
              </a:r>
            </a:p>
          </p:txBody>
        </p:sp>
        <p:sp>
          <p:nvSpPr>
            <p:cNvPr id="27" name="Line 10"/>
            <p:cNvSpPr>
              <a:spLocks noChangeShapeType="1"/>
            </p:cNvSpPr>
            <p:nvPr/>
          </p:nvSpPr>
          <p:spPr bwMode="auto">
            <a:xfrm>
              <a:off x="8728182" y="2232297"/>
              <a:ext cx="2209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Text Box 8"/>
            <p:cNvSpPr txBox="1">
              <a:spLocks noChangeArrowheads="1"/>
            </p:cNvSpPr>
            <p:nvPr/>
          </p:nvSpPr>
          <p:spPr bwMode="auto">
            <a:xfrm>
              <a:off x="9871183" y="1927498"/>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High</a:t>
              </a:r>
            </a:p>
          </p:txBody>
        </p:sp>
        <p:sp>
          <p:nvSpPr>
            <p:cNvPr id="29" name="Rectangle 6"/>
            <p:cNvSpPr>
              <a:spLocks noChangeArrowheads="1"/>
            </p:cNvSpPr>
            <p:nvPr/>
          </p:nvSpPr>
          <p:spPr bwMode="auto">
            <a:xfrm>
              <a:off x="5680182" y="2994297"/>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0" name="Rectangle 6"/>
            <p:cNvSpPr>
              <a:spLocks noChangeArrowheads="1"/>
            </p:cNvSpPr>
            <p:nvPr/>
          </p:nvSpPr>
          <p:spPr bwMode="auto">
            <a:xfrm>
              <a:off x="5680182" y="3527697"/>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1" name="Rectangle 6"/>
            <p:cNvSpPr>
              <a:spLocks noChangeArrowheads="1"/>
            </p:cNvSpPr>
            <p:nvPr/>
          </p:nvSpPr>
          <p:spPr bwMode="auto">
            <a:xfrm>
              <a:off x="5680182" y="45944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2" name="Rectangle 6"/>
            <p:cNvSpPr>
              <a:spLocks noChangeArrowheads="1"/>
            </p:cNvSpPr>
            <p:nvPr/>
          </p:nvSpPr>
          <p:spPr bwMode="auto">
            <a:xfrm>
              <a:off x="5680182" y="51278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3" name="Rectangle 6"/>
            <p:cNvSpPr>
              <a:spLocks noChangeArrowheads="1"/>
            </p:cNvSpPr>
            <p:nvPr/>
          </p:nvSpPr>
          <p:spPr bwMode="auto">
            <a:xfrm>
              <a:off x="10023582" y="2537097"/>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4" name="Rectangle 6"/>
            <p:cNvSpPr>
              <a:spLocks noChangeArrowheads="1"/>
            </p:cNvSpPr>
            <p:nvPr/>
          </p:nvSpPr>
          <p:spPr bwMode="auto">
            <a:xfrm>
              <a:off x="10023582" y="30704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5" name="Rectangle 6"/>
            <p:cNvSpPr>
              <a:spLocks noChangeArrowheads="1"/>
            </p:cNvSpPr>
            <p:nvPr/>
          </p:nvSpPr>
          <p:spPr bwMode="auto">
            <a:xfrm>
              <a:off x="10023582" y="52040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6" name="Rectangle 6"/>
            <p:cNvSpPr>
              <a:spLocks noChangeArrowheads="1"/>
            </p:cNvSpPr>
            <p:nvPr/>
          </p:nvSpPr>
          <p:spPr bwMode="auto">
            <a:xfrm>
              <a:off x="5680182" y="2460897"/>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7" name="Rectangle 6"/>
            <p:cNvSpPr>
              <a:spLocks noChangeArrowheads="1"/>
            </p:cNvSpPr>
            <p:nvPr/>
          </p:nvSpPr>
          <p:spPr bwMode="auto">
            <a:xfrm>
              <a:off x="10023582" y="5737497"/>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8" name="Rectangle 6"/>
            <p:cNvSpPr>
              <a:spLocks noChangeArrowheads="1"/>
            </p:cNvSpPr>
            <p:nvPr/>
          </p:nvSpPr>
          <p:spPr bwMode="auto">
            <a:xfrm>
              <a:off x="10023582" y="36038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9" name="Rectangle 6"/>
            <p:cNvSpPr>
              <a:spLocks noChangeArrowheads="1"/>
            </p:cNvSpPr>
            <p:nvPr/>
          </p:nvSpPr>
          <p:spPr bwMode="auto">
            <a:xfrm>
              <a:off x="10023582" y="41372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a:t>Sick</a:t>
              </a:r>
              <a:endParaRPr lang="en-US" altLang="en-US" sz="2200" b="0" dirty="0"/>
            </a:p>
          </p:txBody>
        </p:sp>
        <p:sp>
          <p:nvSpPr>
            <p:cNvPr id="40" name="Rectangle 6"/>
            <p:cNvSpPr>
              <a:spLocks noChangeArrowheads="1"/>
            </p:cNvSpPr>
            <p:nvPr/>
          </p:nvSpPr>
          <p:spPr bwMode="auto">
            <a:xfrm>
              <a:off x="10023582" y="46706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1" name="Rectangle 6"/>
            <p:cNvSpPr>
              <a:spLocks noChangeArrowheads="1"/>
            </p:cNvSpPr>
            <p:nvPr/>
          </p:nvSpPr>
          <p:spPr bwMode="auto">
            <a:xfrm>
              <a:off x="5680182" y="4061097"/>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42" name="Rectangle 6"/>
            <p:cNvSpPr>
              <a:spLocks noChangeArrowheads="1"/>
            </p:cNvSpPr>
            <p:nvPr/>
          </p:nvSpPr>
          <p:spPr bwMode="auto">
            <a:xfrm>
              <a:off x="10023582" y="6270897"/>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grpSp>
    </p:spTree>
    <p:extLst>
      <p:ext uri="{BB962C8B-B14F-4D97-AF65-F5344CB8AC3E}">
        <p14:creationId xmlns:p14="http://schemas.microsoft.com/office/powerpoint/2010/main" val="38415967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solidFill>
                  <a:srgbClr val="00B050"/>
                </a:solidFill>
              </a:rPr>
              <a:t>1</a:t>
            </a:r>
            <a:r>
              <a:rPr lang="en-US" altLang="en-US" b="1" dirty="0"/>
              <a:t>R: Summary of the Analysis </a:t>
            </a:r>
            <a:endParaRPr lang="en-US" b="1" dirty="0"/>
          </a:p>
        </p:txBody>
      </p:sp>
      <p:graphicFrame>
        <p:nvGraphicFramePr>
          <p:cNvPr id="43" name="Table 42"/>
          <p:cNvGraphicFramePr>
            <a:graphicFrameLocks noGrp="1"/>
          </p:cNvGraphicFramePr>
          <p:nvPr/>
        </p:nvGraphicFramePr>
        <p:xfrm>
          <a:off x="838200" y="1838627"/>
          <a:ext cx="7022690" cy="4409768"/>
        </p:xfrm>
        <a:graphic>
          <a:graphicData uri="http://schemas.openxmlformats.org/drawingml/2006/table">
            <a:tbl>
              <a:tblPr firstRow="1" bandRow="1">
                <a:tableStyleId>{91EBBBCC-DAD2-459C-BE2E-F6DE35CF9A28}</a:tableStyleId>
              </a:tblPr>
              <a:tblGrid>
                <a:gridCol w="574086">
                  <a:extLst>
                    <a:ext uri="{9D8B030D-6E8A-4147-A177-3AD203B41FA5}">
                      <a16:colId xmlns:a16="http://schemas.microsoft.com/office/drawing/2014/main" val="2389402078"/>
                    </a:ext>
                  </a:extLst>
                </a:gridCol>
                <a:gridCol w="1484344">
                  <a:extLst>
                    <a:ext uri="{9D8B030D-6E8A-4147-A177-3AD203B41FA5}">
                      <a16:colId xmlns:a16="http://schemas.microsoft.com/office/drawing/2014/main" val="480741669"/>
                    </a:ext>
                  </a:extLst>
                </a:gridCol>
                <a:gridCol w="2266557">
                  <a:extLst>
                    <a:ext uri="{9D8B030D-6E8A-4147-A177-3AD203B41FA5}">
                      <a16:colId xmlns:a16="http://schemas.microsoft.com/office/drawing/2014/main" val="1237003427"/>
                    </a:ext>
                  </a:extLst>
                </a:gridCol>
                <a:gridCol w="1444308">
                  <a:extLst>
                    <a:ext uri="{9D8B030D-6E8A-4147-A177-3AD203B41FA5}">
                      <a16:colId xmlns:a16="http://schemas.microsoft.com/office/drawing/2014/main" val="2312775277"/>
                    </a:ext>
                  </a:extLst>
                </a:gridCol>
                <a:gridCol w="1253395">
                  <a:extLst>
                    <a:ext uri="{9D8B030D-6E8A-4147-A177-3AD203B41FA5}">
                      <a16:colId xmlns:a16="http://schemas.microsoft.com/office/drawing/2014/main" val="3058533295"/>
                    </a:ext>
                  </a:extLst>
                </a:gridCol>
              </a:tblGrid>
              <a:tr h="400888">
                <a:tc>
                  <a:txBody>
                    <a:bodyPr/>
                    <a:lstStyle/>
                    <a:p>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noProof="0" dirty="0">
                          <a:latin typeface="Arial" panose="020B0604020202020204" pitchFamily="34" charset="0"/>
                          <a:cs typeface="Arial" panose="020B0604020202020204" pitchFamily="34" charset="0"/>
                        </a:rPr>
                        <a:t>Feature</a:t>
                      </a:r>
                      <a:endParaRPr lang="en-US" noProof="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latin typeface="Arial" panose="020B0604020202020204" pitchFamily="34" charset="0"/>
                          <a:cs typeface="Arial" panose="020B0604020202020204" pitchFamily="34" charset="0"/>
                        </a:rPr>
                        <a:t>Rules	</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latin typeface="Arial" panose="020B0604020202020204" pitchFamily="34" charset="0"/>
                          <a:cs typeface="Arial" panose="020B0604020202020204" pitchFamily="34" charset="0"/>
                        </a:rPr>
                        <a:t>Error</a:t>
                      </a:r>
                      <a:r>
                        <a:rPr lang="tr-TR" altLang="en-US" sz="1800" dirty="0">
                          <a:latin typeface="Arial" panose="020B0604020202020204" pitchFamily="34" charset="0"/>
                          <a:cs typeface="Arial" panose="020B0604020202020204" pitchFamily="34" charset="0"/>
                        </a:rPr>
                        <a:t>s</a:t>
                      </a:r>
                      <a:r>
                        <a:rPr lang="en-US" altLang="en-US" sz="1800"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latin typeface="Arial" panose="020B0604020202020204" pitchFamily="34" charset="0"/>
                          <a:cs typeface="Arial" panose="020B0604020202020204" pitchFamily="34" charset="0"/>
                        </a:rPr>
                        <a:t>Total</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0279754"/>
                  </a:ext>
                </a:extLst>
              </a:tr>
              <a:tr h="400888">
                <a:tc rowSpan="3">
                  <a:txBody>
                    <a:bodyPr/>
                    <a:lstStyle/>
                    <a:p>
                      <a:endParaRPr lang="tr-TR" dirty="0">
                        <a:latin typeface="Arial" panose="020B0604020202020204" pitchFamily="34" charset="0"/>
                        <a:cs typeface="Arial" panose="020B0604020202020204" pitchFamily="34" charset="0"/>
                      </a:endParaRPr>
                    </a:p>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l"/>
                      <a:endParaRPr lang="en-US" altLang="en-US" sz="1800" noProof="0" dirty="0">
                        <a:latin typeface="Arial" panose="020B0604020202020204" pitchFamily="34" charset="0"/>
                        <a:cs typeface="Arial" panose="020B0604020202020204" pitchFamily="34" charset="0"/>
                      </a:endParaRPr>
                    </a:p>
                    <a:p>
                      <a:pPr algn="l"/>
                      <a:endParaRPr lang="en-US" altLang="en-US" sz="1800" noProof="0" dirty="0">
                        <a:latin typeface="Arial" panose="020B0604020202020204" pitchFamily="34" charset="0"/>
                        <a:cs typeface="Arial" panose="020B0604020202020204" pitchFamily="34" charset="0"/>
                      </a:endParaRPr>
                    </a:p>
                    <a:p>
                      <a:pPr algn="l"/>
                      <a:r>
                        <a:rPr lang="en-US" altLang="en-US" sz="1800" noProof="0" dirty="0">
                          <a:latin typeface="Arial" panose="020B0604020202020204" pitchFamily="34" charset="0"/>
                          <a:cs typeface="Arial" panose="020B0604020202020204" pitchFamily="34" charset="0"/>
                        </a:rPr>
                        <a:t>Age</a:t>
                      </a:r>
                      <a:endParaRPr lang="en-US" noProof="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latin typeface="Arial" panose="020B0604020202020204" pitchFamily="34" charset="0"/>
                          <a:cs typeface="Arial" panose="020B0604020202020204" pitchFamily="34" charset="0"/>
                        </a:rPr>
                        <a:t>Young </a:t>
                      </a:r>
                      <a:r>
                        <a:rPr lang="en-US" altLang="en-US" sz="1800" dirty="0">
                          <a:latin typeface="Arial" panose="020B0604020202020204" pitchFamily="34" charset="0"/>
                          <a:cs typeface="Arial" panose="020B0604020202020204" pitchFamily="34" charset="0"/>
                          <a:sym typeface="Symbol" panose="05050102010706020507" pitchFamily="18" charset="2"/>
                        </a:rPr>
                        <a:t> Healthy</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en-US" sz="1800" dirty="0">
                          <a:latin typeface="Arial" panose="020B0604020202020204" pitchFamily="34" charset="0"/>
                          <a:cs typeface="Arial" panose="020B0604020202020204" pitchFamily="34" charset="0"/>
                          <a:sym typeface="Symbol" panose="05050102010706020507" pitchFamily="18" charset="2"/>
                        </a:rPr>
                        <a:t>2/5</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tr-TR" altLang="en-US" sz="1800" dirty="0">
                        <a:latin typeface="Arial" panose="020B0604020202020204" pitchFamily="34" charset="0"/>
                        <a:cs typeface="Arial" panose="020B0604020202020204" pitchFamily="34" charset="0"/>
                        <a:sym typeface="Symbol" panose="05050102010706020507" pitchFamily="18" charset="2"/>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tr-TR" altLang="en-US" sz="1800" dirty="0">
                        <a:latin typeface="Arial" panose="020B0604020202020204" pitchFamily="34" charset="0"/>
                        <a:cs typeface="Arial" panose="020B0604020202020204" pitchFamily="34" charset="0"/>
                        <a:sym typeface="Symbol" panose="05050102010706020507" pitchFamily="18" charset="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800" dirty="0">
                          <a:solidFill>
                            <a:srgbClr val="00B050"/>
                          </a:solidFill>
                          <a:latin typeface="Arial" panose="020B0604020202020204" pitchFamily="34" charset="0"/>
                          <a:cs typeface="Arial" panose="020B0604020202020204" pitchFamily="34" charset="0"/>
                          <a:sym typeface="Symbol" panose="05050102010706020507" pitchFamily="18" charset="2"/>
                        </a:rPr>
                        <a:t>4/14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005570"/>
                  </a:ext>
                </a:extLst>
              </a:tr>
              <a:tr h="400888">
                <a:tc vMerge="1">
                  <a:txBody>
                    <a:bodyPr/>
                    <a:lstStyle/>
                    <a:p>
                      <a:endParaRPr lang="en-US" dirty="0"/>
                    </a:p>
                  </a:txBody>
                  <a:tcPr/>
                </a:tc>
                <a:tc vMerge="1">
                  <a:txBody>
                    <a:bodyPr/>
                    <a:lstStyle/>
                    <a:p>
                      <a:endParaRPr lang="en-US" dirty="0"/>
                    </a:p>
                  </a:txBody>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Middle  Sick</a:t>
                      </a:r>
                      <a:endParaRPr lang="en-US" dirty="0">
                        <a:latin typeface="Arial" panose="020B0604020202020204" pitchFamily="34" charset="0"/>
                        <a:cs typeface="Arial" panose="020B0604020202020204" pitchFamily="34" charset="0"/>
                      </a:endParaRPr>
                    </a:p>
                  </a:txBody>
                  <a:tcPr/>
                </a:tc>
                <a:tc>
                  <a:txBody>
                    <a:bodyPr/>
                    <a:lstStyle/>
                    <a:p>
                      <a:pPr algn="ctr">
                        <a:lnSpc>
                          <a:spcPct val="90000"/>
                        </a:lnSpc>
                        <a:buFont typeface="Wingdings" panose="05000000000000000000" pitchFamily="2" charset="2"/>
                        <a:buNone/>
                      </a:pPr>
                      <a:r>
                        <a:rPr lang="en-US" altLang="en-US" sz="1800" dirty="0">
                          <a:latin typeface="Arial" panose="020B0604020202020204" pitchFamily="34" charset="0"/>
                          <a:cs typeface="Arial" panose="020B0604020202020204" pitchFamily="34" charset="0"/>
                          <a:sym typeface="Symbol" panose="05050102010706020507" pitchFamily="18" charset="2"/>
                        </a:rPr>
                        <a:t>0/4</a:t>
                      </a:r>
                    </a:p>
                  </a:txBody>
                  <a:tcPr/>
                </a:tc>
                <a:tc vMerge="1">
                  <a:txBody>
                    <a:bodyPr/>
                    <a:lstStyle/>
                    <a:p>
                      <a:endParaRPr lang="en-US"/>
                    </a:p>
                  </a:txBody>
                  <a:tcPr/>
                </a:tc>
                <a:extLst>
                  <a:ext uri="{0D108BD9-81ED-4DB2-BD59-A6C34878D82A}">
                    <a16:rowId xmlns:a16="http://schemas.microsoft.com/office/drawing/2014/main" val="2222414702"/>
                  </a:ext>
                </a:extLst>
              </a:tr>
              <a:tr h="400888">
                <a:tc vMerge="1">
                  <a:txBody>
                    <a:bodyPr/>
                    <a:lstStyle/>
                    <a:p>
                      <a:endParaRPr lang="en-US" dirty="0"/>
                    </a:p>
                  </a:txBody>
                  <a:tcPr/>
                </a:tc>
                <a:tc vMerge="1">
                  <a:txBody>
                    <a:bodyPr/>
                    <a:lstStyle/>
                    <a:p>
                      <a:endParaRPr lang="en-US" dirty="0"/>
                    </a:p>
                  </a:txBody>
                  <a:tcPr>
                    <a:lnB w="12700" cap="flat" cmpd="sng" algn="ctr">
                      <a:solidFill>
                        <a:schemeClr val="tx1"/>
                      </a:solidFill>
                      <a:prstDash val="solid"/>
                      <a:round/>
                      <a:headEnd type="none" w="med" len="med"/>
                      <a:tailEnd type="none" w="med" len="med"/>
                    </a:lnB>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Old  Sick</a:t>
                      </a:r>
                      <a:endParaRPr lang="en-US" dirty="0">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800" dirty="0">
                          <a:latin typeface="Arial" panose="020B0604020202020204" pitchFamily="34" charset="0"/>
                          <a:cs typeface="Arial" panose="020B0604020202020204" pitchFamily="34" charset="0"/>
                          <a:sym typeface="Symbol" panose="05050102010706020507" pitchFamily="18" charset="2"/>
                        </a:rPr>
                        <a:t>2/5</a:t>
                      </a:r>
                      <a:endParaRPr lang="tr-TR" altLang="en-US" sz="1800" dirty="0">
                        <a:latin typeface="Arial" panose="020B0604020202020204" pitchFamily="34" charset="0"/>
                        <a:cs typeface="Arial" panose="020B0604020202020204" pitchFamily="34" charset="0"/>
                        <a:sym typeface="Symbol" panose="05050102010706020507" pitchFamily="18" charset="2"/>
                      </a:endParaRPr>
                    </a:p>
                  </a:txBody>
                  <a:tcPr>
                    <a:lnB w="12700" cap="flat" cmpd="sng" algn="ctr">
                      <a:solidFill>
                        <a:schemeClr val="tx1"/>
                      </a:solidFill>
                      <a:prstDash val="solid"/>
                      <a:round/>
                      <a:headEnd type="none" w="med" len="med"/>
                      <a:tailEnd type="none" w="med" len="med"/>
                    </a:lnB>
                  </a:tcPr>
                </a:tc>
                <a:tc vMerge="1">
                  <a:txBody>
                    <a:bodyPr/>
                    <a:lstStyle/>
                    <a:p>
                      <a:endParaRPr 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863822"/>
                  </a:ext>
                </a:extLst>
              </a:tr>
              <a:tr h="400888">
                <a:tc rowSpan="3">
                  <a:txBody>
                    <a:bodyPr/>
                    <a:lstStyle/>
                    <a:p>
                      <a:endParaRPr lang="tr-TR" dirty="0">
                        <a:latin typeface="Arial" panose="020B0604020202020204" pitchFamily="34" charset="0"/>
                        <a:cs typeface="Arial" panose="020B0604020202020204" pitchFamily="34" charset="0"/>
                      </a:endParaRPr>
                    </a:p>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l"/>
                      <a:endParaRPr lang="en-US" noProof="0" dirty="0">
                        <a:latin typeface="Arial" panose="020B0604020202020204" pitchFamily="34" charset="0"/>
                        <a:cs typeface="Arial" panose="020B0604020202020204" pitchFamily="34" charset="0"/>
                      </a:endParaRPr>
                    </a:p>
                    <a:p>
                      <a:pPr algn="l"/>
                      <a:endParaRPr lang="tr-TR" noProof="0" dirty="0">
                        <a:latin typeface="Arial" panose="020B0604020202020204" pitchFamily="34" charset="0"/>
                        <a:cs typeface="Arial" panose="020B0604020202020204" pitchFamily="34" charset="0"/>
                      </a:endParaRPr>
                    </a:p>
                    <a:p>
                      <a:pPr algn="l"/>
                      <a:r>
                        <a:rPr lang="en-US" noProof="0" dirty="0">
                          <a:latin typeface="Arial" panose="020B0604020202020204" pitchFamily="34" charset="0"/>
                          <a:cs typeface="Arial" panose="020B0604020202020204" pitchFamily="34" charset="0"/>
                        </a:rPr>
                        <a:t>BMI</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Under  Healthy </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en-US" sz="1800" dirty="0">
                          <a:latin typeface="Arial" panose="020B0604020202020204" pitchFamily="34" charset="0"/>
                          <a:cs typeface="Arial" panose="020B0604020202020204" pitchFamily="34" charset="0"/>
                          <a:sym typeface="Symbol" panose="05050102010706020507" pitchFamily="18" charset="2"/>
                        </a:rPr>
                        <a:t>2/4</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rowSpan="3">
                  <a:txBody>
                    <a:bodyPr/>
                    <a:lstStyle/>
                    <a:p>
                      <a:pPr algn="ctr"/>
                      <a:endParaRPr lang="tr-TR" dirty="0">
                        <a:latin typeface="Arial" panose="020B0604020202020204" pitchFamily="34" charset="0"/>
                        <a:cs typeface="Arial" panose="020B0604020202020204" pitchFamily="34" charset="0"/>
                      </a:endParaRPr>
                    </a:p>
                    <a:p>
                      <a:pPr algn="ctr"/>
                      <a:endParaRPr lang="tr-TR" dirty="0">
                        <a:latin typeface="Arial" panose="020B0604020202020204" pitchFamily="34" charset="0"/>
                        <a:cs typeface="Arial" panose="020B0604020202020204" pitchFamily="34" charset="0"/>
                      </a:endParaRPr>
                    </a:p>
                    <a:p>
                      <a:pPr algn="ctr">
                        <a:lnSpc>
                          <a:spcPct val="90000"/>
                        </a:lnSpc>
                        <a:buFont typeface="Wingdings" panose="05000000000000000000" pitchFamily="2" charset="2"/>
                        <a:buNone/>
                      </a:pPr>
                      <a:r>
                        <a:rPr lang="en-US" altLang="en-US" sz="1800" dirty="0">
                          <a:latin typeface="Arial" panose="020B0604020202020204" pitchFamily="34" charset="0"/>
                          <a:cs typeface="Arial" panose="020B0604020202020204" pitchFamily="34" charset="0"/>
                          <a:sym typeface="Symbol" panose="05050102010706020507" pitchFamily="18" charset="2"/>
                        </a:rPr>
                        <a:t>5/14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5419585"/>
                  </a:ext>
                </a:extLst>
              </a:tr>
              <a:tr h="400888">
                <a:tc vMerge="1">
                  <a:txBody>
                    <a:bodyPr/>
                    <a:lstStyle/>
                    <a:p>
                      <a:endParaRPr lang="en-US" dirty="0"/>
                    </a:p>
                  </a:txBody>
                  <a:tcPr/>
                </a:tc>
                <a:tc vMerge="1">
                  <a:txBody>
                    <a:bodyPr/>
                    <a:lstStyle/>
                    <a:p>
                      <a:endParaRPr lang="en-US" dirty="0"/>
                    </a:p>
                  </a:txBody>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Normal  Sick </a:t>
                      </a:r>
                      <a:endParaRPr lang="en-US" dirty="0">
                        <a:latin typeface="Arial" panose="020B0604020202020204" pitchFamily="34" charset="0"/>
                        <a:cs typeface="Arial" panose="020B0604020202020204" pitchFamily="34" charset="0"/>
                      </a:endParaRPr>
                    </a:p>
                  </a:txBody>
                  <a:tcPr/>
                </a:tc>
                <a:tc>
                  <a:txBody>
                    <a:bodyPr/>
                    <a:lstStyle/>
                    <a:p>
                      <a:pPr algn="ctr">
                        <a:lnSpc>
                          <a:spcPct val="90000"/>
                        </a:lnSpc>
                        <a:buFont typeface="Wingdings" panose="05000000000000000000" pitchFamily="2" charset="2"/>
                        <a:buNone/>
                      </a:pPr>
                      <a:r>
                        <a:rPr lang="en-US" altLang="en-US" sz="1800" dirty="0">
                          <a:latin typeface="Arial" panose="020B0604020202020204" pitchFamily="34" charset="0"/>
                          <a:cs typeface="Arial" panose="020B0604020202020204" pitchFamily="34" charset="0"/>
                          <a:sym typeface="Symbol" panose="05050102010706020507" pitchFamily="18" charset="2"/>
                        </a:rPr>
                        <a:t>2/6</a:t>
                      </a:r>
                    </a:p>
                  </a:txBody>
                  <a:tcPr/>
                </a:tc>
                <a:tc vMerge="1">
                  <a:txBody>
                    <a:bodyPr/>
                    <a:lstStyle/>
                    <a:p>
                      <a:endParaRPr lang="en-US" dirty="0"/>
                    </a:p>
                  </a:txBody>
                  <a:tcPr/>
                </a:tc>
                <a:extLst>
                  <a:ext uri="{0D108BD9-81ED-4DB2-BD59-A6C34878D82A}">
                    <a16:rowId xmlns:a16="http://schemas.microsoft.com/office/drawing/2014/main" val="3110628077"/>
                  </a:ext>
                </a:extLst>
              </a:tr>
              <a:tr h="400888">
                <a:tc vMerge="1">
                  <a:txBody>
                    <a:bodyPr/>
                    <a:lstStyle/>
                    <a:p>
                      <a:endParaRPr lang="en-US" dirty="0"/>
                    </a:p>
                  </a:txBody>
                  <a:tcPr/>
                </a:tc>
                <a:tc vMerge="1">
                  <a:txBody>
                    <a:bodyPr/>
                    <a:lstStyle/>
                    <a:p>
                      <a:endParaRPr lang="en-US" dirty="0"/>
                    </a:p>
                  </a:txBody>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Over  Healthy </a:t>
                      </a:r>
                      <a:endParaRPr lang="en-US" dirty="0">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tcPr>
                </a:tc>
                <a:tc>
                  <a:txBody>
                    <a:bodyPr/>
                    <a:lstStyle/>
                    <a:p>
                      <a:pPr algn="ctr">
                        <a:lnSpc>
                          <a:spcPct val="90000"/>
                        </a:lnSpc>
                        <a:buFont typeface="Wingdings" panose="05000000000000000000" pitchFamily="2" charset="2"/>
                        <a:buNone/>
                      </a:pPr>
                      <a:r>
                        <a:rPr lang="tr-TR" altLang="en-US" sz="1800" dirty="0">
                          <a:latin typeface="Arial" panose="020B0604020202020204" pitchFamily="34" charset="0"/>
                          <a:cs typeface="Arial" panose="020B0604020202020204" pitchFamily="34" charset="0"/>
                          <a:sym typeface="Symbol" panose="05050102010706020507" pitchFamily="18" charset="2"/>
                        </a:rPr>
                        <a:t>1</a:t>
                      </a:r>
                      <a:r>
                        <a:rPr lang="en-US" altLang="en-US" sz="1800" dirty="0">
                          <a:latin typeface="Arial" panose="020B0604020202020204" pitchFamily="34" charset="0"/>
                          <a:cs typeface="Arial" panose="020B0604020202020204" pitchFamily="34" charset="0"/>
                          <a:sym typeface="Symbol" panose="05050102010706020507" pitchFamily="18" charset="2"/>
                        </a:rPr>
                        <a:t>/</a:t>
                      </a:r>
                      <a:r>
                        <a:rPr lang="tr-TR" altLang="en-US" sz="1800" dirty="0">
                          <a:latin typeface="Arial" panose="020B0604020202020204" pitchFamily="34" charset="0"/>
                          <a:cs typeface="Arial" panose="020B0604020202020204" pitchFamily="34" charset="0"/>
                          <a:sym typeface="Symbol" panose="05050102010706020507" pitchFamily="18" charset="2"/>
                        </a:rPr>
                        <a:t>4</a:t>
                      </a:r>
                      <a:endParaRPr lang="en-US" altLang="en-US" sz="1800" dirty="0">
                        <a:latin typeface="Arial" panose="020B0604020202020204" pitchFamily="34" charset="0"/>
                        <a:cs typeface="Arial" panose="020B0604020202020204" pitchFamily="34" charset="0"/>
                        <a:sym typeface="Symbol" panose="05050102010706020507" pitchFamily="18" charset="2"/>
                      </a:endParaRPr>
                    </a:p>
                  </a:txBody>
                  <a:tcPr>
                    <a:lnB w="12700" cap="flat" cmpd="sng" algn="ctr">
                      <a:solidFill>
                        <a:schemeClr val="tx1"/>
                      </a:solidFill>
                      <a:prstDash val="solid"/>
                      <a:round/>
                      <a:headEnd type="none" w="med" len="med"/>
                      <a:tailEnd type="none" w="med" len="med"/>
                    </a:lnB>
                  </a:tcPr>
                </a:tc>
                <a:tc vMerge="1">
                  <a:txBody>
                    <a:bodyPr/>
                    <a:lstStyle/>
                    <a:p>
                      <a:endParaRPr 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429672"/>
                  </a:ext>
                </a:extLst>
              </a:tr>
              <a:tr h="400888">
                <a:tc rowSpan="2">
                  <a:txBody>
                    <a:bodyPr/>
                    <a:lstStyle/>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3</a:t>
                      </a: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l"/>
                      <a:endParaRPr lang="en-US" noProof="0" dirty="0">
                        <a:latin typeface="Arial" panose="020B0604020202020204" pitchFamily="34" charset="0"/>
                        <a:cs typeface="Arial" panose="020B0604020202020204" pitchFamily="34" charset="0"/>
                      </a:endParaRPr>
                    </a:p>
                    <a:p>
                      <a:pPr algn="l"/>
                      <a:r>
                        <a:rPr lang="en-US" noProof="0" dirty="0">
                          <a:latin typeface="Arial" panose="020B0604020202020204" pitchFamily="34" charset="0"/>
                          <a:cs typeface="Arial" panose="020B0604020202020204" pitchFamily="34" charset="0"/>
                        </a:rPr>
                        <a:t>Gender</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Male  Healthy</a:t>
                      </a:r>
                      <a:endParaRPr lang="en-US"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altLang="en-US" sz="1800" dirty="0">
                          <a:latin typeface="Arial" panose="020B0604020202020204" pitchFamily="34" charset="0"/>
                          <a:cs typeface="Arial" panose="020B0604020202020204" pitchFamily="34" charset="0"/>
                          <a:sym typeface="Symbol" panose="05050102010706020507" pitchFamily="18" charset="2"/>
                        </a:rPr>
                        <a:t>3/7</a:t>
                      </a:r>
                      <a:endParaRPr lang="en-US" dirty="0">
                        <a:latin typeface="Arial" panose="020B0604020202020204" pitchFamily="34" charset="0"/>
                        <a:cs typeface="Arial" panose="020B0604020202020204" pitchFamily="34" charset="0"/>
                      </a:endParaRPr>
                    </a:p>
                  </a:txBody>
                  <a:tcP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rowSpan="2">
                  <a:txBody>
                    <a:bodyPr/>
                    <a:lstStyle/>
                    <a:p>
                      <a:pPr algn="ctr">
                        <a:lnSpc>
                          <a:spcPct val="90000"/>
                        </a:lnSpc>
                        <a:buFont typeface="Wingdings" panose="05000000000000000000" pitchFamily="2" charset="2"/>
                        <a:buNone/>
                      </a:pPr>
                      <a:r>
                        <a:rPr lang="tr-TR" altLang="en-US" sz="1800" dirty="0">
                          <a:latin typeface="Arial" panose="020B0604020202020204" pitchFamily="34" charset="0"/>
                          <a:cs typeface="Arial" panose="020B0604020202020204" pitchFamily="34" charset="0"/>
                          <a:sym typeface="Symbol" panose="05050102010706020507" pitchFamily="18" charset="2"/>
                        </a:rPr>
                        <a:t> </a:t>
                      </a:r>
                    </a:p>
                    <a:p>
                      <a:pPr algn="ctr">
                        <a:lnSpc>
                          <a:spcPct val="90000"/>
                        </a:lnSpc>
                        <a:buFont typeface="Wingdings" panose="05000000000000000000" pitchFamily="2" charset="2"/>
                        <a:buNone/>
                      </a:pPr>
                      <a:r>
                        <a:rPr lang="tr-TR" altLang="en-US" sz="1800" dirty="0">
                          <a:solidFill>
                            <a:srgbClr val="00B050"/>
                          </a:solidFill>
                          <a:latin typeface="Arial" panose="020B0604020202020204" pitchFamily="34" charset="0"/>
                          <a:cs typeface="Arial" panose="020B0604020202020204" pitchFamily="34" charset="0"/>
                          <a:sym typeface="Symbol" panose="05050102010706020507" pitchFamily="18" charset="2"/>
                        </a:rPr>
                        <a:t>4</a:t>
                      </a:r>
                      <a:r>
                        <a:rPr lang="en-US" altLang="en-US" sz="1800" dirty="0">
                          <a:solidFill>
                            <a:srgbClr val="00B050"/>
                          </a:solidFill>
                          <a:latin typeface="Arial" panose="020B0604020202020204" pitchFamily="34" charset="0"/>
                          <a:cs typeface="Arial" panose="020B0604020202020204" pitchFamily="34" charset="0"/>
                          <a:sym typeface="Symbol" panose="05050102010706020507" pitchFamily="18" charset="2"/>
                        </a:rPr>
                        <a:t>/14</a:t>
                      </a:r>
                    </a:p>
                  </a:txBody>
                  <a:tcP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8201441"/>
                  </a:ext>
                </a:extLst>
              </a:tr>
              <a:tr h="400888">
                <a:tc vMerge="1">
                  <a:txBody>
                    <a:bodyPr/>
                    <a:lstStyle/>
                    <a:p>
                      <a:endParaRPr lang="en-US" dirty="0"/>
                    </a:p>
                  </a:txBody>
                  <a:tcPr/>
                </a:tc>
                <a:tc vMerge="1">
                  <a:txBody>
                    <a:bodyPr/>
                    <a:lstStyle/>
                    <a:p>
                      <a:endParaRPr lang="en-US" dirty="0"/>
                    </a:p>
                  </a:txBody>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Female  Sick </a:t>
                      </a:r>
                      <a:endParaRPr lang="en-US"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tr-TR" altLang="en-US" sz="1800" dirty="0">
                          <a:latin typeface="Arial" panose="020B0604020202020204" pitchFamily="34" charset="0"/>
                          <a:cs typeface="Arial" panose="020B0604020202020204" pitchFamily="34" charset="0"/>
                          <a:sym typeface="Symbol" panose="05050102010706020507" pitchFamily="18" charset="2"/>
                        </a:rPr>
                        <a:t>1</a:t>
                      </a:r>
                      <a:r>
                        <a:rPr lang="en-US" altLang="en-US" sz="1800" dirty="0">
                          <a:latin typeface="Arial" panose="020B0604020202020204" pitchFamily="34" charset="0"/>
                          <a:cs typeface="Arial" panose="020B0604020202020204" pitchFamily="34" charset="0"/>
                          <a:sym typeface="Symbol" panose="05050102010706020507" pitchFamily="18" charset="2"/>
                        </a:rPr>
                        <a:t>/7</a:t>
                      </a:r>
                      <a:endParaRPr lang="en-US" dirty="0">
                        <a:latin typeface="Arial" panose="020B0604020202020204" pitchFamily="34" charset="0"/>
                        <a:cs typeface="Arial" panose="020B0604020202020204" pitchFamily="34" charset="0"/>
                      </a:endParaRPr>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dirty="0"/>
                    </a:p>
                  </a:txBody>
                  <a:tcP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5114128"/>
                  </a:ext>
                </a:extLst>
              </a:tr>
              <a:tr h="400888">
                <a:tc rowSpan="2">
                  <a:txBody>
                    <a:bodyPr/>
                    <a:lstStyle/>
                    <a:p>
                      <a:endParaRPr lang="tr-TR" dirty="0">
                        <a:latin typeface="Arial" panose="020B0604020202020204" pitchFamily="34" charset="0"/>
                        <a:cs typeface="Arial" panose="020B0604020202020204" pitchFamily="34" charset="0"/>
                      </a:endParaRPr>
                    </a:p>
                    <a:p>
                      <a:r>
                        <a:rPr lang="tr-TR" dirty="0">
                          <a:latin typeface="Arial" panose="020B0604020202020204" pitchFamily="34" charset="0"/>
                          <a:cs typeface="Arial" panose="020B0604020202020204" pitchFamily="34" charset="0"/>
                        </a:rPr>
                        <a:t>4</a:t>
                      </a: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endParaRPr lang="en-US" altLang="en-US" sz="1800" noProof="0" dirty="0">
                        <a:latin typeface="Arial" panose="020B0604020202020204" pitchFamily="34" charset="0"/>
                        <a:cs typeface="Arial" panose="020B0604020202020204" pitchFamily="34" charset="0"/>
                        <a:sym typeface="Symbol" panose="05050102010706020507" pitchFamily="18" charset="2"/>
                      </a:endParaRPr>
                    </a:p>
                    <a:p>
                      <a:pPr algn="l"/>
                      <a:r>
                        <a:rPr lang="en-US" altLang="en-US" sz="1800" noProof="0" dirty="0" err="1">
                          <a:latin typeface="Arial" panose="020B0604020202020204" pitchFamily="34" charset="0"/>
                          <a:cs typeface="Arial" panose="020B0604020202020204" pitchFamily="34" charset="0"/>
                          <a:sym typeface="Symbol" panose="05050102010706020507" pitchFamily="18" charset="2"/>
                        </a:rPr>
                        <a:t>IoS</a:t>
                      </a:r>
                      <a:r>
                        <a:rPr lang="en-US" altLang="en-US" sz="1800" noProof="0" dirty="0">
                          <a:latin typeface="Arial" panose="020B0604020202020204" pitchFamily="34" charset="0"/>
                          <a:cs typeface="Arial" panose="020B0604020202020204" pitchFamily="34" charset="0"/>
                          <a:sym typeface="Symbol" panose="05050102010706020507" pitchFamily="18" charset="2"/>
                        </a:rPr>
                        <a:t>	</a:t>
                      </a:r>
                      <a:endParaRPr lang="en-US" noProof="0"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High  Sick 	</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en-US" sz="1800" dirty="0">
                          <a:latin typeface="Arial" panose="020B0604020202020204" pitchFamily="34" charset="0"/>
                          <a:cs typeface="Arial" panose="020B0604020202020204" pitchFamily="34" charset="0"/>
                          <a:sym typeface="Symbol" panose="05050102010706020507" pitchFamily="18" charset="2"/>
                        </a:rPr>
                        <a:t>2/8</a:t>
                      </a:r>
                      <a:endParaRPr lang="en-US" dirty="0">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rowSpan="2">
                  <a:txBody>
                    <a:bodyPr/>
                    <a:lstStyle/>
                    <a:p>
                      <a:pPr algn="ctr">
                        <a:lnSpc>
                          <a:spcPct val="90000"/>
                        </a:lnSpc>
                        <a:buFont typeface="Wingdings" panose="05000000000000000000" pitchFamily="2" charset="2"/>
                        <a:buNone/>
                      </a:pPr>
                      <a:r>
                        <a:rPr lang="tr-TR" altLang="en-US" sz="1800" dirty="0">
                          <a:latin typeface="Arial" panose="020B0604020202020204" pitchFamily="34" charset="0"/>
                          <a:cs typeface="Arial" panose="020B0604020202020204" pitchFamily="34" charset="0"/>
                          <a:sym typeface="Symbol" panose="05050102010706020507" pitchFamily="18" charset="2"/>
                        </a:rPr>
                        <a:t> </a:t>
                      </a:r>
                    </a:p>
                    <a:p>
                      <a:pPr algn="ctr">
                        <a:lnSpc>
                          <a:spcPct val="90000"/>
                        </a:lnSpc>
                        <a:buFont typeface="Wingdings" panose="05000000000000000000" pitchFamily="2" charset="2"/>
                        <a:buNone/>
                      </a:pPr>
                      <a:r>
                        <a:rPr lang="en-US" altLang="en-US" sz="1800" dirty="0">
                          <a:latin typeface="Arial" panose="020B0604020202020204" pitchFamily="34" charset="0"/>
                          <a:cs typeface="Arial" panose="020B0604020202020204" pitchFamily="34" charset="0"/>
                          <a:sym typeface="Symbol" panose="05050102010706020507" pitchFamily="18" charset="2"/>
                        </a:rPr>
                        <a:t>5/14</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03551"/>
                  </a:ext>
                </a:extLst>
              </a:tr>
              <a:tr h="400888">
                <a:tc vMerge="1">
                  <a:txBody>
                    <a:bodyPr/>
                    <a:lstStyle/>
                    <a:p>
                      <a:endParaRPr lang="en-US" dirty="0"/>
                    </a:p>
                  </a:txBody>
                  <a:tcPr/>
                </a:tc>
                <a:tc vMerge="1">
                  <a:txBody>
                    <a:bodyPr/>
                    <a:lstStyle/>
                    <a:p>
                      <a:endParaRPr lang="en-US" dirty="0"/>
                    </a:p>
                  </a:txBody>
                  <a:tcPr/>
                </a:tc>
                <a:tc>
                  <a:txBody>
                    <a:bodyPr/>
                    <a:lstStyle/>
                    <a:p>
                      <a:r>
                        <a:rPr lang="en-US" altLang="en-US" sz="1800" dirty="0">
                          <a:latin typeface="Arial" panose="020B0604020202020204" pitchFamily="34" charset="0"/>
                          <a:cs typeface="Arial" panose="020B0604020202020204" pitchFamily="34" charset="0"/>
                          <a:sym typeface="Symbol" panose="05050102010706020507" pitchFamily="18" charset="2"/>
                        </a:rPr>
                        <a:t>Low  Healthy</a:t>
                      </a:r>
                      <a:endParaRPr lang="en-US" dirty="0">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tcPr>
                </a:tc>
                <a:tc>
                  <a:txBody>
                    <a:bodyPr/>
                    <a:lstStyle/>
                    <a:p>
                      <a:pPr algn="ctr"/>
                      <a:r>
                        <a:rPr lang="tr-TR" altLang="en-US" sz="1800" dirty="0">
                          <a:latin typeface="Arial" panose="020B0604020202020204" pitchFamily="34" charset="0"/>
                          <a:cs typeface="Arial" panose="020B0604020202020204" pitchFamily="34" charset="0"/>
                          <a:sym typeface="Symbol" panose="05050102010706020507" pitchFamily="18" charset="2"/>
                        </a:rPr>
                        <a:t>3</a:t>
                      </a:r>
                      <a:r>
                        <a:rPr lang="en-US" altLang="en-US" sz="1800" dirty="0">
                          <a:latin typeface="Arial" panose="020B0604020202020204" pitchFamily="34" charset="0"/>
                          <a:cs typeface="Arial" panose="020B0604020202020204" pitchFamily="34" charset="0"/>
                          <a:sym typeface="Symbol" panose="05050102010706020507" pitchFamily="18" charset="2"/>
                        </a:rPr>
                        <a:t>/</a:t>
                      </a:r>
                      <a:r>
                        <a:rPr lang="tr-TR" altLang="en-US" sz="1800" dirty="0">
                          <a:latin typeface="Arial" panose="020B0604020202020204" pitchFamily="34" charset="0"/>
                          <a:cs typeface="Arial" panose="020B0604020202020204" pitchFamily="34" charset="0"/>
                          <a:sym typeface="Symbol" panose="05050102010706020507" pitchFamily="18" charset="2"/>
                        </a:rPr>
                        <a:t>6</a:t>
                      </a:r>
                      <a:endParaRPr lang="en-US" dirty="0">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tcPr>
                </a:tc>
                <a:tc vMerge="1">
                  <a:txBody>
                    <a:bodyPr/>
                    <a:lstStyle/>
                    <a:p>
                      <a:endParaRPr lang="en-US"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7476616"/>
                  </a:ext>
                </a:extLst>
              </a:tr>
            </a:tbl>
          </a:graphicData>
        </a:graphic>
      </p:graphicFrame>
      <p:sp>
        <p:nvSpPr>
          <p:cNvPr id="44" name="TextBox 43"/>
          <p:cNvSpPr txBox="1"/>
          <p:nvPr/>
        </p:nvSpPr>
        <p:spPr>
          <a:xfrm>
            <a:off x="576848" y="6396335"/>
            <a:ext cx="11454418" cy="461665"/>
          </a:xfrm>
          <a:prstGeom prst="rect">
            <a:avLst/>
          </a:prstGeom>
          <a:noFill/>
        </p:spPr>
        <p:txBody>
          <a:bodyPr wrap="none" rtlCol="0">
            <a:spAutoFit/>
          </a:bodyPr>
          <a:lstStyle/>
          <a:p>
            <a:r>
              <a:rPr lang="en-US" sz="2400" b="1" dirty="0">
                <a:solidFill>
                  <a:srgbClr val="00B050"/>
                </a:solidFill>
                <a:latin typeface="Arial" panose="020B0604020202020204" pitchFamily="34" charset="0"/>
                <a:cs typeface="Arial" panose="020B0604020202020204" pitchFamily="34" charset="0"/>
              </a:rPr>
              <a:t>The Rule: </a:t>
            </a:r>
            <a:r>
              <a:rPr lang="en-US" sz="2400" dirty="0">
                <a:solidFill>
                  <a:srgbClr val="00B050"/>
                </a:solidFill>
                <a:latin typeface="Arial" panose="020B0604020202020204" pitchFamily="34" charset="0"/>
                <a:cs typeface="Arial" panose="020B0604020202020204" pitchFamily="34" charset="0"/>
              </a:rPr>
              <a:t>Check Age</a:t>
            </a:r>
            <a:r>
              <a:rPr lang="tr-TR" sz="2400" dirty="0">
                <a:solidFill>
                  <a:srgbClr val="00B050"/>
                </a:solidFill>
                <a:latin typeface="Arial" panose="020B0604020202020204" pitchFamily="34" charset="0"/>
                <a:cs typeface="Arial" panose="020B0604020202020204" pitchFamily="34" charset="0"/>
              </a:rPr>
              <a:t>.</a:t>
            </a:r>
            <a:r>
              <a:rPr lang="en-US" sz="2400" dirty="0">
                <a:solidFill>
                  <a:srgbClr val="00B050"/>
                </a:solidFill>
                <a:latin typeface="Arial" panose="020B0604020202020204" pitchFamily="34" charset="0"/>
                <a:cs typeface="Arial" panose="020B0604020202020204" pitchFamily="34" charset="0"/>
              </a:rPr>
              <a:t> If </a:t>
            </a:r>
            <a:r>
              <a:rPr lang="en-US" sz="2400" i="1" dirty="0">
                <a:solidFill>
                  <a:srgbClr val="00B050"/>
                </a:solidFill>
                <a:latin typeface="Arial" panose="020B0604020202020204" pitchFamily="34" charset="0"/>
                <a:cs typeface="Arial" panose="020B0604020202020204" pitchFamily="34" charset="0"/>
              </a:rPr>
              <a:t>young</a:t>
            </a:r>
            <a:r>
              <a:rPr lang="en-US" sz="2400" dirty="0">
                <a:solidFill>
                  <a:srgbClr val="00B050"/>
                </a:solidFill>
                <a:latin typeface="Arial" panose="020B0604020202020204" pitchFamily="34" charset="0"/>
                <a:cs typeface="Arial" panose="020B0604020202020204" pitchFamily="34" charset="0"/>
              </a:rPr>
              <a:t> then no need for lab test, otherwise ask for a test!</a:t>
            </a:r>
          </a:p>
        </p:txBody>
      </p:sp>
    </p:spTree>
    <p:extLst>
      <p:ext uri="{BB962C8B-B14F-4D97-AF65-F5344CB8AC3E}">
        <p14:creationId xmlns:p14="http://schemas.microsoft.com/office/powerpoint/2010/main" val="1719201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tr-TR" altLang="en-US" b="1" dirty="0">
                <a:solidFill>
                  <a:srgbClr val="00B050"/>
                </a:solidFill>
              </a:rPr>
              <a:t>0</a:t>
            </a:r>
            <a:r>
              <a:rPr lang="en-US" altLang="en-US" b="1" dirty="0"/>
              <a:t>R</a:t>
            </a:r>
            <a:r>
              <a:rPr lang="tr-TR" altLang="en-US" b="1" dirty="0"/>
              <a:t> vs. </a:t>
            </a:r>
            <a:r>
              <a:rPr lang="en-US" altLang="en-US" b="1" dirty="0">
                <a:solidFill>
                  <a:srgbClr val="00B050"/>
                </a:solidFill>
              </a:rPr>
              <a:t>1</a:t>
            </a:r>
            <a:r>
              <a:rPr lang="en-US" altLang="en-US" b="1" dirty="0"/>
              <a:t>R : </a:t>
            </a:r>
            <a:r>
              <a:rPr lang="tr-TR" altLang="en-US" b="1" dirty="0">
                <a:solidFill>
                  <a:srgbClr val="002060"/>
                </a:solidFill>
              </a:rPr>
              <a:t>Value of Information</a:t>
            </a:r>
            <a:endParaRPr lang="en-US" b="1" dirty="0">
              <a:solidFill>
                <a:srgbClr val="002060"/>
              </a:solidFill>
            </a:endParaRPr>
          </a:p>
        </p:txBody>
      </p:sp>
      <p:sp>
        <p:nvSpPr>
          <p:cNvPr id="197635" name="Rectangle 3"/>
          <p:cNvSpPr>
            <a:spLocks noGrp="1" noChangeArrowheads="1"/>
          </p:cNvSpPr>
          <p:nvPr>
            <p:ph idx="1"/>
          </p:nvPr>
        </p:nvSpPr>
        <p:spPr>
          <a:xfrm>
            <a:off x="838200" y="1690688"/>
            <a:ext cx="11215255" cy="4577531"/>
          </a:xfrm>
        </p:spPr>
        <p:txBody>
          <a:bodyPr>
            <a:noAutofit/>
          </a:bodyPr>
          <a:lstStyle/>
          <a:p>
            <a:pPr>
              <a:lnSpc>
                <a:spcPct val="110000"/>
              </a:lnSpc>
            </a:pPr>
            <a:r>
              <a:rPr lang="en-US" sz="2400" b="1" dirty="0">
                <a:latin typeface="Arial" panose="020B0604020202020204" pitchFamily="34" charset="0"/>
                <a:cs typeface="Arial" panose="020B0604020202020204" pitchFamily="34" charset="0"/>
              </a:rPr>
              <a:t>Recall that </a:t>
            </a:r>
            <a:r>
              <a:rPr lang="en-US" altLang="en-US" sz="2400" b="1" dirty="0">
                <a:solidFill>
                  <a:srgbClr val="00B050"/>
                </a:solidFill>
              </a:rPr>
              <a:t>0</a:t>
            </a:r>
            <a:r>
              <a:rPr lang="en-US" altLang="en-US" sz="2400" b="1" dirty="0"/>
              <a:t>R</a:t>
            </a:r>
            <a:r>
              <a:rPr lang="en-US" sz="2400" b="1"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training error was =</a:t>
            </a:r>
            <a:r>
              <a:rPr lang="en-US" sz="2400" b="1" dirty="0">
                <a:solidFill>
                  <a:srgbClr val="FF0000"/>
                </a:solidFill>
                <a:latin typeface="Arial" panose="020B0604020202020204" pitchFamily="34" charset="0"/>
                <a:cs typeface="Arial" panose="020B0604020202020204" pitchFamily="34" charset="0"/>
              </a:rPr>
              <a:t> 5/14</a:t>
            </a:r>
            <a:r>
              <a:rPr lang="en-US" sz="2400" dirty="0">
                <a:latin typeface="Arial" panose="020B0604020202020204" pitchFamily="34" charset="0"/>
                <a:cs typeface="Arial" panose="020B0604020202020204" pitchFamily="34" charset="0"/>
              </a:rPr>
              <a:t>.</a:t>
            </a:r>
            <a:endParaRPr lang="en-US" sz="2400" b="1" dirty="0">
              <a:solidFill>
                <a:srgbClr val="FF0000"/>
              </a:solidFill>
              <a:latin typeface="Arial" panose="020B0604020202020204" pitchFamily="34" charset="0"/>
              <a:cs typeface="Arial" panose="020B0604020202020204" pitchFamily="34" charset="0"/>
            </a:endParaRPr>
          </a:p>
          <a:p>
            <a:pPr>
              <a:lnSpc>
                <a:spcPct val="110000"/>
              </a:lnSpc>
            </a:pPr>
            <a:r>
              <a:rPr lang="en-US" altLang="en-US" sz="2400" dirty="0">
                <a:latin typeface="Arial" panose="020B0604020202020204" pitchFamily="34" charset="0"/>
                <a:cs typeface="Arial" panose="020B0604020202020204" pitchFamily="34" charset="0"/>
              </a:rPr>
              <a:t>If we use </a:t>
            </a:r>
            <a:r>
              <a:rPr lang="en-US" altLang="en-US" sz="2400" b="1" dirty="0">
                <a:solidFill>
                  <a:srgbClr val="0070C0"/>
                </a:solidFill>
                <a:latin typeface="Arial" panose="020B0604020202020204" pitchFamily="34" charset="0"/>
                <a:cs typeface="Arial" panose="020B0604020202020204" pitchFamily="34" charset="0"/>
              </a:rPr>
              <a:t>Age</a:t>
            </a:r>
            <a:r>
              <a:rPr lang="en-US" altLang="en-US" sz="2400" dirty="0">
                <a:solidFill>
                  <a:srgbClr val="0070C0"/>
                </a:solidFill>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training error is </a:t>
            </a:r>
            <a:r>
              <a:rPr lang="en-US" altLang="en-US" sz="2400" b="1" u="sng" dirty="0">
                <a:solidFill>
                  <a:srgbClr val="00B050"/>
                </a:solidFill>
                <a:latin typeface="Arial" panose="020B0604020202020204" pitchFamily="34" charset="0"/>
                <a:cs typeface="Arial" panose="020B0604020202020204" pitchFamily="34" charset="0"/>
              </a:rPr>
              <a:t>4/14</a:t>
            </a:r>
            <a:endParaRPr lang="en-US" altLang="en-US" sz="2400" dirty="0">
              <a:solidFill>
                <a:srgbClr val="00B050"/>
              </a:solidFill>
              <a:latin typeface="Arial" panose="020B0604020202020204" pitchFamily="34" charset="0"/>
              <a:cs typeface="Arial" panose="020B0604020202020204" pitchFamily="34" charset="0"/>
            </a:endParaRPr>
          </a:p>
          <a:p>
            <a:pPr>
              <a:lnSpc>
                <a:spcPct val="110000"/>
              </a:lnSpc>
            </a:pPr>
            <a:r>
              <a:rPr lang="en-US" altLang="en-US" sz="2400" dirty="0">
                <a:latin typeface="Arial" panose="020B0604020202020204" pitchFamily="34" charset="0"/>
                <a:cs typeface="Arial" panose="020B0604020202020204" pitchFamily="34" charset="0"/>
              </a:rPr>
              <a:t>If we use </a:t>
            </a:r>
            <a:r>
              <a:rPr lang="en-US" altLang="en-US" sz="2400" b="1" dirty="0">
                <a:solidFill>
                  <a:srgbClr val="0070C0"/>
                </a:solidFill>
                <a:latin typeface="Arial" panose="020B0604020202020204" pitchFamily="34" charset="0"/>
                <a:cs typeface="Arial" panose="020B0604020202020204" pitchFamily="34" charset="0"/>
              </a:rPr>
              <a:t>BMI</a:t>
            </a:r>
            <a:r>
              <a:rPr lang="en-US" altLang="en-US" sz="2400" dirty="0">
                <a:solidFill>
                  <a:srgbClr val="0070C0"/>
                </a:solidFill>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training error is </a:t>
            </a:r>
            <a:r>
              <a:rPr lang="en-US" altLang="en-US" sz="2400" b="1" u="sng" dirty="0">
                <a:solidFill>
                  <a:srgbClr val="FF0000"/>
                </a:solidFill>
                <a:latin typeface="Arial" panose="020B0604020202020204" pitchFamily="34" charset="0"/>
                <a:cs typeface="Arial" panose="020B0604020202020204" pitchFamily="34" charset="0"/>
              </a:rPr>
              <a:t>5/14</a:t>
            </a:r>
            <a:endParaRPr lang="en-US" altLang="en-US" sz="2400" dirty="0">
              <a:latin typeface="Arial" panose="020B0604020202020204" pitchFamily="34" charset="0"/>
              <a:cs typeface="Arial" panose="020B0604020202020204" pitchFamily="34" charset="0"/>
            </a:endParaRPr>
          </a:p>
          <a:p>
            <a:pPr>
              <a:lnSpc>
                <a:spcPct val="110000"/>
              </a:lnSpc>
            </a:pPr>
            <a:r>
              <a:rPr lang="en-US" altLang="en-US" sz="2400" dirty="0">
                <a:latin typeface="Arial" panose="020B0604020202020204" pitchFamily="34" charset="0"/>
                <a:cs typeface="Arial" panose="020B0604020202020204" pitchFamily="34" charset="0"/>
              </a:rPr>
              <a:t>If we use </a:t>
            </a:r>
            <a:r>
              <a:rPr lang="en-US" altLang="en-US" sz="2400" b="1" dirty="0">
                <a:solidFill>
                  <a:srgbClr val="0070C0"/>
                </a:solidFill>
                <a:latin typeface="Arial" panose="020B0604020202020204" pitchFamily="34" charset="0"/>
                <a:cs typeface="Arial" panose="020B0604020202020204" pitchFamily="34" charset="0"/>
              </a:rPr>
              <a:t>Gender</a:t>
            </a:r>
            <a:r>
              <a:rPr lang="en-US" altLang="en-US" sz="2400" dirty="0">
                <a:solidFill>
                  <a:srgbClr val="0070C0"/>
                </a:solidFill>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training error is </a:t>
            </a:r>
            <a:r>
              <a:rPr lang="en-US" altLang="en-US" sz="2400" b="1" u="sng" dirty="0">
                <a:solidFill>
                  <a:srgbClr val="00B050"/>
                </a:solidFill>
                <a:latin typeface="Arial" panose="020B0604020202020204" pitchFamily="34" charset="0"/>
                <a:cs typeface="Arial" panose="020B0604020202020204" pitchFamily="34" charset="0"/>
              </a:rPr>
              <a:t>4/14</a:t>
            </a:r>
            <a:endParaRPr lang="en-US" altLang="en-US" sz="2400" dirty="0">
              <a:solidFill>
                <a:srgbClr val="00B050"/>
              </a:solidFill>
              <a:latin typeface="Arial" panose="020B0604020202020204" pitchFamily="34" charset="0"/>
              <a:cs typeface="Arial" panose="020B0604020202020204" pitchFamily="34" charset="0"/>
            </a:endParaRPr>
          </a:p>
          <a:p>
            <a:pPr>
              <a:lnSpc>
                <a:spcPct val="110000"/>
              </a:lnSpc>
            </a:pPr>
            <a:r>
              <a:rPr lang="en-US" altLang="en-US" sz="2400" dirty="0">
                <a:latin typeface="Arial" panose="020B0604020202020204" pitchFamily="34" charset="0"/>
                <a:cs typeface="Arial" panose="020B0604020202020204" pitchFamily="34" charset="0"/>
              </a:rPr>
              <a:t>If we use </a:t>
            </a:r>
            <a:r>
              <a:rPr lang="en-US" altLang="en-US" sz="2400" b="1" dirty="0" err="1">
                <a:solidFill>
                  <a:srgbClr val="0070C0"/>
                </a:solidFill>
                <a:latin typeface="Arial" panose="020B0604020202020204" pitchFamily="34" charset="0"/>
                <a:cs typeface="Arial" panose="020B0604020202020204" pitchFamily="34" charset="0"/>
              </a:rPr>
              <a:t>IoS</a:t>
            </a:r>
            <a:r>
              <a:rPr lang="en-US" altLang="en-US" sz="2400" dirty="0">
                <a:solidFill>
                  <a:srgbClr val="0070C0"/>
                </a:solidFill>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training error is </a:t>
            </a:r>
            <a:r>
              <a:rPr lang="en-US" altLang="en-US" sz="2400" b="1" u="sng" dirty="0">
                <a:solidFill>
                  <a:srgbClr val="FF0000"/>
                </a:solidFill>
                <a:latin typeface="Arial" panose="020B0604020202020204" pitchFamily="34" charset="0"/>
                <a:cs typeface="Arial" panose="020B0604020202020204" pitchFamily="34" charset="0"/>
              </a:rPr>
              <a:t>5/14</a:t>
            </a:r>
          </a:p>
          <a:p>
            <a:pPr>
              <a:lnSpc>
                <a:spcPct val="110000"/>
              </a:lnSpc>
            </a:pPr>
            <a:r>
              <a:rPr lang="en-US" altLang="en-US" sz="2400" b="1" dirty="0">
                <a:solidFill>
                  <a:srgbClr val="00B050"/>
                </a:solidFill>
              </a:rPr>
              <a:t>1</a:t>
            </a:r>
            <a:r>
              <a:rPr lang="en-US" altLang="en-US" sz="2400" b="1" dirty="0"/>
              <a:t>R</a:t>
            </a:r>
            <a:r>
              <a:rPr lang="en-US" altLang="en-US" sz="2400" dirty="0">
                <a:latin typeface="Arial" panose="020B0604020202020204" pitchFamily="34" charset="0"/>
                <a:cs typeface="Arial" panose="020B0604020202020204" pitchFamily="34" charset="0"/>
              </a:rPr>
              <a:t> Rule: "</a:t>
            </a:r>
            <a:r>
              <a:rPr lang="en-US" sz="2400" dirty="0">
                <a:solidFill>
                  <a:srgbClr val="00B050"/>
                </a:solidFill>
                <a:latin typeface="Arial" panose="020B0604020202020204" pitchFamily="34" charset="0"/>
                <a:cs typeface="Arial" panose="020B0604020202020204" pitchFamily="34" charset="0"/>
              </a:rPr>
              <a:t>Check Age If Young Then Healthy, otherwise Sick</a:t>
            </a:r>
            <a:r>
              <a:rPr lang="en-US" altLang="en-US" sz="2400" dirty="0">
                <a:latin typeface="Arial" panose="020B0604020202020204" pitchFamily="34" charset="0"/>
                <a:cs typeface="Arial" panose="020B0604020202020204" pitchFamily="34" charset="0"/>
              </a:rPr>
              <a:t>" → </a:t>
            </a:r>
            <a:r>
              <a:rPr lang="en-US" altLang="en-US" sz="2400" u="sng" dirty="0">
                <a:solidFill>
                  <a:srgbClr val="00B050"/>
                </a:solidFill>
                <a:latin typeface="Arial" panose="020B0604020202020204" pitchFamily="34" charset="0"/>
                <a:cs typeface="Arial" panose="020B0604020202020204" pitchFamily="34" charset="0"/>
              </a:rPr>
              <a:t>4/14</a:t>
            </a:r>
            <a:r>
              <a:rPr lang="en-US" altLang="en-US" sz="2400" dirty="0">
                <a:solidFill>
                  <a:srgbClr val="00B050"/>
                </a:solidFill>
                <a:latin typeface="Arial" panose="020B0604020202020204" pitchFamily="34" charset="0"/>
                <a:cs typeface="Arial" panose="020B0604020202020204" pitchFamily="34" charset="0"/>
              </a:rPr>
              <a:t> OR</a:t>
            </a:r>
            <a:br>
              <a:rPr lang="en-US" altLang="en-US" sz="2400" dirty="0">
                <a:solidFill>
                  <a:srgbClr val="00B050"/>
                </a:solidFill>
                <a:latin typeface="Arial" panose="020B0604020202020204" pitchFamily="34" charset="0"/>
                <a:cs typeface="Arial" panose="020B0604020202020204" pitchFamily="34" charset="0"/>
              </a:rPr>
            </a:br>
            <a:r>
              <a:rPr lang="en-US" altLang="en-US" sz="2400" dirty="0">
                <a:solidFill>
                  <a:srgbClr val="00B050"/>
                </a:solidFill>
                <a:latin typeface="Arial" panose="020B0604020202020204" pitchFamily="34" charset="0"/>
                <a:cs typeface="Arial" panose="020B0604020202020204" pitchFamily="34" charset="0"/>
              </a:rPr>
              <a:t>"Check Gender If Male Then Healthy, otherwise Sick" → 4/14</a:t>
            </a:r>
          </a:p>
          <a:p>
            <a:pPr>
              <a:lnSpc>
                <a:spcPct val="110000"/>
              </a:lnSpc>
            </a:pPr>
            <a:endParaRPr lang="en-US" altLang="en-US" sz="2400" dirty="0">
              <a:solidFill>
                <a:srgbClr val="00B050"/>
              </a:solidFill>
              <a:latin typeface="Arial" panose="020B0604020202020204" pitchFamily="34" charset="0"/>
              <a:cs typeface="Arial" panose="020B0604020202020204" pitchFamily="34" charset="0"/>
            </a:endParaRPr>
          </a:p>
          <a:p>
            <a:pPr>
              <a:lnSpc>
                <a:spcPct val="110000"/>
              </a:lnSpc>
            </a:pPr>
            <a:r>
              <a:rPr lang="en-US" altLang="en-US" sz="2400" dirty="0">
                <a:latin typeface="Arial" panose="020B0604020202020204" pitchFamily="34" charset="0"/>
                <a:cs typeface="Arial" panose="020B0604020202020204" pitchFamily="34" charset="0"/>
              </a:rPr>
              <a:t>Thus, </a:t>
            </a:r>
            <a:r>
              <a:rPr lang="en-US" altLang="en-US" sz="2400" b="1" dirty="0">
                <a:solidFill>
                  <a:srgbClr val="0070C0"/>
                </a:solidFill>
                <a:latin typeface="Arial" panose="020B0604020202020204" pitchFamily="34" charset="0"/>
                <a:cs typeface="Arial" panose="020B0604020202020204" pitchFamily="34" charset="0"/>
              </a:rPr>
              <a:t>Age </a:t>
            </a:r>
            <a:r>
              <a:rPr lang="en-US" altLang="en-US" sz="2400" dirty="0">
                <a:latin typeface="Arial" panose="020B0604020202020204" pitchFamily="34" charset="0"/>
                <a:cs typeface="Arial" panose="020B0604020202020204" pitchFamily="34" charset="0"/>
              </a:rPr>
              <a:t>or </a:t>
            </a:r>
            <a:r>
              <a:rPr lang="en-US" altLang="en-US" sz="2400" b="1" dirty="0">
                <a:solidFill>
                  <a:srgbClr val="0070C0"/>
                </a:solidFill>
                <a:latin typeface="Arial" panose="020B0604020202020204" pitchFamily="34" charset="0"/>
                <a:cs typeface="Arial" panose="020B0604020202020204" pitchFamily="34" charset="0"/>
              </a:rPr>
              <a:t>Gender </a:t>
            </a:r>
            <a:r>
              <a:rPr lang="en-US" altLang="en-US" sz="2400" u="sng" dirty="0">
                <a:solidFill>
                  <a:srgbClr val="002060"/>
                </a:solidFill>
                <a:latin typeface="Arial" panose="020B0604020202020204" pitchFamily="34" charset="0"/>
                <a:cs typeface="Arial" panose="020B0604020202020204" pitchFamily="34" charset="0"/>
              </a:rPr>
              <a:t>information</a:t>
            </a:r>
            <a:r>
              <a:rPr lang="en-US" altLang="en-US" sz="2400" dirty="0">
                <a:solidFill>
                  <a:srgbClr val="FF0000"/>
                </a:solidFill>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yield </a:t>
            </a:r>
            <a:r>
              <a:rPr lang="en-US" altLang="en-US" sz="2400" u="sng" dirty="0">
                <a:solidFill>
                  <a:srgbClr val="002060"/>
                </a:solidFill>
                <a:latin typeface="Arial" panose="020B0604020202020204" pitchFamily="34" charset="0"/>
                <a:cs typeface="Arial" panose="020B0604020202020204" pitchFamily="34" charset="0"/>
              </a:rPr>
              <a:t>the value of making 1 less error</a:t>
            </a:r>
            <a:r>
              <a:rPr lang="en-US" altLang="en-US" sz="2400" dirty="0">
                <a:latin typeface="Arial" panose="020B0604020202020204" pitchFamily="34" charset="0"/>
                <a:cs typeface="Arial" panose="020B0604020202020204" pitchFamily="34" charset="0"/>
              </a:rPr>
              <a:t>!</a:t>
            </a:r>
          </a:p>
          <a:p>
            <a:pPr>
              <a:lnSpc>
                <a:spcPct val="110000"/>
              </a:lnSpc>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9077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An Alternative Metric - Entropy</a:t>
            </a:r>
            <a:endParaRPr lang="en-US" altLang="en-US" b="1" dirty="0"/>
          </a:p>
        </p:txBody>
      </p:sp>
      <p:sp>
        <p:nvSpPr>
          <p:cNvPr id="77827" name="Rectangle 1027"/>
          <p:cNvSpPr>
            <a:spLocks noGrp="1" noChangeArrowheads="1"/>
          </p:cNvSpPr>
          <p:nvPr>
            <p:ph type="body" idx="1"/>
          </p:nvPr>
        </p:nvSpPr>
        <p:spPr>
          <a:xfrm>
            <a:off x="2940148" y="1936786"/>
            <a:ext cx="8723142" cy="4773729"/>
          </a:xfrm>
        </p:spPr>
        <p:txBody>
          <a:bodyPr>
            <a:noAutofit/>
          </a:bodyPr>
          <a:lstStyle/>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endParaRPr lang="tr-TR" altLang="en-US" sz="2200" dirty="0">
              <a:latin typeface="Arial" panose="020B0604020202020204" pitchFamily="34" charset="0"/>
              <a:cs typeface="Arial" panose="020B0604020202020204" pitchFamily="34" charset="0"/>
            </a:endParaRPr>
          </a:p>
          <a:p>
            <a:r>
              <a:rPr lang="en-US" altLang="en-US" sz="2200" dirty="0">
                <a:latin typeface="Arial" panose="020B0604020202020204" pitchFamily="34" charset="0"/>
                <a:cs typeface="Arial" panose="020B0604020202020204" pitchFamily="34" charset="0"/>
              </a:rPr>
              <a:t>Entropy is a measure of</a:t>
            </a:r>
            <a:r>
              <a:rPr lang="en-US" altLang="en-US" sz="2200" b="1" i="1" dirty="0">
                <a:latin typeface="Arial" panose="020B0604020202020204" pitchFamily="34" charset="0"/>
                <a:cs typeface="Arial" panose="020B0604020202020204" pitchFamily="34" charset="0"/>
              </a:rPr>
              <a:t> impurity </a:t>
            </a:r>
            <a:r>
              <a:rPr lang="en-US" altLang="en-US" sz="2200" dirty="0">
                <a:latin typeface="Arial" panose="020B0604020202020204" pitchFamily="34" charset="0"/>
                <a:cs typeface="Arial" panose="020B0604020202020204" pitchFamily="34" charset="0"/>
              </a:rPr>
              <a:t>in the training data </a:t>
            </a:r>
            <a:r>
              <a:rPr lang="en-US" altLang="en-US" sz="2200" i="1" dirty="0">
                <a:latin typeface="Arial" panose="020B0604020202020204" pitchFamily="34" charset="0"/>
                <a:cs typeface="Arial" panose="020B0604020202020204" pitchFamily="34" charset="0"/>
              </a:rPr>
              <a:t>S</a:t>
            </a:r>
            <a:endParaRPr lang="en-US" altLang="en-US" sz="2200" dirty="0">
              <a:latin typeface="Arial" panose="020B0604020202020204" pitchFamily="34" charset="0"/>
              <a:cs typeface="Arial" panose="020B0604020202020204" pitchFamily="34" charset="0"/>
            </a:endParaRPr>
          </a:p>
          <a:p>
            <a:r>
              <a:rPr lang="en-US" altLang="en-US" sz="2200" dirty="0">
                <a:latin typeface="Arial" panose="020B0604020202020204" pitchFamily="34" charset="0"/>
                <a:cs typeface="Arial" panose="020B0604020202020204" pitchFamily="34" charset="0"/>
              </a:rPr>
              <a:t>Measured in bits of information needed to encode a member of </a:t>
            </a:r>
            <a:r>
              <a:rPr lang="en-US" altLang="en-US" sz="2200" i="1" dirty="0">
                <a:latin typeface="Arial" panose="020B0604020202020204" pitchFamily="34" charset="0"/>
                <a:cs typeface="Arial" panose="020B0604020202020204" pitchFamily="34" charset="0"/>
              </a:rPr>
              <a:t>S</a:t>
            </a:r>
            <a:endParaRPr lang="en-US" altLang="en-US" sz="2200" dirty="0">
              <a:latin typeface="Arial" panose="020B0604020202020204" pitchFamily="34" charset="0"/>
              <a:cs typeface="Arial" panose="020B0604020202020204" pitchFamily="34" charset="0"/>
            </a:endParaRPr>
          </a:p>
        </p:txBody>
      </p:sp>
      <p:grpSp>
        <p:nvGrpSpPr>
          <p:cNvPr id="2" name="Group 1"/>
          <p:cNvGrpSpPr/>
          <p:nvPr/>
        </p:nvGrpSpPr>
        <p:grpSpPr>
          <a:xfrm>
            <a:off x="838200" y="1936787"/>
            <a:ext cx="1949247" cy="3955352"/>
            <a:chOff x="838198" y="1787147"/>
            <a:chExt cx="1949247" cy="3855240"/>
          </a:xfrm>
        </p:grpSpPr>
        <p:pic>
          <p:nvPicPr>
            <p:cNvPr id="4" name="Picture 6" descr="Shann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p:grpSp>
        <p:nvGrpSpPr>
          <p:cNvPr id="19" name="Group 18"/>
          <p:cNvGrpSpPr/>
          <p:nvPr/>
        </p:nvGrpSpPr>
        <p:grpSpPr>
          <a:xfrm>
            <a:off x="3474704" y="1936787"/>
            <a:ext cx="7654029" cy="1862279"/>
            <a:chOff x="4194184" y="1941065"/>
            <a:chExt cx="7654029" cy="1862279"/>
          </a:xfrm>
        </p:grpSpPr>
        <p:grpSp>
          <p:nvGrpSpPr>
            <p:cNvPr id="16" name="Group 15"/>
            <p:cNvGrpSpPr/>
            <p:nvPr/>
          </p:nvGrpSpPr>
          <p:grpSpPr>
            <a:xfrm>
              <a:off x="8238247" y="3128008"/>
              <a:ext cx="2953972" cy="675336"/>
              <a:chOff x="7398199" y="3338310"/>
              <a:chExt cx="2953972" cy="675336"/>
            </a:xfrm>
          </p:grpSpPr>
          <p:sp>
            <p:nvSpPr>
              <p:cNvPr id="6" name="Text Box 3"/>
              <p:cNvSpPr txBox="1">
                <a:spLocks noChangeArrowheads="1"/>
              </p:cNvSpPr>
              <p:nvPr/>
            </p:nvSpPr>
            <p:spPr bwMode="auto">
              <a:xfrm>
                <a:off x="7398199" y="3376789"/>
                <a:ext cx="2953972" cy="63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800" dirty="0">
                    <a:latin typeface="Times New Roman" panose="02020603050405020304" pitchFamily="18" charset="0"/>
                  </a:rPr>
                  <a:t>Proportion of the samples from class </a:t>
                </a:r>
                <a:r>
                  <a:rPr lang="en-US" altLang="en-US" sz="1800" dirty="0" err="1">
                    <a:latin typeface="Times New Roman" panose="02020603050405020304" pitchFamily="18" charset="0"/>
                  </a:rPr>
                  <a:t>i</a:t>
                </a:r>
                <a:r>
                  <a:rPr lang="en-US" altLang="en-US" sz="1800" dirty="0">
                    <a:latin typeface="Times New Roman" panose="02020603050405020304" pitchFamily="18" charset="0"/>
                  </a:rPr>
                  <a:t> in data set </a:t>
                </a:r>
                <a:r>
                  <a:rPr lang="en-US" altLang="en-US" sz="1800" i="1" dirty="0">
                    <a:latin typeface="Times New Roman" panose="02020603050405020304" pitchFamily="18" charset="0"/>
                  </a:rPr>
                  <a:t>S</a:t>
                </a:r>
                <a:endParaRPr lang="en-US" altLang="en-US" sz="1800" dirty="0">
                  <a:latin typeface="Times New Roman" panose="02020603050405020304" pitchFamily="18" charset="0"/>
                </a:endParaRPr>
              </a:p>
            </p:txBody>
          </p:sp>
          <p:sp>
            <p:nvSpPr>
              <p:cNvPr id="7" name="Rectangle 4"/>
              <p:cNvSpPr>
                <a:spLocks noChangeArrowheads="1"/>
              </p:cNvSpPr>
              <p:nvPr/>
            </p:nvSpPr>
            <p:spPr bwMode="auto">
              <a:xfrm>
                <a:off x="7400916" y="3338310"/>
                <a:ext cx="2951255" cy="6049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1800"/>
              </a:p>
            </p:txBody>
          </p:sp>
        </p:grpSp>
        <p:sp>
          <p:nvSpPr>
            <p:cNvPr id="8" name="Line 5"/>
            <p:cNvSpPr>
              <a:spLocks noChangeShapeType="1"/>
            </p:cNvSpPr>
            <p:nvPr/>
          </p:nvSpPr>
          <p:spPr bwMode="auto">
            <a:xfrm flipH="1" flipV="1">
              <a:off x="8539089" y="2881908"/>
              <a:ext cx="239151" cy="2290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graphicFrame>
          <p:nvGraphicFramePr>
            <p:cNvPr id="9" name="Object 2"/>
            <p:cNvGraphicFramePr>
              <a:graphicFrameLocks noChangeAspect="1"/>
            </p:cNvGraphicFramePr>
            <p:nvPr/>
          </p:nvGraphicFramePr>
          <p:xfrm>
            <a:off x="4457064" y="2218289"/>
            <a:ext cx="4208634" cy="933678"/>
          </p:xfrm>
          <a:graphic>
            <a:graphicData uri="http://schemas.openxmlformats.org/presentationml/2006/ole">
              <mc:AlternateContent xmlns:mc="http://schemas.openxmlformats.org/markup-compatibility/2006">
                <mc:Choice xmlns:v="urn:schemas-microsoft-com:vml" Requires="v">
                  <p:oleObj name="Equation" r:id="rId3" imgW="1777680" imgH="431640" progId="Equation.3">
                    <p:embed/>
                  </p:oleObj>
                </mc:Choice>
                <mc:Fallback>
                  <p:oleObj name="Equation" r:id="rId3" imgW="1777680" imgH="431640" progId="Equation.3">
                    <p:embed/>
                    <p:pic>
                      <p:nvPicPr>
                        <p:cNvPr id="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7064" y="2218289"/>
                          <a:ext cx="4208634" cy="933678"/>
                        </a:xfrm>
                        <a:prstGeom prst="rect">
                          <a:avLst/>
                        </a:prstGeom>
                      </p:spPr>
                    </p:pic>
                  </p:oleObj>
                </mc:Fallback>
              </mc:AlternateContent>
            </a:graphicData>
          </a:graphic>
        </p:graphicFrame>
        <p:grpSp>
          <p:nvGrpSpPr>
            <p:cNvPr id="3" name="Group 2"/>
            <p:cNvGrpSpPr/>
            <p:nvPr/>
          </p:nvGrpSpPr>
          <p:grpSpPr>
            <a:xfrm>
              <a:off x="7634925" y="1941065"/>
              <a:ext cx="4213288" cy="366545"/>
              <a:chOff x="7400917" y="1687965"/>
              <a:chExt cx="4213288" cy="366545"/>
            </a:xfrm>
          </p:grpSpPr>
          <p:sp>
            <p:nvSpPr>
              <p:cNvPr id="10" name="Text Box 8"/>
              <p:cNvSpPr txBox="1">
                <a:spLocks noChangeArrowheads="1"/>
              </p:cNvSpPr>
              <p:nvPr/>
            </p:nvSpPr>
            <p:spPr bwMode="auto">
              <a:xfrm>
                <a:off x="7658697" y="1687965"/>
                <a:ext cx="3668922" cy="35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800" dirty="0">
                    <a:latin typeface="Times New Roman" panose="02020603050405020304" pitchFamily="18" charset="0"/>
                  </a:rPr>
                  <a:t>Number of Categories (i.e., Classes)</a:t>
                </a:r>
              </a:p>
            </p:txBody>
          </p:sp>
          <p:sp>
            <p:nvSpPr>
              <p:cNvPr id="11" name="Rectangle 9"/>
              <p:cNvSpPr>
                <a:spLocks noChangeArrowheads="1"/>
              </p:cNvSpPr>
              <p:nvPr/>
            </p:nvSpPr>
            <p:spPr bwMode="auto">
              <a:xfrm>
                <a:off x="7400917" y="1690688"/>
                <a:ext cx="4213288" cy="3638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1800"/>
              </a:p>
            </p:txBody>
          </p:sp>
        </p:grpSp>
        <p:sp>
          <p:nvSpPr>
            <p:cNvPr id="12" name="Line 10"/>
            <p:cNvSpPr>
              <a:spLocks noChangeShapeType="1"/>
            </p:cNvSpPr>
            <p:nvPr/>
          </p:nvSpPr>
          <p:spPr bwMode="auto">
            <a:xfrm flipH="1">
              <a:off x="6794693" y="2212383"/>
              <a:ext cx="754490" cy="1389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sp>
          <p:nvSpPr>
            <p:cNvPr id="13" name="Text Box 11"/>
            <p:cNvSpPr txBox="1">
              <a:spLocks noChangeArrowheads="1"/>
            </p:cNvSpPr>
            <p:nvPr/>
          </p:nvSpPr>
          <p:spPr bwMode="auto">
            <a:xfrm>
              <a:off x="4250780" y="3332796"/>
              <a:ext cx="1552830" cy="35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sz="1800" dirty="0">
                  <a:latin typeface="Times New Roman" panose="02020603050405020304" pitchFamily="18" charset="0"/>
                </a:rPr>
                <a:t>Training Data</a:t>
              </a:r>
              <a:endParaRPr lang="en-US" altLang="en-US" sz="1800" dirty="0">
                <a:latin typeface="Times New Roman" panose="02020603050405020304" pitchFamily="18" charset="0"/>
              </a:endParaRPr>
            </a:p>
          </p:txBody>
        </p:sp>
        <p:sp>
          <p:nvSpPr>
            <p:cNvPr id="14" name="Rectangle 12"/>
            <p:cNvSpPr>
              <a:spLocks noChangeArrowheads="1"/>
            </p:cNvSpPr>
            <p:nvPr/>
          </p:nvSpPr>
          <p:spPr bwMode="auto">
            <a:xfrm>
              <a:off x="4194184" y="3368952"/>
              <a:ext cx="1708482" cy="32370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1800"/>
            </a:p>
          </p:txBody>
        </p:sp>
        <p:sp>
          <p:nvSpPr>
            <p:cNvPr id="15" name="Line 13"/>
            <p:cNvSpPr>
              <a:spLocks noChangeShapeType="1"/>
            </p:cNvSpPr>
            <p:nvPr/>
          </p:nvSpPr>
          <p:spPr bwMode="auto">
            <a:xfrm flipV="1">
              <a:off x="5506599" y="2889562"/>
              <a:ext cx="396067" cy="4836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grpSp>
      <p:sp>
        <p:nvSpPr>
          <p:cNvPr id="17" name="TextBox 16"/>
          <p:cNvSpPr txBox="1"/>
          <p:nvPr/>
        </p:nvSpPr>
        <p:spPr>
          <a:xfrm>
            <a:off x="2940148" y="1652026"/>
            <a:ext cx="3228294" cy="430887"/>
          </a:xfrm>
          <a:prstGeom prst="rect">
            <a:avLst/>
          </a:prstGeom>
          <a:noFill/>
        </p:spPr>
        <p:txBody>
          <a:bodyPr wrap="square" rtlCol="0">
            <a:spAutoFit/>
          </a:bodyPr>
          <a:lstStyle/>
          <a:p>
            <a:r>
              <a:rPr lang="en-US" sz="2200" b="1" dirty="0">
                <a:solidFill>
                  <a:srgbClr val="00B050"/>
                </a:solidFill>
                <a:latin typeface="Arial" panose="020B0604020202020204" pitchFamily="34" charset="0"/>
                <a:cs typeface="Arial" panose="020B0604020202020204" pitchFamily="34" charset="0"/>
              </a:rPr>
              <a:t>Measure of Impurity</a:t>
            </a:r>
            <a:r>
              <a:rPr lang="tr-TR" sz="2200" b="1" dirty="0">
                <a:solidFill>
                  <a:srgbClr val="00B050"/>
                </a:solidFill>
                <a:latin typeface="Arial" panose="020B0604020202020204" pitchFamily="34" charset="0"/>
                <a:cs typeface="Arial" panose="020B0604020202020204" pitchFamily="34" charset="0"/>
              </a:rPr>
              <a:t>:</a:t>
            </a:r>
            <a:endParaRPr lang="en-US" sz="2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9538218"/>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A0297-BDC8-B85E-E2CC-F380A08DF71D}"/>
            </a:ext>
          </a:extLst>
        </p:cNvPr>
        <p:cNvGrpSpPr/>
        <p:nvPr/>
      </p:nvGrpSpPr>
      <p:grpSpPr>
        <a:xfrm>
          <a:off x="0" y="0"/>
          <a:ext cx="0" cy="0"/>
          <a:chOff x="0" y="0"/>
          <a:chExt cx="0" cy="0"/>
        </a:xfrm>
      </p:grpSpPr>
      <p:sp>
        <p:nvSpPr>
          <p:cNvPr id="77826" name="Rectangle 1026">
            <a:extLst>
              <a:ext uri="{FF2B5EF4-FFF2-40B4-BE49-F238E27FC236}">
                <a16:creationId xmlns:a16="http://schemas.microsoft.com/office/drawing/2014/main" id="{05CB0E60-886D-30BD-2B60-DA04C08298B6}"/>
              </a:ext>
            </a:extLst>
          </p:cNvPr>
          <p:cNvSpPr>
            <a:spLocks noGrp="1" noChangeArrowheads="1"/>
          </p:cNvSpPr>
          <p:nvPr>
            <p:ph type="title"/>
          </p:nvPr>
        </p:nvSpPr>
        <p:spPr/>
        <p:txBody>
          <a:bodyPr>
            <a:normAutofit/>
          </a:bodyPr>
          <a:lstStyle/>
          <a:p>
            <a:r>
              <a:rPr lang="en-US" b="1" dirty="0"/>
              <a:t>An Alternative Metric - Entropy</a:t>
            </a:r>
            <a:endParaRPr lang="en-US" altLang="en-US" b="1" dirty="0"/>
          </a:p>
        </p:txBody>
      </p:sp>
      <p:sp>
        <p:nvSpPr>
          <p:cNvPr id="77827" name="Rectangle 1027">
            <a:extLst>
              <a:ext uri="{FF2B5EF4-FFF2-40B4-BE49-F238E27FC236}">
                <a16:creationId xmlns:a16="http://schemas.microsoft.com/office/drawing/2014/main" id="{158A6A34-D52F-B57E-D946-B82F6A27AAC7}"/>
              </a:ext>
            </a:extLst>
          </p:cNvPr>
          <p:cNvSpPr>
            <a:spLocks noGrp="1" noChangeArrowheads="1"/>
          </p:cNvSpPr>
          <p:nvPr>
            <p:ph type="body" idx="1"/>
          </p:nvPr>
        </p:nvSpPr>
        <p:spPr>
          <a:xfrm>
            <a:off x="2940148" y="2423886"/>
            <a:ext cx="8723142" cy="4286629"/>
          </a:xfrm>
        </p:spPr>
        <p:txBody>
          <a:bodyPr>
            <a:noAutofit/>
          </a:bodyPr>
          <a:lstStyle/>
          <a:p>
            <a:pPr marL="0" indent="0">
              <a:buNone/>
            </a:pPr>
            <a:r>
              <a:rPr lang="en-US" altLang="en-US" sz="2200" dirty="0">
                <a:latin typeface="Arial" panose="020B0604020202020204" pitchFamily="34" charset="0"/>
                <a:cs typeface="Arial" panose="020B0604020202020204" pitchFamily="34" charset="0"/>
              </a:rPr>
              <a:t>Extreme cases</a:t>
            </a:r>
          </a:p>
          <a:p>
            <a:r>
              <a:rPr lang="en-US" altLang="en-US" sz="2600" dirty="0">
                <a:latin typeface="Arial" panose="020B0604020202020204" pitchFamily="34" charset="0"/>
                <a:cs typeface="Arial" panose="020B0604020202020204" pitchFamily="34" charset="0"/>
              </a:rPr>
              <a:t>All members have same classification </a:t>
            </a:r>
          </a:p>
          <a:p>
            <a:pPr marL="0" indent="0">
              <a:buNone/>
            </a:pPr>
            <a:r>
              <a:rPr lang="en-US" altLang="en-US" sz="2600" dirty="0">
                <a:latin typeface="Arial" panose="020B0604020202020204" pitchFamily="34" charset="0"/>
                <a:cs typeface="Arial" panose="020B0604020202020204" pitchFamily="34" charset="0"/>
              </a:rPr>
              <a:t>(1·log1 = 0)</a:t>
            </a:r>
          </a:p>
          <a:p>
            <a:pPr lvl="2"/>
            <a:r>
              <a:rPr lang="en-US" altLang="en-US" sz="1800" dirty="0">
                <a:latin typeface="Arial" panose="020B0604020202020204" pitchFamily="34" charset="0"/>
                <a:cs typeface="Arial" panose="020B0604020202020204" pitchFamily="34" charset="0"/>
              </a:rPr>
              <a:t>There is no uncertainty; you have zero "surprise" because you know exactly what you will get.</a:t>
            </a:r>
          </a:p>
          <a:p>
            <a:r>
              <a:rPr lang="en-US" altLang="en-US" sz="2600" dirty="0">
                <a:latin typeface="Arial" panose="020B0604020202020204" pitchFamily="34" charset="0"/>
                <a:cs typeface="Arial" panose="020B0604020202020204" pitchFamily="34" charset="0"/>
              </a:rPr>
              <a:t>All classifications equally frequent </a:t>
            </a:r>
          </a:p>
          <a:p>
            <a:pPr marL="0" indent="0">
              <a:buNone/>
            </a:pPr>
            <a:r>
              <a:rPr lang="en-US" altLang="en-US" sz="2600" dirty="0">
                <a:latin typeface="Arial" panose="020B0604020202020204" pitchFamily="34" charset="0"/>
                <a:cs typeface="Arial" panose="020B0604020202020204" pitchFamily="34" charset="0"/>
              </a:rPr>
              <a:t>(-0.5log</a:t>
            </a:r>
            <a:r>
              <a:rPr lang="en-US" altLang="en-US" sz="2600" baseline="-25000" dirty="0">
                <a:latin typeface="Arial" panose="020B0604020202020204" pitchFamily="34" charset="0"/>
                <a:cs typeface="Arial" panose="020B0604020202020204" pitchFamily="34" charset="0"/>
              </a:rPr>
              <a:t>2</a:t>
            </a:r>
            <a:r>
              <a:rPr lang="en-US" altLang="en-US" sz="2600" dirty="0">
                <a:latin typeface="Arial" panose="020B0604020202020204" pitchFamily="34" charset="0"/>
                <a:cs typeface="Arial" panose="020B0604020202020204" pitchFamily="34" charset="0"/>
              </a:rPr>
              <a:t>0.5-0.5log</a:t>
            </a:r>
            <a:r>
              <a:rPr lang="en-US" altLang="en-US" sz="2600" baseline="-25000" dirty="0">
                <a:latin typeface="Arial" panose="020B0604020202020204" pitchFamily="34" charset="0"/>
                <a:cs typeface="Arial" panose="020B0604020202020204" pitchFamily="34" charset="0"/>
              </a:rPr>
              <a:t>2</a:t>
            </a:r>
            <a:r>
              <a:rPr lang="en-US" altLang="en-US" sz="2600" dirty="0">
                <a:latin typeface="Arial" panose="020B0604020202020204" pitchFamily="34" charset="0"/>
                <a:cs typeface="Arial" panose="020B0604020202020204" pitchFamily="34" charset="0"/>
              </a:rPr>
              <a:t>0.5=1) in binary case</a:t>
            </a:r>
          </a:p>
          <a:p>
            <a:pPr lvl="2"/>
            <a:r>
              <a:rPr lang="en-US" altLang="en-US" sz="1800" dirty="0">
                <a:latin typeface="Arial" panose="020B0604020202020204" pitchFamily="34" charset="0"/>
                <a:cs typeface="Arial" panose="020B0604020202020204" pitchFamily="34" charset="0"/>
              </a:rPr>
              <a:t>This is the peak of "impurity." You have the highest level of uncertainty, meaning you need the maximum amount of information to accurately guess the class of an item.</a:t>
            </a:r>
          </a:p>
        </p:txBody>
      </p:sp>
      <p:grpSp>
        <p:nvGrpSpPr>
          <p:cNvPr id="2" name="Group 1">
            <a:extLst>
              <a:ext uri="{FF2B5EF4-FFF2-40B4-BE49-F238E27FC236}">
                <a16:creationId xmlns:a16="http://schemas.microsoft.com/office/drawing/2014/main" id="{FD165484-D982-18E6-4071-9EAD2DC70DF9}"/>
              </a:ext>
            </a:extLst>
          </p:cNvPr>
          <p:cNvGrpSpPr/>
          <p:nvPr/>
        </p:nvGrpSpPr>
        <p:grpSpPr>
          <a:xfrm>
            <a:off x="838200" y="1936787"/>
            <a:ext cx="1949247" cy="3955352"/>
            <a:chOff x="838198" y="1787147"/>
            <a:chExt cx="1949247" cy="3855240"/>
          </a:xfrm>
        </p:grpSpPr>
        <p:pic>
          <p:nvPicPr>
            <p:cNvPr id="4" name="Picture 6" descr="Shannon">
              <a:extLst>
                <a:ext uri="{FF2B5EF4-FFF2-40B4-BE49-F238E27FC236}">
                  <a16:creationId xmlns:a16="http://schemas.microsoft.com/office/drawing/2014/main" id="{B7FBDA21-86EF-3420-990C-A4817160B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a:extLst>
                <a:ext uri="{FF2B5EF4-FFF2-40B4-BE49-F238E27FC236}">
                  <a16:creationId xmlns:a16="http://schemas.microsoft.com/office/drawing/2014/main" id="{79C9ADB7-92A3-160D-549B-795EEED373CF}"/>
                </a:ext>
              </a:extLst>
            </p:cNvPr>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p:sp>
        <p:nvSpPr>
          <p:cNvPr id="17" name="TextBox 16">
            <a:extLst>
              <a:ext uri="{FF2B5EF4-FFF2-40B4-BE49-F238E27FC236}">
                <a16:creationId xmlns:a16="http://schemas.microsoft.com/office/drawing/2014/main" id="{9E023DE8-8551-5150-1CBA-18A0847F258E}"/>
              </a:ext>
            </a:extLst>
          </p:cNvPr>
          <p:cNvSpPr txBox="1"/>
          <p:nvPr/>
        </p:nvSpPr>
        <p:spPr>
          <a:xfrm>
            <a:off x="2940148" y="1652026"/>
            <a:ext cx="3228294" cy="430887"/>
          </a:xfrm>
          <a:prstGeom prst="rect">
            <a:avLst/>
          </a:prstGeom>
          <a:noFill/>
        </p:spPr>
        <p:txBody>
          <a:bodyPr wrap="square" rtlCol="0">
            <a:spAutoFit/>
          </a:bodyPr>
          <a:lstStyle/>
          <a:p>
            <a:r>
              <a:rPr lang="en-US" sz="2200" b="1" dirty="0">
                <a:solidFill>
                  <a:srgbClr val="00B050"/>
                </a:solidFill>
                <a:latin typeface="Arial" panose="020B0604020202020204" pitchFamily="34" charset="0"/>
                <a:cs typeface="Arial" panose="020B0604020202020204" pitchFamily="34" charset="0"/>
              </a:rPr>
              <a:t>Measure of Impurity</a:t>
            </a:r>
            <a:r>
              <a:rPr lang="tr-TR" sz="2200" b="1" dirty="0">
                <a:solidFill>
                  <a:srgbClr val="00B050"/>
                </a:solidFill>
                <a:latin typeface="Arial" panose="020B0604020202020204" pitchFamily="34" charset="0"/>
                <a:cs typeface="Arial" panose="020B0604020202020204" pitchFamily="34" charset="0"/>
              </a:rPr>
              <a:t>:</a:t>
            </a:r>
            <a:endParaRPr lang="en-US" sz="2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01221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blinds(horizontal)">
                                      <p:cBhvr>
                                        <p:cTn id="7" dur="500"/>
                                        <p:tgtEl>
                                          <p:spTgt spid="778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blinds(horizontal)">
                                      <p:cBhvr>
                                        <p:cTn id="12" dur="500"/>
                                        <p:tgtEl>
                                          <p:spTgt spid="77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827">
                                            <p:txEl>
                                              <p:pRg st="2" end="2"/>
                                            </p:txEl>
                                          </p:spTgt>
                                        </p:tgtEl>
                                        <p:attrNameLst>
                                          <p:attrName>style.visibility</p:attrName>
                                        </p:attrNameLst>
                                      </p:cBhvr>
                                      <p:to>
                                        <p:strVal val="visible"/>
                                      </p:to>
                                    </p:set>
                                    <p:animEffect transition="in" filter="blinds(horizontal)">
                                      <p:cBhvr>
                                        <p:cTn id="17" dur="500"/>
                                        <p:tgtEl>
                                          <p:spTgt spid="77827">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7827">
                                            <p:txEl>
                                              <p:pRg st="3" end="3"/>
                                            </p:txEl>
                                          </p:spTgt>
                                        </p:tgtEl>
                                        <p:attrNameLst>
                                          <p:attrName>style.visibility</p:attrName>
                                        </p:attrNameLst>
                                      </p:cBhvr>
                                      <p:to>
                                        <p:strVal val="visible"/>
                                      </p:to>
                                    </p:set>
                                    <p:animEffect transition="in" filter="blinds(horizontal)">
                                      <p:cBhvr>
                                        <p:cTn id="20" dur="500"/>
                                        <p:tgtEl>
                                          <p:spTgt spid="7782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7827">
                                            <p:txEl>
                                              <p:pRg st="4" end="4"/>
                                            </p:txEl>
                                          </p:spTgt>
                                        </p:tgtEl>
                                        <p:attrNameLst>
                                          <p:attrName>style.visibility</p:attrName>
                                        </p:attrNameLst>
                                      </p:cBhvr>
                                      <p:to>
                                        <p:strVal val="visible"/>
                                      </p:to>
                                    </p:set>
                                    <p:animEffect transition="in" filter="blinds(horizontal)">
                                      <p:cBhvr>
                                        <p:cTn id="25" dur="500"/>
                                        <p:tgtEl>
                                          <p:spTgt spid="7782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7827">
                                            <p:txEl>
                                              <p:pRg st="5" end="5"/>
                                            </p:txEl>
                                          </p:spTgt>
                                        </p:tgtEl>
                                        <p:attrNameLst>
                                          <p:attrName>style.visibility</p:attrName>
                                        </p:attrNameLst>
                                      </p:cBhvr>
                                      <p:to>
                                        <p:strVal val="visible"/>
                                      </p:to>
                                    </p:set>
                                    <p:animEffect transition="in" filter="blinds(horizontal)">
                                      <p:cBhvr>
                                        <p:cTn id="30" dur="500"/>
                                        <p:tgtEl>
                                          <p:spTgt spid="77827">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77827">
                                            <p:txEl>
                                              <p:pRg st="6" end="6"/>
                                            </p:txEl>
                                          </p:spTgt>
                                        </p:tgtEl>
                                        <p:attrNameLst>
                                          <p:attrName>style.visibility</p:attrName>
                                        </p:attrNameLst>
                                      </p:cBhvr>
                                      <p:to>
                                        <p:strVal val="visible"/>
                                      </p:to>
                                    </p:set>
                                    <p:animEffect transition="in" filter="blinds(horizontal)">
                                      <p:cBhvr>
                                        <p:cTn id="33" dur="500"/>
                                        <p:tgtEl>
                                          <p:spTgt spid="778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Impurity/Diversity</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lvl="1">
              <a:lnSpc>
                <a:spcPct val="120000"/>
              </a:lnSpc>
              <a:spcBef>
                <a:spcPts val="600"/>
              </a:spcBef>
            </a:pPr>
            <a:endParaRPr lang="tr-TR" altLang="en-US" dirty="0">
              <a:latin typeface="Arial" panose="020B0604020202020204" pitchFamily="34" charset="0"/>
              <a:cs typeface="Arial" panose="020B0604020202020204" pitchFamily="34" charset="0"/>
            </a:endParaRPr>
          </a:p>
          <a:p>
            <a:pPr marL="0" indent="0">
              <a:lnSpc>
                <a:spcPct val="120000"/>
              </a:lnSpc>
              <a:spcBef>
                <a:spcPts val="600"/>
              </a:spcBef>
              <a:buNone/>
            </a:pPr>
            <a:endParaRPr lang="en-US" altLang="en-US" dirty="0">
              <a:latin typeface="Arial" panose="020B0604020202020204" pitchFamily="34" charset="0"/>
              <a:cs typeface="Arial" panose="020B0604020202020204" pitchFamily="34" charset="0"/>
            </a:endParaRPr>
          </a:p>
          <a:p>
            <a:pPr marL="0" indent="0">
              <a:lnSpc>
                <a:spcPct val="110000"/>
              </a:lnSpc>
              <a:buNone/>
            </a:pPr>
            <a:endParaRPr lang="en-US" sz="2400"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grpSp>
        <p:nvGrpSpPr>
          <p:cNvPr id="4" name="Group 3"/>
          <p:cNvGrpSpPr/>
          <p:nvPr/>
        </p:nvGrpSpPr>
        <p:grpSpPr>
          <a:xfrm>
            <a:off x="3416970" y="1690686"/>
            <a:ext cx="5358060" cy="4112676"/>
            <a:chOff x="2801202" y="1690688"/>
            <a:chExt cx="5638800" cy="4419600"/>
          </a:xfrm>
        </p:grpSpPr>
        <p:sp>
          <p:nvSpPr>
            <p:cNvPr id="5" name="Oval 3"/>
            <p:cNvSpPr>
              <a:spLocks noChangeArrowheads="1"/>
            </p:cNvSpPr>
            <p:nvPr/>
          </p:nvSpPr>
          <p:spPr bwMode="auto">
            <a:xfrm>
              <a:off x="4858602" y="1690688"/>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solidFill>
                    <a:srgbClr val="0070C0"/>
                  </a:solidFill>
                </a:rPr>
                <a:t>Age</a:t>
              </a:r>
            </a:p>
          </p:txBody>
        </p:sp>
        <p:sp>
          <p:nvSpPr>
            <p:cNvPr id="6" name="Line 7"/>
            <p:cNvSpPr>
              <a:spLocks noChangeShapeType="1"/>
            </p:cNvSpPr>
            <p:nvPr/>
          </p:nvSpPr>
          <p:spPr bwMode="auto">
            <a:xfrm flipH="1">
              <a:off x="36394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Text Box 8"/>
            <p:cNvSpPr txBox="1">
              <a:spLocks noChangeArrowheads="1"/>
            </p:cNvSpPr>
            <p:nvPr/>
          </p:nvSpPr>
          <p:spPr bwMode="auto">
            <a:xfrm>
              <a:off x="3980716" y="2262188"/>
              <a:ext cx="1098435"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Young</a:t>
              </a:r>
            </a:p>
          </p:txBody>
        </p:sp>
        <p:sp>
          <p:nvSpPr>
            <p:cNvPr id="8" name="Line 9"/>
            <p:cNvSpPr>
              <a:spLocks noChangeShapeType="1"/>
            </p:cNvSpPr>
            <p:nvPr/>
          </p:nvSpPr>
          <p:spPr bwMode="auto">
            <a:xfrm>
              <a:off x="5696802" y="2300288"/>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10"/>
            <p:cNvSpPr>
              <a:spLocks noChangeShapeType="1"/>
            </p:cNvSpPr>
            <p:nvPr/>
          </p:nvSpPr>
          <p:spPr bwMode="auto">
            <a:xfrm>
              <a:off x="58492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Text Box 12"/>
            <p:cNvSpPr txBox="1">
              <a:spLocks noChangeArrowheads="1"/>
            </p:cNvSpPr>
            <p:nvPr/>
          </p:nvSpPr>
          <p:spPr bwMode="auto">
            <a:xfrm>
              <a:off x="5087201" y="2452689"/>
              <a:ext cx="1137372"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Middle</a:t>
              </a:r>
            </a:p>
          </p:txBody>
        </p:sp>
        <p:sp>
          <p:nvSpPr>
            <p:cNvPr id="11" name="Text Box 8"/>
            <p:cNvSpPr txBox="1">
              <a:spLocks noChangeArrowheads="1"/>
            </p:cNvSpPr>
            <p:nvPr/>
          </p:nvSpPr>
          <p:spPr bwMode="auto">
            <a:xfrm>
              <a:off x="6763603" y="2376489"/>
              <a:ext cx="690318"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Old</a:t>
              </a:r>
            </a:p>
          </p:txBody>
        </p:sp>
        <p:sp>
          <p:nvSpPr>
            <p:cNvPr id="12" name="Rectangle 6"/>
            <p:cNvSpPr>
              <a:spLocks noChangeArrowheads="1"/>
            </p:cNvSpPr>
            <p:nvPr/>
          </p:nvSpPr>
          <p:spPr bwMode="auto">
            <a:xfrm>
              <a:off x="2801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3" name="Rectangle 6"/>
            <p:cNvSpPr>
              <a:spLocks noChangeArrowheads="1"/>
            </p:cNvSpPr>
            <p:nvPr/>
          </p:nvSpPr>
          <p:spPr bwMode="auto">
            <a:xfrm>
              <a:off x="2801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4" name="Rectangle 6"/>
            <p:cNvSpPr>
              <a:spLocks noChangeArrowheads="1"/>
            </p:cNvSpPr>
            <p:nvPr/>
          </p:nvSpPr>
          <p:spPr bwMode="auto">
            <a:xfrm>
              <a:off x="2801202" y="44338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5" name="Rectangle 6"/>
            <p:cNvSpPr>
              <a:spLocks noChangeArrowheads="1"/>
            </p:cNvSpPr>
            <p:nvPr/>
          </p:nvSpPr>
          <p:spPr bwMode="auto">
            <a:xfrm>
              <a:off x="2801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6" name="Rectangle 6"/>
            <p:cNvSpPr>
              <a:spLocks noChangeArrowheads="1"/>
            </p:cNvSpPr>
            <p:nvPr/>
          </p:nvSpPr>
          <p:spPr bwMode="auto">
            <a:xfrm>
              <a:off x="2801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7" name="Rectangle 6"/>
            <p:cNvSpPr>
              <a:spLocks noChangeArrowheads="1"/>
            </p:cNvSpPr>
            <p:nvPr/>
          </p:nvSpPr>
          <p:spPr bwMode="auto">
            <a:xfrm>
              <a:off x="5011002" y="3214688"/>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8" name="Rectangle 6"/>
            <p:cNvSpPr>
              <a:spLocks noChangeArrowheads="1"/>
            </p:cNvSpPr>
            <p:nvPr/>
          </p:nvSpPr>
          <p:spPr bwMode="auto">
            <a:xfrm>
              <a:off x="5011002" y="38242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19" name="Rectangle 6"/>
            <p:cNvSpPr>
              <a:spLocks noChangeArrowheads="1"/>
            </p:cNvSpPr>
            <p:nvPr/>
          </p:nvSpPr>
          <p:spPr bwMode="auto">
            <a:xfrm>
              <a:off x="50110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0" name="Rectangle 6"/>
            <p:cNvSpPr>
              <a:spLocks noChangeArrowheads="1"/>
            </p:cNvSpPr>
            <p:nvPr/>
          </p:nvSpPr>
          <p:spPr bwMode="auto">
            <a:xfrm>
              <a:off x="50110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1" name="Rectangle 6"/>
            <p:cNvSpPr>
              <a:spLocks noChangeArrowheads="1"/>
            </p:cNvSpPr>
            <p:nvPr/>
          </p:nvSpPr>
          <p:spPr bwMode="auto">
            <a:xfrm>
              <a:off x="6992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2" name="Rectangle 6"/>
            <p:cNvSpPr>
              <a:spLocks noChangeArrowheads="1"/>
            </p:cNvSpPr>
            <p:nvPr/>
          </p:nvSpPr>
          <p:spPr bwMode="auto">
            <a:xfrm>
              <a:off x="6992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3" name="Rectangle 6"/>
            <p:cNvSpPr>
              <a:spLocks noChangeArrowheads="1"/>
            </p:cNvSpPr>
            <p:nvPr/>
          </p:nvSpPr>
          <p:spPr bwMode="auto">
            <a:xfrm>
              <a:off x="69922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4" name="Rectangle 6"/>
            <p:cNvSpPr>
              <a:spLocks noChangeArrowheads="1"/>
            </p:cNvSpPr>
            <p:nvPr/>
          </p:nvSpPr>
          <p:spPr bwMode="auto">
            <a:xfrm>
              <a:off x="6992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5" name="Rectangle 6"/>
            <p:cNvSpPr>
              <a:spLocks noChangeArrowheads="1"/>
            </p:cNvSpPr>
            <p:nvPr/>
          </p:nvSpPr>
          <p:spPr bwMode="auto">
            <a:xfrm>
              <a:off x="6992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sp>
        <p:nvSpPr>
          <p:cNvPr id="26" name="Down Arrow 25"/>
          <p:cNvSpPr/>
          <p:nvPr/>
        </p:nvSpPr>
        <p:spPr>
          <a:xfrm rot="10800000">
            <a:off x="5953861" y="5405480"/>
            <a:ext cx="501495" cy="9291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5628031" y="6411165"/>
            <a:ext cx="1153153" cy="461665"/>
          </a:xfrm>
          <a:prstGeom prst="rect">
            <a:avLst/>
          </a:prstGeom>
          <a:noFill/>
        </p:spPr>
        <p:txBody>
          <a:bodyPr wrap="square" rtlCol="0">
            <a:spAutoFit/>
          </a:bodyPr>
          <a:lstStyle/>
          <a:p>
            <a:r>
              <a:rPr lang="tr-TR" sz="2400" b="1" dirty="0">
                <a:solidFill>
                  <a:srgbClr val="00B050"/>
                </a:solidFill>
                <a:latin typeface="Arial" panose="020B0604020202020204" pitchFamily="34" charset="0"/>
                <a:cs typeface="Arial" panose="020B0604020202020204" pitchFamily="34" charset="0"/>
              </a:rPr>
              <a:t>PURE!</a:t>
            </a:r>
            <a:endParaRPr lang="en-US" sz="2400" b="1" dirty="0">
              <a:solidFill>
                <a:srgbClr val="00B050"/>
              </a:solidFill>
              <a:latin typeface="Arial" panose="020B0604020202020204" pitchFamily="34" charset="0"/>
              <a:cs typeface="Arial" panose="020B0604020202020204" pitchFamily="34" charset="0"/>
            </a:endParaRPr>
          </a:p>
        </p:txBody>
      </p:sp>
      <p:sp>
        <p:nvSpPr>
          <p:cNvPr id="31" name="Down Arrow 30"/>
          <p:cNvSpPr/>
          <p:nvPr/>
        </p:nvSpPr>
        <p:spPr>
          <a:xfrm rot="10800000">
            <a:off x="3864405" y="5880008"/>
            <a:ext cx="501495" cy="472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3282127" y="6429273"/>
            <a:ext cx="1666050" cy="461665"/>
          </a:xfrm>
          <a:prstGeom prst="rect">
            <a:avLst/>
          </a:prstGeom>
          <a:noFill/>
        </p:spPr>
        <p:txBody>
          <a:bodyPr wrap="square" rtlCol="0">
            <a:spAutoFit/>
          </a:bodyPr>
          <a:lstStyle/>
          <a:p>
            <a:r>
              <a:rPr lang="tr-TR" sz="2400" b="1" dirty="0">
                <a:solidFill>
                  <a:srgbClr val="FF0000"/>
                </a:solidFill>
                <a:latin typeface="Arial" panose="020B0604020202020204" pitchFamily="34" charset="0"/>
                <a:cs typeface="Arial" panose="020B0604020202020204" pitchFamily="34" charset="0"/>
              </a:rPr>
              <a:t>~IMPURE!</a:t>
            </a:r>
            <a:endParaRPr lang="en-US" sz="2400" b="1" dirty="0">
              <a:solidFill>
                <a:srgbClr val="FF0000"/>
              </a:solidFill>
              <a:latin typeface="Arial" panose="020B0604020202020204" pitchFamily="34" charset="0"/>
              <a:cs typeface="Arial" panose="020B0604020202020204" pitchFamily="34" charset="0"/>
            </a:endParaRPr>
          </a:p>
        </p:txBody>
      </p:sp>
      <p:sp>
        <p:nvSpPr>
          <p:cNvPr id="33" name="Down Arrow 32"/>
          <p:cNvSpPr/>
          <p:nvPr/>
        </p:nvSpPr>
        <p:spPr>
          <a:xfrm rot="10800000">
            <a:off x="7958930" y="5889009"/>
            <a:ext cx="501495" cy="472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7376652" y="6438274"/>
            <a:ext cx="1666050" cy="461665"/>
          </a:xfrm>
          <a:prstGeom prst="rect">
            <a:avLst/>
          </a:prstGeom>
          <a:noFill/>
        </p:spPr>
        <p:txBody>
          <a:bodyPr wrap="square" rtlCol="0">
            <a:spAutoFit/>
          </a:bodyPr>
          <a:lstStyle/>
          <a:p>
            <a:r>
              <a:rPr lang="tr-TR" sz="2400" b="1" dirty="0">
                <a:solidFill>
                  <a:srgbClr val="FF0000"/>
                </a:solidFill>
                <a:latin typeface="Arial" panose="020B0604020202020204" pitchFamily="34" charset="0"/>
                <a:cs typeface="Arial" panose="020B0604020202020204" pitchFamily="34" charset="0"/>
              </a:rPr>
              <a:t>~IMPURE!</a:t>
            </a:r>
            <a:endParaRPr lang="en-US" sz="24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28292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Impurity/Diversity</a:t>
            </a:r>
            <a:endParaRPr lang="en-US" b="1" dirty="0"/>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marL="236538" lvl="1" indent="-236538">
              <a:lnSpc>
                <a:spcPct val="120000"/>
              </a:lnSpc>
              <a:spcBef>
                <a:spcPts val="600"/>
              </a:spcBef>
            </a:pPr>
            <a:endParaRPr lang="tr-TR" altLang="en-US" dirty="0">
              <a:latin typeface="Arial" panose="020B0604020202020204" pitchFamily="34" charset="0"/>
              <a:cs typeface="Arial" panose="020B0604020202020204" pitchFamily="34" charset="0"/>
            </a:endParaRPr>
          </a:p>
          <a:p>
            <a:pPr>
              <a:lnSpc>
                <a:spcPct val="110000"/>
              </a:lnSpc>
            </a:pPr>
            <a:endParaRPr lang="en-US" sz="2400" dirty="0">
              <a:latin typeface="Arial" panose="020B0604020202020204" pitchFamily="34" charset="0"/>
              <a:cs typeface="Arial" panose="020B0604020202020204" pitchFamily="34" charset="0"/>
            </a:endParaRPr>
          </a:p>
        </p:txBody>
      </p:sp>
      <p:grpSp>
        <p:nvGrpSpPr>
          <p:cNvPr id="48" name="Group 47"/>
          <p:cNvGrpSpPr/>
          <p:nvPr/>
        </p:nvGrpSpPr>
        <p:grpSpPr>
          <a:xfrm>
            <a:off x="3478281" y="1690686"/>
            <a:ext cx="5235439" cy="4189322"/>
            <a:chOff x="3388057" y="1558664"/>
            <a:chExt cx="5791201" cy="4572000"/>
          </a:xfrm>
        </p:grpSpPr>
        <p:sp>
          <p:nvSpPr>
            <p:cNvPr id="49" name="Oval 3"/>
            <p:cNvSpPr>
              <a:spLocks noChangeArrowheads="1"/>
            </p:cNvSpPr>
            <p:nvPr/>
          </p:nvSpPr>
          <p:spPr bwMode="auto">
            <a:xfrm>
              <a:off x="5445457" y="1558664"/>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solidFill>
                    <a:srgbClr val="0070C0"/>
                  </a:solidFill>
                </a:rPr>
                <a:t>Gender</a:t>
              </a:r>
            </a:p>
          </p:txBody>
        </p:sp>
        <p:sp>
          <p:nvSpPr>
            <p:cNvPr id="50" name="Line 7"/>
            <p:cNvSpPr>
              <a:spLocks noChangeShapeType="1"/>
            </p:cNvSpPr>
            <p:nvPr/>
          </p:nvSpPr>
          <p:spPr bwMode="auto">
            <a:xfrm flipH="1">
              <a:off x="4226257" y="2168264"/>
              <a:ext cx="1905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Text Box 8"/>
            <p:cNvSpPr txBox="1">
              <a:spLocks noChangeArrowheads="1"/>
            </p:cNvSpPr>
            <p:nvPr/>
          </p:nvSpPr>
          <p:spPr bwMode="auto">
            <a:xfrm>
              <a:off x="4207200" y="1863465"/>
              <a:ext cx="899351" cy="470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Male</a:t>
              </a:r>
            </a:p>
          </p:txBody>
        </p:sp>
        <p:sp>
          <p:nvSpPr>
            <p:cNvPr id="52" name="Line 10"/>
            <p:cNvSpPr>
              <a:spLocks noChangeShapeType="1"/>
            </p:cNvSpPr>
            <p:nvPr/>
          </p:nvSpPr>
          <p:spPr bwMode="auto">
            <a:xfrm>
              <a:off x="6436057" y="2168264"/>
              <a:ext cx="2209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Text Box 8"/>
            <p:cNvSpPr txBox="1">
              <a:spLocks noChangeArrowheads="1"/>
            </p:cNvSpPr>
            <p:nvPr/>
          </p:nvSpPr>
          <p:spPr bwMode="auto">
            <a:xfrm>
              <a:off x="7579058" y="1863465"/>
              <a:ext cx="1280582" cy="470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Female</a:t>
              </a:r>
            </a:p>
          </p:txBody>
        </p:sp>
        <p:sp>
          <p:nvSpPr>
            <p:cNvPr id="54" name="Rectangle 6"/>
            <p:cNvSpPr>
              <a:spLocks noChangeArrowheads="1"/>
            </p:cNvSpPr>
            <p:nvPr/>
          </p:nvSpPr>
          <p:spPr bwMode="auto">
            <a:xfrm>
              <a:off x="3388057" y="2930264"/>
              <a:ext cx="1447801"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55" name="Rectangle 6"/>
            <p:cNvSpPr>
              <a:spLocks noChangeArrowheads="1"/>
            </p:cNvSpPr>
            <p:nvPr/>
          </p:nvSpPr>
          <p:spPr bwMode="auto">
            <a:xfrm>
              <a:off x="3388057" y="3463664"/>
              <a:ext cx="1447801"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56" name="Rectangle 6"/>
            <p:cNvSpPr>
              <a:spLocks noChangeArrowheads="1"/>
            </p:cNvSpPr>
            <p:nvPr/>
          </p:nvSpPr>
          <p:spPr bwMode="auto">
            <a:xfrm>
              <a:off x="3388057" y="3997064"/>
              <a:ext cx="1447801"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57" name="Rectangle 6"/>
            <p:cNvSpPr>
              <a:spLocks noChangeArrowheads="1"/>
            </p:cNvSpPr>
            <p:nvPr/>
          </p:nvSpPr>
          <p:spPr bwMode="auto">
            <a:xfrm>
              <a:off x="3388057" y="4530464"/>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58" name="Rectangle 6"/>
            <p:cNvSpPr>
              <a:spLocks noChangeArrowheads="1"/>
            </p:cNvSpPr>
            <p:nvPr/>
          </p:nvSpPr>
          <p:spPr bwMode="auto">
            <a:xfrm>
              <a:off x="3388057" y="5063865"/>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59" name="Rectangle 6"/>
            <p:cNvSpPr>
              <a:spLocks noChangeArrowheads="1"/>
            </p:cNvSpPr>
            <p:nvPr/>
          </p:nvSpPr>
          <p:spPr bwMode="auto">
            <a:xfrm>
              <a:off x="7731457" y="2473064"/>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0" name="Rectangle 6"/>
            <p:cNvSpPr>
              <a:spLocks noChangeArrowheads="1"/>
            </p:cNvSpPr>
            <p:nvPr/>
          </p:nvSpPr>
          <p:spPr bwMode="auto">
            <a:xfrm>
              <a:off x="7731457" y="3006464"/>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1" name="Rectangle 6"/>
            <p:cNvSpPr>
              <a:spLocks noChangeArrowheads="1"/>
            </p:cNvSpPr>
            <p:nvPr/>
          </p:nvSpPr>
          <p:spPr bwMode="auto">
            <a:xfrm>
              <a:off x="7731457" y="51400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2" name="Rectangle 6"/>
            <p:cNvSpPr>
              <a:spLocks noChangeArrowheads="1"/>
            </p:cNvSpPr>
            <p:nvPr/>
          </p:nvSpPr>
          <p:spPr bwMode="auto">
            <a:xfrm>
              <a:off x="3388057" y="5597264"/>
              <a:ext cx="1447801"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3" name="Rectangle 6"/>
            <p:cNvSpPr>
              <a:spLocks noChangeArrowheads="1"/>
            </p:cNvSpPr>
            <p:nvPr/>
          </p:nvSpPr>
          <p:spPr bwMode="auto">
            <a:xfrm>
              <a:off x="3388057" y="2396864"/>
              <a:ext cx="1447801"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64" name="Rectangle 6"/>
            <p:cNvSpPr>
              <a:spLocks noChangeArrowheads="1"/>
            </p:cNvSpPr>
            <p:nvPr/>
          </p:nvSpPr>
          <p:spPr bwMode="auto">
            <a:xfrm>
              <a:off x="7731457" y="5673464"/>
              <a:ext cx="1447801"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65" name="Rectangle 6"/>
            <p:cNvSpPr>
              <a:spLocks noChangeArrowheads="1"/>
            </p:cNvSpPr>
            <p:nvPr/>
          </p:nvSpPr>
          <p:spPr bwMode="auto">
            <a:xfrm>
              <a:off x="7731457" y="35398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6" name="Rectangle 6"/>
            <p:cNvSpPr>
              <a:spLocks noChangeArrowheads="1"/>
            </p:cNvSpPr>
            <p:nvPr/>
          </p:nvSpPr>
          <p:spPr bwMode="auto">
            <a:xfrm>
              <a:off x="7731457" y="40732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67" name="Rectangle 6"/>
            <p:cNvSpPr>
              <a:spLocks noChangeArrowheads="1"/>
            </p:cNvSpPr>
            <p:nvPr/>
          </p:nvSpPr>
          <p:spPr bwMode="auto">
            <a:xfrm>
              <a:off x="7731457" y="4606664"/>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sp>
        <p:nvSpPr>
          <p:cNvPr id="24" name="Down Arrow 23"/>
          <p:cNvSpPr/>
          <p:nvPr/>
        </p:nvSpPr>
        <p:spPr>
          <a:xfrm rot="10800000">
            <a:off x="7980760" y="5949829"/>
            <a:ext cx="501495" cy="472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7398482" y="6499094"/>
            <a:ext cx="1666050" cy="461665"/>
          </a:xfrm>
          <a:prstGeom prst="rect">
            <a:avLst/>
          </a:prstGeom>
          <a:noFill/>
        </p:spPr>
        <p:txBody>
          <a:bodyPr wrap="square" rtlCol="0">
            <a:spAutoFit/>
          </a:bodyPr>
          <a:lstStyle/>
          <a:p>
            <a:r>
              <a:rPr lang="tr-TR" sz="2400" b="1" dirty="0">
                <a:solidFill>
                  <a:srgbClr val="00B050"/>
                </a:solidFill>
                <a:latin typeface="Arial" panose="020B0604020202020204" pitchFamily="34" charset="0"/>
                <a:cs typeface="Arial" panose="020B0604020202020204" pitchFamily="34" charset="0"/>
              </a:rPr>
              <a:t>~PURE!</a:t>
            </a:r>
            <a:endParaRPr lang="en-US" sz="2400" b="1" dirty="0">
              <a:solidFill>
                <a:srgbClr val="00B050"/>
              </a:solidFill>
              <a:latin typeface="Arial" panose="020B0604020202020204" pitchFamily="34" charset="0"/>
              <a:cs typeface="Arial" panose="020B0604020202020204" pitchFamily="34" charset="0"/>
            </a:endParaRPr>
          </a:p>
        </p:txBody>
      </p:sp>
      <p:sp>
        <p:nvSpPr>
          <p:cNvPr id="26" name="Down Arrow 25"/>
          <p:cNvSpPr/>
          <p:nvPr/>
        </p:nvSpPr>
        <p:spPr>
          <a:xfrm rot="10800000">
            <a:off x="3864405" y="5880008"/>
            <a:ext cx="501495" cy="4727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282127" y="6429273"/>
            <a:ext cx="1666050" cy="461665"/>
          </a:xfrm>
          <a:prstGeom prst="rect">
            <a:avLst/>
          </a:prstGeom>
          <a:noFill/>
        </p:spPr>
        <p:txBody>
          <a:bodyPr wrap="square" rtlCol="0">
            <a:spAutoFit/>
          </a:bodyPr>
          <a:lstStyle/>
          <a:p>
            <a:r>
              <a:rPr lang="tr-TR" sz="2400" b="1" dirty="0">
                <a:solidFill>
                  <a:srgbClr val="FF0000"/>
                </a:solidFill>
                <a:latin typeface="Arial" panose="020B0604020202020204" pitchFamily="34" charset="0"/>
                <a:cs typeface="Arial" panose="020B0604020202020204" pitchFamily="34" charset="0"/>
              </a:rPr>
              <a:t>~IMPURE!</a:t>
            </a:r>
            <a:endParaRPr lang="en-US" sz="24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21994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Measuring Impurity/Diversity</a:t>
            </a:r>
            <a:endParaRPr lang="en-US" b="1" dirty="0">
              <a:solidFill>
                <a:srgbClr val="002060"/>
              </a:solidFill>
            </a:endParaRPr>
          </a:p>
        </p:txBody>
      </p:sp>
      <p:sp>
        <p:nvSpPr>
          <p:cNvPr id="197635" name="Rectangle 3"/>
          <p:cNvSpPr>
            <a:spLocks noGrp="1" noChangeArrowheads="1"/>
          </p:cNvSpPr>
          <p:nvPr>
            <p:ph idx="1"/>
          </p:nvPr>
        </p:nvSpPr>
        <p:spPr>
          <a:xfrm>
            <a:off x="838200" y="1690687"/>
            <a:ext cx="11215255" cy="4969419"/>
          </a:xfrm>
        </p:spPr>
        <p:txBody>
          <a:bodyPr>
            <a:noAutofit/>
          </a:bodyPr>
          <a:lstStyle/>
          <a:p>
            <a:r>
              <a:rPr lang="en-US" altLang="en-US" sz="2400" dirty="0">
                <a:latin typeface="Arial" panose="020B0604020202020204" pitchFamily="34" charset="0"/>
                <a:cs typeface="Arial" panose="020B0604020202020204" pitchFamily="34" charset="0"/>
              </a:rPr>
              <a:t>Assume </a:t>
            </a:r>
            <a:r>
              <a:rPr lang="en-US" altLang="en-US" sz="2400" b="1" u="sng" dirty="0">
                <a:latin typeface="Arial" panose="020B0604020202020204" pitchFamily="34" charset="0"/>
                <a:cs typeface="Arial" panose="020B0604020202020204" pitchFamily="34" charset="0"/>
              </a:rPr>
              <a:t>a binary classification problem </a:t>
            </a:r>
            <a:r>
              <a:rPr lang="en-US" altLang="en-US" sz="2400" dirty="0">
                <a:latin typeface="Arial" panose="020B0604020202020204" pitchFamily="34" charset="0"/>
                <a:cs typeface="Arial" panose="020B0604020202020204" pitchFamily="34" charset="0"/>
              </a:rPr>
              <a:t>(i.e., two classes.</a:t>
            </a:r>
            <a:r>
              <a:rPr lang="tr-TR"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Yes/No, True/False, Success/Failure etc.)</a:t>
            </a:r>
            <a:endParaRPr lang="tr-TR" altLang="en-US" sz="2400" dirty="0">
              <a:latin typeface="Arial" panose="020B0604020202020204" pitchFamily="34" charset="0"/>
              <a:cs typeface="Arial" panose="020B0604020202020204" pitchFamily="34" charset="0"/>
            </a:endParaRPr>
          </a:p>
          <a:p>
            <a:endParaRPr lang="en-US" altLang="en-US" sz="2400" dirty="0">
              <a:latin typeface="Arial" panose="020B0604020202020204" pitchFamily="34" charset="0"/>
              <a:cs typeface="Arial" panose="020B0604020202020204" pitchFamily="34" charset="0"/>
            </a:endParaRPr>
          </a:p>
          <a:p>
            <a:r>
              <a:rPr lang="en-US" altLang="en-US" sz="2400" dirty="0">
                <a:latin typeface="Arial" panose="020B0604020202020204" pitchFamily="34" charset="0"/>
                <a:cs typeface="Arial" panose="020B0604020202020204" pitchFamily="34" charset="0"/>
              </a:rPr>
              <a:t>Minimum</a:t>
            </a:r>
          </a:p>
          <a:p>
            <a:endParaRPr lang="en-US" altLang="en-US" sz="2400" dirty="0">
              <a:latin typeface="Arial" panose="020B0604020202020204" pitchFamily="34" charset="0"/>
              <a:cs typeface="Arial" panose="020B0604020202020204" pitchFamily="34" charset="0"/>
            </a:endParaRPr>
          </a:p>
          <a:p>
            <a:endParaRPr lang="en-US" altLang="en-US" sz="2400" dirty="0">
              <a:latin typeface="Arial" panose="020B0604020202020204" pitchFamily="34" charset="0"/>
              <a:cs typeface="Arial" panose="020B0604020202020204" pitchFamily="34" charset="0"/>
            </a:endParaRPr>
          </a:p>
          <a:p>
            <a:r>
              <a:rPr lang="en-US" altLang="en-US" sz="2400" dirty="0">
                <a:latin typeface="Arial" panose="020B0604020202020204" pitchFamily="34" charset="0"/>
                <a:cs typeface="Arial" panose="020B0604020202020204" pitchFamily="34" charset="0"/>
              </a:rPr>
              <a:t>Gini index/Simpson diversity index</a:t>
            </a:r>
          </a:p>
          <a:p>
            <a:endParaRPr lang="en-US" altLang="en-US" sz="2400" dirty="0">
              <a:latin typeface="Arial" panose="020B0604020202020204" pitchFamily="34" charset="0"/>
              <a:cs typeface="Arial" panose="020B0604020202020204" pitchFamily="34" charset="0"/>
            </a:endParaRPr>
          </a:p>
          <a:p>
            <a:endParaRPr lang="en-US" altLang="en-US" sz="2400" dirty="0">
              <a:latin typeface="Arial" panose="020B0604020202020204" pitchFamily="34" charset="0"/>
              <a:cs typeface="Arial" panose="020B0604020202020204" pitchFamily="34" charset="0"/>
            </a:endParaRPr>
          </a:p>
          <a:p>
            <a:r>
              <a:rPr lang="en-US" altLang="en-US" sz="2400" dirty="0">
                <a:latin typeface="Arial" panose="020B0604020202020204" pitchFamily="34" charset="0"/>
                <a:cs typeface="Arial" panose="020B0604020202020204" pitchFamily="34" charset="0"/>
              </a:rPr>
              <a:t>Shannon’s Entropy (</a:t>
            </a:r>
            <a:r>
              <a:rPr lang="en-US" altLang="en-US" sz="2400" i="1" dirty="0">
                <a:latin typeface="Arial" panose="020B0604020202020204" pitchFamily="34" charset="0"/>
                <a:cs typeface="Arial" panose="020B0604020202020204" pitchFamily="34" charset="0"/>
              </a:rPr>
              <a:t>measures information in bits</a:t>
            </a:r>
            <a:r>
              <a:rPr lang="en-US" altLang="en-US" sz="2400" dirty="0">
                <a:latin typeface="Arial" panose="020B0604020202020204" pitchFamily="34" charset="0"/>
                <a:cs typeface="Arial" panose="020B0604020202020204" pitchFamily="34" charset="0"/>
              </a:rPr>
              <a:t>)</a:t>
            </a:r>
          </a:p>
          <a:p>
            <a:pPr>
              <a:lnSpc>
                <a:spcPct val="120000"/>
              </a:lnSpc>
            </a:pPr>
            <a:endParaRPr lang="en-US" sz="2200" dirty="0">
              <a:latin typeface="Arial" panose="020B0604020202020204" pitchFamily="34" charset="0"/>
              <a:cs typeface="Arial" panose="020B0604020202020204" pitchFamily="34" charset="0"/>
            </a:endParaRPr>
          </a:p>
        </p:txBody>
      </p:sp>
      <p:graphicFrame>
        <p:nvGraphicFramePr>
          <p:cNvPr id="4" name="Object 2"/>
          <p:cNvGraphicFramePr>
            <a:graphicFrameLocks noChangeAspect="1"/>
          </p:cNvGraphicFramePr>
          <p:nvPr/>
        </p:nvGraphicFramePr>
        <p:xfrm>
          <a:off x="2963606" y="3384464"/>
          <a:ext cx="1728787" cy="479425"/>
        </p:xfrm>
        <a:graphic>
          <a:graphicData uri="http://schemas.openxmlformats.org/presentationml/2006/ole">
            <mc:AlternateContent xmlns:mc="http://schemas.openxmlformats.org/markup-compatibility/2006">
              <mc:Choice xmlns:v="urn:schemas-microsoft-com:vml" Requires="v">
                <p:oleObj name="Equation" r:id="rId2" imgW="749160" imgH="215640" progId="Equation.3">
                  <p:embed/>
                </p:oleObj>
              </mc:Choice>
              <mc:Fallback>
                <p:oleObj name="Equation" r:id="rId2" imgW="749160" imgH="215640" progId="Equation.3">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606" y="3384464"/>
                        <a:ext cx="1728787"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3"/>
          <p:cNvGraphicFramePr>
            <a:graphicFrameLocks noChangeAspect="1"/>
          </p:cNvGraphicFramePr>
          <p:nvPr/>
        </p:nvGraphicFramePr>
        <p:xfrm>
          <a:off x="2963606" y="4714746"/>
          <a:ext cx="2768600" cy="471488"/>
        </p:xfrm>
        <a:graphic>
          <a:graphicData uri="http://schemas.openxmlformats.org/presentationml/2006/ole">
            <mc:AlternateContent xmlns:mc="http://schemas.openxmlformats.org/markup-compatibility/2006">
              <mc:Choice xmlns:v="urn:schemas-microsoft-com:vml" Requires="v">
                <p:oleObj name="Equation" r:id="rId4" imgW="1218960" imgH="215640" progId="Equation.3">
                  <p:embed/>
                </p:oleObj>
              </mc:Choice>
              <mc:Fallback>
                <p:oleObj name="Equation" r:id="rId4" imgW="1218960" imgH="215640" progId="Equation.3">
                  <p:embed/>
                  <p:pic>
                    <p:nvPicPr>
                      <p:cNvPr id="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3606" y="4714746"/>
                        <a:ext cx="2768600"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4"/>
          <p:cNvGraphicFramePr>
            <a:graphicFrameLocks noChangeAspect="1"/>
          </p:cNvGraphicFramePr>
          <p:nvPr/>
        </p:nvGraphicFramePr>
        <p:xfrm>
          <a:off x="2963606" y="6037091"/>
          <a:ext cx="3657600" cy="457200"/>
        </p:xfrm>
        <a:graphic>
          <a:graphicData uri="http://schemas.openxmlformats.org/presentationml/2006/ole">
            <mc:AlternateContent xmlns:mc="http://schemas.openxmlformats.org/markup-compatibility/2006">
              <mc:Choice xmlns:v="urn:schemas-microsoft-com:vml" Requires="v">
                <p:oleObj name="Denklem" r:id="rId6" imgW="1663560" imgH="215640" progId="Equation.3">
                  <p:embed/>
                </p:oleObj>
              </mc:Choice>
              <mc:Fallback>
                <p:oleObj name="Denklem" r:id="rId6" imgW="1663560" imgH="215640" progId="Equation.3">
                  <p:embed/>
                  <p:pic>
                    <p:nvPicPr>
                      <p:cNvPr id="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3606" y="6037091"/>
                        <a:ext cx="3657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737397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Expected Information Gain</a:t>
            </a:r>
            <a:endParaRPr lang="en-US" b="1" dirty="0">
              <a:solidFill>
                <a:srgbClr val="002060"/>
              </a:solidFill>
            </a:endParaRPr>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i="1" dirty="0">
                <a:latin typeface="Arial" panose="020B0604020202020204" pitchFamily="34" charset="0"/>
                <a:cs typeface="Arial" panose="020B0604020202020204" pitchFamily="34" charset="0"/>
              </a:rPr>
              <a:t>Gain(S, a)</a:t>
            </a:r>
            <a:r>
              <a:rPr lang="en-US" altLang="en-US" sz="2400" dirty="0">
                <a:latin typeface="Arial" panose="020B0604020202020204" pitchFamily="34" charset="0"/>
                <a:cs typeface="Arial" panose="020B0604020202020204" pitchFamily="34" charset="0"/>
              </a:rPr>
              <a:t> is the amount of expected information gained about the classification by knowing the value of </a:t>
            </a:r>
            <a:r>
              <a:rPr lang="en-US" altLang="en-US" sz="2400" i="1" dirty="0">
                <a:latin typeface="Arial" panose="020B0604020202020204" pitchFamily="34" charset="0"/>
                <a:cs typeface="Arial" panose="020B0604020202020204" pitchFamily="34" charset="0"/>
              </a:rPr>
              <a:t>feature a</a:t>
            </a:r>
            <a:r>
              <a:rPr lang="en-US" altLang="en-US" sz="2400" dirty="0">
                <a:latin typeface="Arial" panose="020B0604020202020204" pitchFamily="34" charset="0"/>
                <a:cs typeface="Arial" panose="020B0604020202020204" pitchFamily="34" charset="0"/>
              </a:rPr>
              <a:t>. </a:t>
            </a:r>
          </a:p>
          <a:p>
            <a:pPr>
              <a:lnSpc>
                <a:spcPct val="120000"/>
              </a:lnSpc>
              <a:spcBef>
                <a:spcPts val="600"/>
              </a:spcBef>
            </a:pPr>
            <a:r>
              <a:rPr lang="en-US" altLang="en-US" sz="2400" dirty="0">
                <a:latin typeface="Arial" panose="020B0604020202020204" pitchFamily="34" charset="0"/>
                <a:cs typeface="Arial" panose="020B0604020202020204" pitchFamily="34" charset="0"/>
              </a:rPr>
              <a:t>Note that Entropy of  a feature measures the impurity before the split, on the other hand the information gain measures the </a:t>
            </a:r>
            <a:r>
              <a:rPr lang="en-US" altLang="en-US" sz="2400" i="1" dirty="0">
                <a:latin typeface="Arial" panose="020B0604020202020204" pitchFamily="34" charset="0"/>
                <a:cs typeface="Arial" panose="020B0604020202020204" pitchFamily="34" charset="0"/>
              </a:rPr>
              <a:t>change</a:t>
            </a:r>
            <a:r>
              <a:rPr lang="en-US" altLang="en-US" sz="2400" dirty="0">
                <a:latin typeface="Arial" panose="020B0604020202020204" pitchFamily="34" charset="0"/>
                <a:cs typeface="Arial" panose="020B0604020202020204" pitchFamily="34" charset="0"/>
              </a:rPr>
              <a:t> after the split. Therefore, one should prefer to split the feature that either</a:t>
            </a:r>
            <a:r>
              <a:rPr lang="en-US" altLang="en-US" sz="2400" b="1" dirty="0">
                <a:latin typeface="Arial" panose="020B0604020202020204" pitchFamily="34" charset="0"/>
                <a:cs typeface="Arial" panose="020B0604020202020204" pitchFamily="34" charset="0"/>
              </a:rPr>
              <a:t> has the smallest entropy or the largest information gain.</a:t>
            </a:r>
          </a:p>
          <a:p>
            <a:pPr>
              <a:lnSpc>
                <a:spcPct val="120000"/>
              </a:lnSpc>
            </a:pPr>
            <a:endParaRPr lang="en-US" sz="2200" dirty="0">
              <a:latin typeface="Arial" panose="020B0604020202020204" pitchFamily="34" charset="0"/>
              <a:cs typeface="Arial" panose="020B0604020202020204" pitchFamily="34" charset="0"/>
            </a:endParaRPr>
          </a:p>
        </p:txBody>
      </p:sp>
      <p:graphicFrame>
        <p:nvGraphicFramePr>
          <p:cNvPr id="7" name="Object 2"/>
          <p:cNvGraphicFramePr>
            <a:graphicFrameLocks noChangeAspect="1"/>
          </p:cNvGraphicFramePr>
          <p:nvPr/>
        </p:nvGraphicFramePr>
        <p:xfrm>
          <a:off x="1598332" y="4832605"/>
          <a:ext cx="7475537" cy="1560512"/>
        </p:xfrm>
        <a:graphic>
          <a:graphicData uri="http://schemas.openxmlformats.org/presentationml/2006/ole">
            <mc:AlternateContent xmlns:mc="http://schemas.openxmlformats.org/markup-compatibility/2006">
              <mc:Choice xmlns:v="urn:schemas-microsoft-com:vml" Requires="v">
                <p:oleObj name="Equation" r:id="rId2" imgW="3187440" imgH="685800" progId="Equation.3">
                  <p:embed/>
                </p:oleObj>
              </mc:Choice>
              <mc:Fallback>
                <p:oleObj name="Equation" r:id="rId2" imgW="3187440" imgH="685800" progId="Equation.3">
                  <p:embed/>
                  <p:pic>
                    <p:nvPicPr>
                      <p:cNvPr id="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332" y="4832605"/>
                        <a:ext cx="7475537" cy="1560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7554617" y="6043911"/>
            <a:ext cx="2278477" cy="69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000" b="0" dirty="0">
                <a:cs typeface="Arial" panose="020B0604020202020204" pitchFamily="34" charset="0"/>
              </a:rPr>
              <a:t>All possible values</a:t>
            </a:r>
          </a:p>
          <a:p>
            <a:r>
              <a:rPr lang="en-US" altLang="en-US" sz="2000" b="0" dirty="0">
                <a:cs typeface="Arial" panose="020B0604020202020204" pitchFamily="34" charset="0"/>
              </a:rPr>
              <a:t>for feature </a:t>
            </a:r>
            <a:r>
              <a:rPr lang="en-US" altLang="en-US" sz="2000" b="0" i="1" dirty="0">
                <a:cs typeface="Arial" panose="020B0604020202020204" pitchFamily="34" charset="0"/>
              </a:rPr>
              <a:t>a</a:t>
            </a:r>
            <a:endParaRPr lang="en-US" altLang="en-US" sz="2000" b="0" dirty="0">
              <a:cs typeface="Arial" panose="020B0604020202020204" pitchFamily="34" charset="0"/>
            </a:endParaRPr>
          </a:p>
        </p:txBody>
      </p:sp>
      <p:sp>
        <p:nvSpPr>
          <p:cNvPr id="9" name="Rectangle 5"/>
          <p:cNvSpPr>
            <a:spLocks noChangeArrowheads="1"/>
          </p:cNvSpPr>
          <p:nvPr/>
        </p:nvSpPr>
        <p:spPr bwMode="auto">
          <a:xfrm>
            <a:off x="7482722" y="5991082"/>
            <a:ext cx="2424112" cy="739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2000">
              <a:cs typeface="Arial" panose="020B0604020202020204" pitchFamily="34" charset="0"/>
            </a:endParaRPr>
          </a:p>
        </p:txBody>
      </p:sp>
      <p:sp>
        <p:nvSpPr>
          <p:cNvPr id="10" name="Line 6"/>
          <p:cNvSpPr>
            <a:spLocks noChangeShapeType="1"/>
          </p:cNvSpPr>
          <p:nvPr/>
        </p:nvSpPr>
        <p:spPr bwMode="auto">
          <a:xfrm flipH="1" flipV="1">
            <a:off x="6415547" y="5855110"/>
            <a:ext cx="1065329" cy="4719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68557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An Alternative Metric - Entropy</a:t>
            </a:r>
            <a:endParaRPr lang="en-US" altLang="en-US" b="1" dirty="0"/>
          </a:p>
        </p:txBody>
      </p:sp>
      <p:sp>
        <p:nvSpPr>
          <p:cNvPr id="77827" name="Rectangle 1027"/>
          <p:cNvSpPr>
            <a:spLocks noGrp="1" noChangeArrowheads="1"/>
          </p:cNvSpPr>
          <p:nvPr>
            <p:ph type="body" idx="1"/>
          </p:nvPr>
        </p:nvSpPr>
        <p:spPr>
          <a:xfrm>
            <a:off x="2940148" y="1936787"/>
            <a:ext cx="8723142" cy="4351338"/>
          </a:xfrm>
        </p:spPr>
        <p:txBody>
          <a:bodyPr>
            <a:noAutofit/>
          </a:bodyPr>
          <a:lstStyle/>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r>
              <a:rPr lang="en-US" altLang="en-US" sz="2400" dirty="0">
                <a:latin typeface="Arial" panose="020B0604020202020204" pitchFamily="34" charset="0"/>
                <a:cs typeface="Arial" panose="020B0604020202020204" pitchFamily="34" charset="0"/>
              </a:rPr>
              <a:t>In the Disease Problem, we have 9 Sick and 5 Healthy subjects. Therefore, the </a:t>
            </a:r>
            <a:r>
              <a:rPr lang="en-US" altLang="en-US" sz="2400" i="1" dirty="0">
                <a:solidFill>
                  <a:srgbClr val="FF0000"/>
                </a:solidFill>
                <a:latin typeface="Arial" panose="020B0604020202020204" pitchFamily="34" charset="0"/>
                <a:cs typeface="Arial" panose="020B0604020202020204" pitchFamily="34" charset="0"/>
              </a:rPr>
              <a:t>beginning entropy</a:t>
            </a:r>
            <a:r>
              <a:rPr lang="en-US" altLang="en-US" sz="2400" dirty="0">
                <a:latin typeface="Arial" panose="020B0604020202020204" pitchFamily="34" charset="0"/>
                <a:cs typeface="Arial" panose="020B0604020202020204" pitchFamily="34" charset="0"/>
              </a:rPr>
              <a:t> of the dataset is: </a:t>
            </a:r>
            <a:endParaRPr lang="en-US" altLang="en-US" sz="2400" i="1" dirty="0">
              <a:latin typeface="Arial" panose="020B0604020202020204" pitchFamily="34" charset="0"/>
              <a:cs typeface="Arial" panose="020B0604020202020204" pitchFamily="34" charset="0"/>
            </a:endParaRPr>
          </a:p>
          <a:p>
            <a:pPr>
              <a:lnSpc>
                <a:spcPct val="120000"/>
              </a:lnSpc>
              <a:spcBef>
                <a:spcPts val="600"/>
              </a:spcBef>
            </a:pPr>
            <a:endParaRPr lang="en-US" altLang="en-US" sz="2400" b="0" i="1" dirty="0">
              <a:latin typeface="Cambria Math" panose="02040503050406030204" pitchFamily="18" charset="0"/>
              <a:cs typeface="Arial" panose="020B0604020202020204" pitchFamily="34" charset="0"/>
            </a:endParaRPr>
          </a:p>
          <a:p>
            <a:pPr marL="0" indent="0">
              <a:lnSpc>
                <a:spcPct val="120000"/>
              </a:lnSpc>
              <a:spcBef>
                <a:spcPts val="600"/>
              </a:spcBef>
              <a:buNone/>
            </a:pPr>
            <a:endParaRPr lang="tr-TR" altLang="en-US" sz="2400" b="0" i="1" dirty="0">
              <a:latin typeface="Arial" panose="020B0604020202020204" pitchFamily="34" charset="0"/>
              <a:cs typeface="Arial" panose="020B0604020202020204" pitchFamily="34" charset="0"/>
            </a:endParaRPr>
          </a:p>
        </p:txBody>
      </p:sp>
      <p:grpSp>
        <p:nvGrpSpPr>
          <p:cNvPr id="2" name="Group 1"/>
          <p:cNvGrpSpPr/>
          <p:nvPr/>
        </p:nvGrpSpPr>
        <p:grpSpPr>
          <a:xfrm>
            <a:off x="838200" y="1936787"/>
            <a:ext cx="1949247" cy="3955352"/>
            <a:chOff x="838198" y="1787147"/>
            <a:chExt cx="1949247" cy="3855240"/>
          </a:xfrm>
        </p:grpSpPr>
        <p:pic>
          <p:nvPicPr>
            <p:cNvPr id="4" name="Picture 6" descr="Shann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p:grpSp>
        <p:nvGrpSpPr>
          <p:cNvPr id="19" name="Group 18"/>
          <p:cNvGrpSpPr/>
          <p:nvPr/>
        </p:nvGrpSpPr>
        <p:grpSpPr>
          <a:xfrm>
            <a:off x="3474704" y="1936787"/>
            <a:ext cx="7654029" cy="1862279"/>
            <a:chOff x="4194184" y="1941065"/>
            <a:chExt cx="7654029" cy="1862279"/>
          </a:xfrm>
        </p:grpSpPr>
        <p:grpSp>
          <p:nvGrpSpPr>
            <p:cNvPr id="16" name="Group 15"/>
            <p:cNvGrpSpPr/>
            <p:nvPr/>
          </p:nvGrpSpPr>
          <p:grpSpPr>
            <a:xfrm>
              <a:off x="8238247" y="3128008"/>
              <a:ext cx="2953972" cy="675336"/>
              <a:chOff x="7398199" y="3338310"/>
              <a:chExt cx="2953972" cy="675336"/>
            </a:xfrm>
          </p:grpSpPr>
          <p:sp>
            <p:nvSpPr>
              <p:cNvPr id="6" name="Text Box 3"/>
              <p:cNvSpPr txBox="1">
                <a:spLocks noChangeArrowheads="1"/>
              </p:cNvSpPr>
              <p:nvPr/>
            </p:nvSpPr>
            <p:spPr bwMode="auto">
              <a:xfrm>
                <a:off x="7398199" y="3376789"/>
                <a:ext cx="2953972" cy="63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800" dirty="0">
                    <a:latin typeface="Times New Roman" panose="02020603050405020304" pitchFamily="18" charset="0"/>
                  </a:rPr>
                  <a:t>Proportion of the samples from class </a:t>
                </a:r>
                <a:r>
                  <a:rPr lang="en-US" altLang="en-US" sz="1800" dirty="0" err="1">
                    <a:latin typeface="Times New Roman" panose="02020603050405020304" pitchFamily="18" charset="0"/>
                  </a:rPr>
                  <a:t>i</a:t>
                </a:r>
                <a:r>
                  <a:rPr lang="en-US" altLang="en-US" sz="1800" dirty="0">
                    <a:latin typeface="Times New Roman" panose="02020603050405020304" pitchFamily="18" charset="0"/>
                  </a:rPr>
                  <a:t> in data set </a:t>
                </a:r>
                <a:r>
                  <a:rPr lang="en-US" altLang="en-US" sz="1800" i="1" dirty="0">
                    <a:latin typeface="Times New Roman" panose="02020603050405020304" pitchFamily="18" charset="0"/>
                  </a:rPr>
                  <a:t>S</a:t>
                </a:r>
                <a:endParaRPr lang="en-US" altLang="en-US" sz="1800" dirty="0">
                  <a:latin typeface="Times New Roman" panose="02020603050405020304" pitchFamily="18" charset="0"/>
                </a:endParaRPr>
              </a:p>
            </p:txBody>
          </p:sp>
          <p:sp>
            <p:nvSpPr>
              <p:cNvPr id="7" name="Rectangle 4"/>
              <p:cNvSpPr>
                <a:spLocks noChangeArrowheads="1"/>
              </p:cNvSpPr>
              <p:nvPr/>
            </p:nvSpPr>
            <p:spPr bwMode="auto">
              <a:xfrm>
                <a:off x="7400916" y="3338310"/>
                <a:ext cx="2951255" cy="60494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1800"/>
              </a:p>
            </p:txBody>
          </p:sp>
        </p:grpSp>
        <p:sp>
          <p:nvSpPr>
            <p:cNvPr id="8" name="Line 5"/>
            <p:cNvSpPr>
              <a:spLocks noChangeShapeType="1"/>
            </p:cNvSpPr>
            <p:nvPr/>
          </p:nvSpPr>
          <p:spPr bwMode="auto">
            <a:xfrm flipH="1" flipV="1">
              <a:off x="8539089" y="2881908"/>
              <a:ext cx="239151" cy="2290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graphicFrame>
          <p:nvGraphicFramePr>
            <p:cNvPr id="9" name="Object 2"/>
            <p:cNvGraphicFramePr>
              <a:graphicFrameLocks noChangeAspect="1"/>
            </p:cNvGraphicFramePr>
            <p:nvPr/>
          </p:nvGraphicFramePr>
          <p:xfrm>
            <a:off x="4457064" y="2218289"/>
            <a:ext cx="4208634" cy="933678"/>
          </p:xfrm>
          <a:graphic>
            <a:graphicData uri="http://schemas.openxmlformats.org/presentationml/2006/ole">
              <mc:AlternateContent xmlns:mc="http://schemas.openxmlformats.org/markup-compatibility/2006">
                <mc:Choice xmlns:v="urn:schemas-microsoft-com:vml" Requires="v">
                  <p:oleObj name="Equation" r:id="rId3" imgW="1777680" imgH="431640" progId="Equation.3">
                    <p:embed/>
                  </p:oleObj>
                </mc:Choice>
                <mc:Fallback>
                  <p:oleObj name="Equation" r:id="rId3" imgW="1777680" imgH="431640" progId="Equation.3">
                    <p:embed/>
                    <p:pic>
                      <p:nvPicPr>
                        <p:cNvPr id="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7064" y="2218289"/>
                          <a:ext cx="4208634" cy="933678"/>
                        </a:xfrm>
                        <a:prstGeom prst="rect">
                          <a:avLst/>
                        </a:prstGeom>
                      </p:spPr>
                    </p:pic>
                  </p:oleObj>
                </mc:Fallback>
              </mc:AlternateContent>
            </a:graphicData>
          </a:graphic>
        </p:graphicFrame>
        <p:grpSp>
          <p:nvGrpSpPr>
            <p:cNvPr id="3" name="Group 2"/>
            <p:cNvGrpSpPr/>
            <p:nvPr/>
          </p:nvGrpSpPr>
          <p:grpSpPr>
            <a:xfrm>
              <a:off x="7634925" y="1941065"/>
              <a:ext cx="4213288" cy="366545"/>
              <a:chOff x="7400917" y="1687965"/>
              <a:chExt cx="4213288" cy="366545"/>
            </a:xfrm>
          </p:grpSpPr>
          <p:sp>
            <p:nvSpPr>
              <p:cNvPr id="10" name="Text Box 8"/>
              <p:cNvSpPr txBox="1">
                <a:spLocks noChangeArrowheads="1"/>
              </p:cNvSpPr>
              <p:nvPr/>
            </p:nvSpPr>
            <p:spPr bwMode="auto">
              <a:xfrm>
                <a:off x="7658697" y="1687965"/>
                <a:ext cx="3668922" cy="35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800" dirty="0">
                    <a:latin typeface="Times New Roman" panose="02020603050405020304" pitchFamily="18" charset="0"/>
                  </a:rPr>
                  <a:t>Number of Categories (i.e., Classes)</a:t>
                </a:r>
              </a:p>
            </p:txBody>
          </p:sp>
          <p:sp>
            <p:nvSpPr>
              <p:cNvPr id="11" name="Rectangle 9"/>
              <p:cNvSpPr>
                <a:spLocks noChangeArrowheads="1"/>
              </p:cNvSpPr>
              <p:nvPr/>
            </p:nvSpPr>
            <p:spPr bwMode="auto">
              <a:xfrm>
                <a:off x="7400917" y="1690688"/>
                <a:ext cx="4213288" cy="3638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1800"/>
              </a:p>
            </p:txBody>
          </p:sp>
        </p:grpSp>
        <p:sp>
          <p:nvSpPr>
            <p:cNvPr id="12" name="Line 10"/>
            <p:cNvSpPr>
              <a:spLocks noChangeShapeType="1"/>
            </p:cNvSpPr>
            <p:nvPr/>
          </p:nvSpPr>
          <p:spPr bwMode="auto">
            <a:xfrm flipH="1">
              <a:off x="6794693" y="2212383"/>
              <a:ext cx="754490" cy="1389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sp>
          <p:nvSpPr>
            <p:cNvPr id="13" name="Text Box 11"/>
            <p:cNvSpPr txBox="1">
              <a:spLocks noChangeArrowheads="1"/>
            </p:cNvSpPr>
            <p:nvPr/>
          </p:nvSpPr>
          <p:spPr bwMode="auto">
            <a:xfrm>
              <a:off x="4250780" y="3332796"/>
              <a:ext cx="1552830" cy="35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tr-TR" altLang="en-US" sz="1800" dirty="0">
                  <a:latin typeface="Times New Roman" panose="02020603050405020304" pitchFamily="18" charset="0"/>
                </a:rPr>
                <a:t>Training Data</a:t>
              </a:r>
              <a:endParaRPr lang="en-US" altLang="en-US" sz="1800" dirty="0">
                <a:latin typeface="Times New Roman" panose="02020603050405020304" pitchFamily="18" charset="0"/>
              </a:endParaRPr>
            </a:p>
          </p:txBody>
        </p:sp>
        <p:sp>
          <p:nvSpPr>
            <p:cNvPr id="14" name="Rectangle 12"/>
            <p:cNvSpPr>
              <a:spLocks noChangeArrowheads="1"/>
            </p:cNvSpPr>
            <p:nvPr/>
          </p:nvSpPr>
          <p:spPr bwMode="auto">
            <a:xfrm>
              <a:off x="4194184" y="3368952"/>
              <a:ext cx="1708482" cy="32370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sz="1800"/>
            </a:p>
          </p:txBody>
        </p:sp>
        <p:sp>
          <p:nvSpPr>
            <p:cNvPr id="15" name="Line 13"/>
            <p:cNvSpPr>
              <a:spLocks noChangeShapeType="1"/>
            </p:cNvSpPr>
            <p:nvPr/>
          </p:nvSpPr>
          <p:spPr bwMode="auto">
            <a:xfrm flipV="1">
              <a:off x="5506599" y="2889562"/>
              <a:ext cx="396067" cy="4836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grpSp>
      <mc:AlternateContent xmlns:mc="http://schemas.openxmlformats.org/markup-compatibility/2006" xmlns:a14="http://schemas.microsoft.com/office/drawing/2010/main">
        <mc:Choice Requires="a14">
          <p:sp>
            <p:nvSpPr>
              <p:cNvPr id="22" name="Rectangle 21"/>
              <p:cNvSpPr/>
              <p:nvPr/>
            </p:nvSpPr>
            <p:spPr>
              <a:xfrm>
                <a:off x="3139461" y="5868823"/>
                <a:ext cx="8523829" cy="532005"/>
              </a:xfrm>
              <a:prstGeom prst="rect">
                <a:avLst/>
              </a:prstGeom>
            </p:spPr>
            <p:txBody>
              <a:bodyPr wrap="square">
                <a:spAutoFit/>
              </a:bodyPr>
              <a:lstStyle/>
              <a:p>
                <a14:m>
                  <m:oMath xmlns:m="http://schemas.openxmlformats.org/officeDocument/2006/math">
                    <m:r>
                      <a:rPr lang="tr-TR" altLang="en-US" sz="2000" i="1" smtClean="0">
                        <a:latin typeface="Cambria Math" panose="02040503050406030204" pitchFamily="18" charset="0"/>
                        <a:cs typeface="Arial" panose="020B0604020202020204" pitchFamily="34" charset="0"/>
                      </a:rPr>
                      <m:t>𝐸𝑛𝑡𝑟𝑜𝑝</m:t>
                    </m:r>
                    <m:r>
                      <a:rPr lang="tr-TR" altLang="en-US" sz="2000" b="0" i="1" smtClean="0">
                        <a:latin typeface="Cambria Math" panose="02040503050406030204" pitchFamily="18" charset="0"/>
                        <a:cs typeface="Arial" panose="020B0604020202020204" pitchFamily="34" charset="0"/>
                      </a:rPr>
                      <m:t>𝑦</m:t>
                    </m:r>
                    <m:d>
                      <m:dPr>
                        <m:ctrlPr>
                          <a:rPr lang="tr-TR" altLang="en-US" sz="2000" i="1">
                            <a:latin typeface="Cambria Math" panose="02040503050406030204" pitchFamily="18" charset="0"/>
                            <a:cs typeface="Arial" panose="020B0604020202020204" pitchFamily="34" charset="0"/>
                          </a:rPr>
                        </m:ctrlPr>
                      </m:dPr>
                      <m:e>
                        <m:r>
                          <a:rPr lang="tr-TR" altLang="en-US" sz="2000" b="0" i="1" smtClean="0">
                            <a:latin typeface="Cambria Math" panose="02040503050406030204" pitchFamily="18" charset="0"/>
                            <a:cs typeface="Arial" panose="020B0604020202020204" pitchFamily="34" charset="0"/>
                          </a:rPr>
                          <m:t>𝑇𝑟𝑎𝑖𝑛𝑖𝑛𝑔</m:t>
                        </m:r>
                        <m:r>
                          <a:rPr lang="tr-TR" altLang="en-US" sz="2000" b="0" i="1" smtClean="0">
                            <a:latin typeface="Cambria Math" panose="02040503050406030204" pitchFamily="18" charset="0"/>
                            <a:cs typeface="Arial" panose="020B0604020202020204" pitchFamily="34" charset="0"/>
                          </a:rPr>
                          <m:t> </m:t>
                        </m:r>
                        <m:r>
                          <a:rPr lang="tr-TR" altLang="en-US" sz="2000" b="0" i="1" smtClean="0">
                            <a:latin typeface="Cambria Math" panose="02040503050406030204" pitchFamily="18" charset="0"/>
                            <a:cs typeface="Arial" panose="020B0604020202020204" pitchFamily="34" charset="0"/>
                          </a:rPr>
                          <m:t>𝐷𝑎𝑡𝑎</m:t>
                        </m:r>
                      </m:e>
                    </m:d>
                    <m:r>
                      <a:rPr lang="tr-TR" altLang="en-US" sz="2000" i="1">
                        <a:latin typeface="Cambria Math" panose="02040503050406030204" pitchFamily="18" charset="0"/>
                        <a:cs typeface="Arial" panose="020B0604020202020204" pitchFamily="34" charset="0"/>
                      </a:rPr>
                      <m:t>=</m:t>
                    </m:r>
                    <m:nary>
                      <m:naryPr>
                        <m:chr m:val="∑"/>
                        <m:ctrlPr>
                          <a:rPr lang="tr-TR" altLang="en-US" sz="2000" i="1">
                            <a:latin typeface="Cambria Math" panose="02040503050406030204" pitchFamily="18" charset="0"/>
                            <a:cs typeface="Arial" panose="020B0604020202020204" pitchFamily="34" charset="0"/>
                          </a:rPr>
                        </m:ctrlPr>
                      </m:naryPr>
                      <m:sub>
                        <m:r>
                          <m:rPr>
                            <m:brk m:alnAt="23"/>
                          </m:rPr>
                          <a:rPr lang="tr-TR" altLang="en-US" sz="2000" i="1">
                            <a:latin typeface="Cambria Math" panose="02040503050406030204" pitchFamily="18" charset="0"/>
                            <a:cs typeface="Arial" panose="020B0604020202020204" pitchFamily="34" charset="0"/>
                          </a:rPr>
                          <m:t>𝑖</m:t>
                        </m:r>
                        <m:r>
                          <a:rPr lang="tr-TR" altLang="en-US" sz="2000" i="1">
                            <a:latin typeface="Cambria Math" panose="02040503050406030204" pitchFamily="18" charset="0"/>
                            <a:cs typeface="Arial" panose="020B0604020202020204" pitchFamily="34" charset="0"/>
                          </a:rPr>
                          <m:t>=1</m:t>
                        </m:r>
                      </m:sub>
                      <m:sup>
                        <m:r>
                          <a:rPr lang="tr-TR" altLang="en-US" sz="2000" i="1">
                            <a:latin typeface="Cambria Math" panose="02040503050406030204" pitchFamily="18" charset="0"/>
                            <a:cs typeface="Arial" panose="020B0604020202020204" pitchFamily="34" charset="0"/>
                          </a:rPr>
                          <m:t>𝑐</m:t>
                        </m:r>
                      </m:sup>
                      <m:e>
                        <m:r>
                          <a:rPr lang="tr-TR" altLang="en-US" sz="2000" i="1">
                            <a:latin typeface="Cambria Math" panose="02040503050406030204" pitchFamily="18" charset="0"/>
                            <a:cs typeface="Arial" panose="020B0604020202020204" pitchFamily="34" charset="0"/>
                          </a:rPr>
                          <m:t>−</m:t>
                        </m:r>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𝑙𝑜𝑔</m:t>
                            </m:r>
                          </m:e>
                          <m:sub>
                            <m:r>
                              <a:rPr lang="tr-TR" altLang="en-US" sz="2000" i="1">
                                <a:latin typeface="Cambria Math" panose="02040503050406030204" pitchFamily="18" charset="0"/>
                                <a:cs typeface="Arial" panose="020B0604020202020204" pitchFamily="34" charset="0"/>
                              </a:rPr>
                              <m:t>2</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e>
                    </m:nary>
                  </m:oMath>
                </a14:m>
                <a:r>
                  <a:rPr lang="tr-TR" altLang="en-US" sz="2000" dirty="0">
                    <a:latin typeface="Arial" panose="020B0604020202020204" pitchFamily="34" charset="0"/>
                    <a:cs typeface="Arial" panose="020B0604020202020204" pitchFamily="34" charset="0"/>
                  </a:rPr>
                  <a:t> = </a:t>
                </a:r>
                <a:r>
                  <a:rPr lang="tr-TR" sz="2000" dirty="0">
                    <a:latin typeface="Arial" panose="020B0604020202020204" pitchFamily="34" charset="0"/>
                    <a:cs typeface="Arial" panose="020B0604020202020204" pitchFamily="34" charset="0"/>
                  </a:rPr>
                  <a:t>-</a:t>
                </a:r>
                <a14:m>
                  <m:oMath xmlns:m="http://schemas.openxmlformats.org/officeDocument/2006/math">
                    <m:f>
                      <m:fPr>
                        <m:ctrlPr>
                          <a:rPr lang="tr-TR" sz="2000" i="1">
                            <a:latin typeface="Cambria Math" panose="02040503050406030204" pitchFamily="18" charset="0"/>
                          </a:rPr>
                        </m:ctrlPr>
                      </m:fPr>
                      <m:num>
                        <m:r>
                          <a:rPr lang="tr-TR" sz="2000" i="1">
                            <a:latin typeface="Cambria Math" panose="02040503050406030204" pitchFamily="18" charset="0"/>
                          </a:rPr>
                          <m:t>5</m:t>
                        </m:r>
                      </m:num>
                      <m:den>
                        <m:r>
                          <a:rPr lang="tr-TR" sz="2000" i="1">
                            <a:latin typeface="Cambria Math" panose="02040503050406030204" pitchFamily="18" charset="0"/>
                          </a:rPr>
                          <m:t>14</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i="1">
                            <a:latin typeface="Cambria Math" panose="02040503050406030204" pitchFamily="18" charset="0"/>
                          </a:rPr>
                          <m:t>5</m:t>
                        </m:r>
                      </m:num>
                      <m:den>
                        <m:r>
                          <a:rPr lang="tr-TR" sz="2000" i="1">
                            <a:latin typeface="Cambria Math" panose="02040503050406030204" pitchFamily="18" charset="0"/>
                          </a:rPr>
                          <m:t>14</m:t>
                        </m:r>
                      </m:den>
                    </m:f>
                    <m:r>
                      <a:rPr lang="tr-TR" sz="2000">
                        <a:latin typeface="Cambria Math" panose="02040503050406030204" pitchFamily="18" charset="0"/>
                      </a:rPr>
                      <m:t>−</m:t>
                    </m:r>
                    <m:f>
                      <m:fPr>
                        <m:ctrlPr>
                          <a:rPr lang="tr-TR" sz="2000" i="1">
                            <a:latin typeface="Cambria Math" panose="02040503050406030204" pitchFamily="18" charset="0"/>
                          </a:rPr>
                        </m:ctrlPr>
                      </m:fPr>
                      <m:num>
                        <m:r>
                          <a:rPr lang="tr-TR" sz="2000" i="1">
                            <a:latin typeface="Cambria Math" panose="02040503050406030204" pitchFamily="18" charset="0"/>
                          </a:rPr>
                          <m:t>9</m:t>
                        </m:r>
                      </m:num>
                      <m:den>
                        <m:r>
                          <a:rPr lang="tr-TR" sz="2000" i="1">
                            <a:latin typeface="Cambria Math" panose="02040503050406030204" pitchFamily="18" charset="0"/>
                          </a:rPr>
                          <m:t>14</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i="1">
                            <a:latin typeface="Cambria Math" panose="02040503050406030204" pitchFamily="18" charset="0"/>
                          </a:rPr>
                          <m:t>9</m:t>
                        </m:r>
                      </m:num>
                      <m:den>
                        <m:r>
                          <a:rPr lang="tr-TR" sz="2000" i="1">
                            <a:latin typeface="Cambria Math" panose="02040503050406030204" pitchFamily="18" charset="0"/>
                          </a:rPr>
                          <m:t>14</m:t>
                        </m:r>
                      </m:den>
                    </m:f>
                  </m:oMath>
                </a14:m>
                <a:r>
                  <a:rPr lang="tr-TR" sz="2000" dirty="0">
                    <a:latin typeface="Arial" panose="020B0604020202020204" pitchFamily="34" charset="0"/>
                    <a:cs typeface="Arial" panose="020B0604020202020204" pitchFamily="34" charset="0"/>
                  </a:rPr>
                  <a:t> = </a:t>
                </a:r>
                <a:r>
                  <a:rPr lang="tr-TR" sz="2000" b="1" u="sng" dirty="0">
                    <a:solidFill>
                      <a:srgbClr val="FF0000"/>
                    </a:solidFill>
                    <a:latin typeface="Arial" panose="020B0604020202020204" pitchFamily="34" charset="0"/>
                    <a:cs typeface="Arial" panose="020B0604020202020204" pitchFamily="34" charset="0"/>
                  </a:rPr>
                  <a:t>0.94</a:t>
                </a:r>
                <a:endParaRPr lang="tr-TR" altLang="en-US" sz="2000" b="1" u="sng" dirty="0">
                  <a:solidFill>
                    <a:srgbClr val="FF0000"/>
                  </a:solidFill>
                  <a:latin typeface="Arial" panose="020B0604020202020204" pitchFamily="34" charset="0"/>
                  <a:cs typeface="Arial" panose="020B0604020202020204" pitchFamily="34"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3139461" y="5868823"/>
                <a:ext cx="8523829" cy="532005"/>
              </a:xfrm>
              <a:prstGeom prst="rect">
                <a:avLst/>
              </a:prstGeom>
              <a:blipFill>
                <a:blip r:embed="rId6"/>
                <a:stretch>
                  <a:fillRect b="-6897"/>
                </a:stretch>
              </a:blipFill>
            </p:spPr>
            <p:txBody>
              <a:bodyPr/>
              <a:lstStyle/>
              <a:p>
                <a:r>
                  <a:rPr lang="en-US">
                    <a:noFill/>
                  </a:rPr>
                  <a:t> </a:t>
                </a:r>
              </a:p>
            </p:txBody>
          </p:sp>
        </mc:Fallback>
      </mc:AlternateContent>
      <p:sp>
        <p:nvSpPr>
          <p:cNvPr id="17" name="TextBox 16"/>
          <p:cNvSpPr txBox="1"/>
          <p:nvPr/>
        </p:nvSpPr>
        <p:spPr>
          <a:xfrm>
            <a:off x="2940148" y="1652026"/>
            <a:ext cx="3228294" cy="430887"/>
          </a:xfrm>
          <a:prstGeom prst="rect">
            <a:avLst/>
          </a:prstGeom>
          <a:noFill/>
        </p:spPr>
        <p:txBody>
          <a:bodyPr wrap="square" rtlCol="0">
            <a:spAutoFit/>
          </a:bodyPr>
          <a:lstStyle/>
          <a:p>
            <a:r>
              <a:rPr lang="en-US" sz="2200" b="1" dirty="0">
                <a:solidFill>
                  <a:srgbClr val="00B050"/>
                </a:solidFill>
                <a:latin typeface="Arial" panose="020B0604020202020204" pitchFamily="34" charset="0"/>
                <a:cs typeface="Arial" panose="020B0604020202020204" pitchFamily="34" charset="0"/>
              </a:rPr>
              <a:t>Measure of Impurity</a:t>
            </a:r>
            <a:r>
              <a:rPr lang="tr-TR" sz="2200" b="1" dirty="0">
                <a:solidFill>
                  <a:srgbClr val="00B050"/>
                </a:solidFill>
                <a:latin typeface="Arial" panose="020B0604020202020204" pitchFamily="34" charset="0"/>
                <a:cs typeface="Arial" panose="020B0604020202020204" pitchFamily="34" charset="0"/>
              </a:rPr>
              <a:t>:</a:t>
            </a:r>
            <a:endParaRPr lang="en-US" sz="2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0792343"/>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An Alternative Metric - Entropy</a:t>
            </a:r>
            <a:endParaRPr lang="en-US" altLang="en-US" b="1" dirty="0"/>
          </a:p>
        </p:txBody>
      </p:sp>
      <p:sp>
        <p:nvSpPr>
          <p:cNvPr id="77827" name="Rectangle 1027"/>
          <p:cNvSpPr>
            <a:spLocks noGrp="1" noChangeArrowheads="1"/>
          </p:cNvSpPr>
          <p:nvPr>
            <p:ph type="body" idx="1"/>
          </p:nvPr>
        </p:nvSpPr>
        <p:spPr>
          <a:xfrm>
            <a:off x="2940147" y="1936787"/>
            <a:ext cx="9124033" cy="4351338"/>
          </a:xfrm>
        </p:spPr>
        <p:txBody>
          <a:bodyPr>
            <a:noAutofit/>
          </a:bodyPr>
          <a:lstStyle/>
          <a:p>
            <a:pPr>
              <a:lnSpc>
                <a:spcPct val="120000"/>
              </a:lnSpc>
              <a:spcBef>
                <a:spcPts val="600"/>
              </a:spcBef>
            </a:pPr>
            <a:r>
              <a:rPr lang="en-US" altLang="en-US" sz="2200" dirty="0">
                <a:latin typeface="Arial" panose="020B0604020202020204" pitchFamily="34" charset="0"/>
                <a:cs typeface="Arial" panose="020B0604020202020204" pitchFamily="34" charset="0"/>
              </a:rPr>
              <a:t>What about the </a:t>
            </a:r>
            <a:r>
              <a:rPr lang="en-US" altLang="en-US" sz="2200" i="1" dirty="0">
                <a:solidFill>
                  <a:srgbClr val="FF0000"/>
                </a:solidFill>
                <a:latin typeface="Arial" panose="020B0604020202020204" pitchFamily="34" charset="0"/>
                <a:cs typeface="Arial" panose="020B0604020202020204" pitchFamily="34" charset="0"/>
              </a:rPr>
              <a:t>entropy of the state </a:t>
            </a:r>
            <a:r>
              <a:rPr lang="en-US" altLang="en-US" sz="2200" dirty="0">
                <a:latin typeface="Arial" panose="020B0604020202020204" pitchFamily="34" charset="0"/>
                <a:cs typeface="Arial" panose="020B0604020202020204" pitchFamily="34" charset="0"/>
              </a:rPr>
              <a:t>after using </a:t>
            </a:r>
            <a:r>
              <a:rPr lang="en-US" altLang="en-US" sz="2200" dirty="0">
                <a:solidFill>
                  <a:srgbClr val="0070C0"/>
                </a:solidFill>
                <a:latin typeface="Arial" panose="020B0604020202020204" pitchFamily="34" charset="0"/>
                <a:cs typeface="Arial" panose="020B0604020202020204" pitchFamily="34" charset="0"/>
              </a:rPr>
              <a:t>Age information</a:t>
            </a:r>
            <a:r>
              <a:rPr lang="en-US" altLang="en-US" sz="2200" dirty="0">
                <a:latin typeface="Arial" panose="020B0604020202020204" pitchFamily="34" charset="0"/>
                <a:cs typeface="Arial" panose="020B0604020202020204" pitchFamily="34" charset="0"/>
              </a:rPr>
              <a:t>?</a:t>
            </a:r>
            <a:endParaRPr lang="en-US" altLang="en-US" sz="2200" i="1" dirty="0">
              <a:latin typeface="Arial" panose="020B0604020202020204" pitchFamily="34" charset="0"/>
              <a:cs typeface="Arial" panose="020B0604020202020204" pitchFamily="34" charset="0"/>
            </a:endParaRPr>
          </a:p>
          <a:p>
            <a:pPr>
              <a:lnSpc>
                <a:spcPct val="120000"/>
              </a:lnSpc>
              <a:spcBef>
                <a:spcPts val="600"/>
              </a:spcBef>
            </a:pPr>
            <a:endParaRPr lang="tr-TR" altLang="en-US" sz="2200" i="1" dirty="0">
              <a:latin typeface="Arial" panose="020B0604020202020204" pitchFamily="34" charset="0"/>
              <a:cs typeface="Arial" panose="020B0604020202020204" pitchFamily="34" charset="0"/>
            </a:endParaRPr>
          </a:p>
          <a:p>
            <a:pPr marL="0" indent="0">
              <a:lnSpc>
                <a:spcPct val="120000"/>
              </a:lnSpc>
              <a:spcBef>
                <a:spcPts val="600"/>
              </a:spcBef>
              <a:buNone/>
            </a:pPr>
            <a:endParaRPr lang="tr-TR" altLang="en-US" sz="2200" i="1" dirty="0">
              <a:latin typeface="Arial" panose="020B0604020202020204" pitchFamily="34" charset="0"/>
              <a:cs typeface="Arial" panose="020B0604020202020204" pitchFamily="34" charset="0"/>
            </a:endParaRPr>
          </a:p>
          <a:p>
            <a:pPr marL="0" indent="0">
              <a:lnSpc>
                <a:spcPct val="120000"/>
              </a:lnSpc>
              <a:spcBef>
                <a:spcPts val="600"/>
              </a:spcBef>
              <a:buNone/>
            </a:pPr>
            <a:endParaRPr lang="tr-TR" altLang="en-US" sz="2200" i="1" dirty="0">
              <a:latin typeface="Arial" panose="020B0604020202020204" pitchFamily="34" charset="0"/>
              <a:cs typeface="Arial" panose="020B0604020202020204" pitchFamily="34" charset="0"/>
            </a:endParaRPr>
          </a:p>
          <a:p>
            <a:pPr marL="0" indent="0">
              <a:lnSpc>
                <a:spcPct val="120000"/>
              </a:lnSpc>
              <a:spcBef>
                <a:spcPts val="600"/>
              </a:spcBef>
              <a:buNone/>
            </a:pPr>
            <a:endParaRPr lang="tr-TR" altLang="en-US" sz="2200" i="1" dirty="0">
              <a:latin typeface="Arial" panose="020B0604020202020204" pitchFamily="34" charset="0"/>
              <a:cs typeface="Arial" panose="020B0604020202020204" pitchFamily="34" charset="0"/>
            </a:endParaRPr>
          </a:p>
          <a:p>
            <a:pPr>
              <a:lnSpc>
                <a:spcPct val="120000"/>
              </a:lnSpc>
              <a:spcBef>
                <a:spcPts val="600"/>
              </a:spcBef>
            </a:pPr>
            <a:r>
              <a:rPr lang="en-US" altLang="en-US" sz="2200" dirty="0">
                <a:latin typeface="Arial" panose="020B0604020202020204" pitchFamily="34" charset="0"/>
                <a:cs typeface="Arial" panose="020B0604020202020204" pitchFamily="34" charset="0"/>
              </a:rPr>
              <a:t>There are 5 </a:t>
            </a:r>
            <a:r>
              <a:rPr lang="en-US" altLang="en-US" sz="2200" i="1" dirty="0">
                <a:latin typeface="Arial" panose="020B0604020202020204" pitchFamily="34" charset="0"/>
                <a:cs typeface="Arial" panose="020B0604020202020204" pitchFamily="34" charset="0"/>
              </a:rPr>
              <a:t>Young </a:t>
            </a:r>
            <a:r>
              <a:rPr lang="en-US" altLang="en-US" sz="2200" dirty="0">
                <a:latin typeface="Arial" panose="020B0604020202020204" pitchFamily="34" charset="0"/>
                <a:cs typeface="Arial" panose="020B0604020202020204" pitchFamily="34" charset="0"/>
              </a:rPr>
              <a:t>(with entropy of 0.97), 4 </a:t>
            </a:r>
            <a:r>
              <a:rPr lang="en-US" altLang="en-US" sz="2200" i="1" dirty="0">
                <a:latin typeface="Arial" panose="020B0604020202020204" pitchFamily="34" charset="0"/>
                <a:cs typeface="Arial" panose="020B0604020202020204" pitchFamily="34" charset="0"/>
              </a:rPr>
              <a:t>Middle Aged</a:t>
            </a:r>
            <a:r>
              <a:rPr lang="en-US" altLang="en-US" sz="2200" dirty="0">
                <a:latin typeface="Arial" panose="020B0604020202020204" pitchFamily="34" charset="0"/>
                <a:cs typeface="Arial" panose="020B0604020202020204" pitchFamily="34" charset="0"/>
              </a:rPr>
              <a:t> (with entropy of 0)</a:t>
            </a:r>
            <a:r>
              <a:rPr lang="en-US" altLang="en-US" sz="2200" i="1" dirty="0">
                <a:latin typeface="Arial" panose="020B0604020202020204" pitchFamily="34" charset="0"/>
                <a:cs typeface="Arial" panose="020B0604020202020204" pitchFamily="34" charset="0"/>
              </a:rPr>
              <a:t>, </a:t>
            </a:r>
            <a:r>
              <a:rPr lang="en-US" altLang="en-US" sz="2200" dirty="0">
                <a:latin typeface="Arial" panose="020B0604020202020204" pitchFamily="34" charset="0"/>
                <a:cs typeface="Arial" panose="020B0604020202020204" pitchFamily="34" charset="0"/>
              </a:rPr>
              <a:t>and 5 </a:t>
            </a:r>
            <a:r>
              <a:rPr lang="en-US" altLang="en-US" sz="2200" i="1" dirty="0">
                <a:latin typeface="Arial" panose="020B0604020202020204" pitchFamily="34" charset="0"/>
                <a:cs typeface="Arial" panose="020B0604020202020204" pitchFamily="34" charset="0"/>
              </a:rPr>
              <a:t>Old </a:t>
            </a:r>
            <a:r>
              <a:rPr lang="en-US" altLang="en-US" sz="2200" dirty="0">
                <a:latin typeface="Arial" panose="020B0604020202020204" pitchFamily="34" charset="0"/>
                <a:cs typeface="Arial" panose="020B0604020202020204" pitchFamily="34" charset="0"/>
              </a:rPr>
              <a:t>(with entropy of 0.97)</a:t>
            </a:r>
            <a:r>
              <a:rPr lang="tr-TR" altLang="en-US" sz="2200" dirty="0">
                <a:latin typeface="Arial" panose="020B0604020202020204" pitchFamily="34" charset="0"/>
                <a:cs typeface="Arial" panose="020B0604020202020204" pitchFamily="34" charset="0"/>
              </a:rPr>
              <a:t>.</a:t>
            </a:r>
            <a:endParaRPr lang="en-US" altLang="en-US" sz="2200" dirty="0">
              <a:latin typeface="Arial" panose="020B0604020202020204" pitchFamily="34" charset="0"/>
              <a:cs typeface="Arial" panose="020B0604020202020204" pitchFamily="34" charset="0"/>
            </a:endParaRPr>
          </a:p>
          <a:p>
            <a:pPr marL="0" indent="0">
              <a:lnSpc>
                <a:spcPct val="120000"/>
              </a:lnSpc>
              <a:spcBef>
                <a:spcPts val="600"/>
              </a:spcBef>
              <a:buNone/>
            </a:pPr>
            <a:endParaRPr lang="tr-TR" altLang="en-US" sz="2200" i="1" dirty="0">
              <a:latin typeface="Arial" panose="020B0604020202020204" pitchFamily="34" charset="0"/>
              <a:cs typeface="Arial" panose="020B0604020202020204" pitchFamily="34" charset="0"/>
            </a:endParaRPr>
          </a:p>
          <a:p>
            <a:pPr>
              <a:lnSpc>
                <a:spcPct val="120000"/>
              </a:lnSpc>
              <a:spcBef>
                <a:spcPts val="600"/>
              </a:spcBef>
            </a:pPr>
            <a:r>
              <a:rPr lang="en-US" altLang="en-US" sz="2200" i="1" dirty="0">
                <a:latin typeface="Arial" panose="020B0604020202020204" pitchFamily="34" charset="0"/>
                <a:cs typeface="Arial" panose="020B0604020202020204" pitchFamily="34" charset="0"/>
              </a:rPr>
              <a:t>Total Entropy (Weighted Average) = (5*0.97+4*0+5*0.97)/14 </a:t>
            </a:r>
            <a:r>
              <a:rPr lang="en-US" altLang="en-US" sz="2200" i="1" dirty="0">
                <a:solidFill>
                  <a:srgbClr val="FF0000"/>
                </a:solidFill>
                <a:latin typeface="Arial" panose="020B0604020202020204" pitchFamily="34" charset="0"/>
                <a:cs typeface="Arial" panose="020B0604020202020204" pitchFamily="34" charset="0"/>
              </a:rPr>
              <a:t>=0.69</a:t>
            </a:r>
          </a:p>
        </p:txBody>
      </p:sp>
      <p:grpSp>
        <p:nvGrpSpPr>
          <p:cNvPr id="2" name="Group 1"/>
          <p:cNvGrpSpPr/>
          <p:nvPr/>
        </p:nvGrpSpPr>
        <p:grpSpPr>
          <a:xfrm>
            <a:off x="838200" y="1936787"/>
            <a:ext cx="1949247" cy="3955352"/>
            <a:chOff x="838198" y="1787147"/>
            <a:chExt cx="1949247" cy="3855240"/>
          </a:xfrm>
        </p:grpSpPr>
        <p:pic>
          <p:nvPicPr>
            <p:cNvPr id="4" name="Picture 6" descr="Shann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mc:AlternateContent xmlns:mc="http://schemas.openxmlformats.org/markup-compatibility/2006" xmlns:a14="http://schemas.microsoft.com/office/drawing/2010/main">
        <mc:Choice Requires="a14">
          <p:sp>
            <p:nvSpPr>
              <p:cNvPr id="25" name="Rectangle 24"/>
              <p:cNvSpPr/>
              <p:nvPr/>
            </p:nvSpPr>
            <p:spPr>
              <a:xfrm>
                <a:off x="3504490" y="2721793"/>
                <a:ext cx="7995346" cy="1709699"/>
              </a:xfrm>
              <a:prstGeom prst="rect">
                <a:avLst/>
              </a:prstGeom>
            </p:spPr>
            <p:txBody>
              <a:bodyPr wrap="square">
                <a:spAutoFit/>
              </a:bodyPr>
              <a:lstStyle/>
              <a:p>
                <a14:m>
                  <m:oMath xmlns:m="http://schemas.openxmlformats.org/officeDocument/2006/math">
                    <m:r>
                      <a:rPr lang="tr-TR" altLang="en-US" sz="2000" i="1" smtClean="0">
                        <a:latin typeface="Cambria Math" panose="02040503050406030204" pitchFamily="18" charset="0"/>
                        <a:cs typeface="Arial" panose="020B0604020202020204" pitchFamily="34" charset="0"/>
                      </a:rPr>
                      <m:t>𝐸𝑛𝑡𝑟𝑜</m:t>
                    </m:r>
                    <m:r>
                      <a:rPr lang="tr-TR" altLang="en-US" sz="2000" b="0" i="1" smtClean="0">
                        <a:latin typeface="Cambria Math" panose="02040503050406030204" pitchFamily="18" charset="0"/>
                        <a:cs typeface="Arial" panose="020B0604020202020204" pitchFamily="34" charset="0"/>
                      </a:rPr>
                      <m:t>𝑝𝑦</m:t>
                    </m:r>
                    <m:d>
                      <m:dPr>
                        <m:ctrlPr>
                          <a:rPr lang="tr-TR" altLang="en-US" sz="2000" i="1">
                            <a:latin typeface="Cambria Math" panose="02040503050406030204" pitchFamily="18" charset="0"/>
                            <a:cs typeface="Arial" panose="020B0604020202020204" pitchFamily="34" charset="0"/>
                          </a:rPr>
                        </m:ctrlPr>
                      </m:dPr>
                      <m:e>
                        <m:r>
                          <a:rPr lang="tr-TR" altLang="en-US" sz="2000" b="0" i="1" smtClean="0">
                            <a:solidFill>
                              <a:srgbClr val="FF0000"/>
                            </a:solidFill>
                            <a:latin typeface="Cambria Math" panose="02040503050406030204" pitchFamily="18" charset="0"/>
                            <a:cs typeface="Arial" panose="020B0604020202020204" pitchFamily="34" charset="0"/>
                          </a:rPr>
                          <m:t>𝑌𝑜𝑢𝑛𝑔</m:t>
                        </m:r>
                      </m:e>
                    </m:d>
                    <m:r>
                      <a:rPr lang="tr-TR" altLang="en-US" sz="2000" i="1">
                        <a:latin typeface="Cambria Math" panose="02040503050406030204" pitchFamily="18" charset="0"/>
                        <a:cs typeface="Arial" panose="020B0604020202020204" pitchFamily="34" charset="0"/>
                      </a:rPr>
                      <m:t>=</m:t>
                    </m:r>
                    <m:nary>
                      <m:naryPr>
                        <m:chr m:val="∑"/>
                        <m:ctrlPr>
                          <a:rPr lang="tr-TR" altLang="en-US" sz="2000" i="1">
                            <a:latin typeface="Cambria Math" panose="02040503050406030204" pitchFamily="18" charset="0"/>
                            <a:cs typeface="Arial" panose="020B0604020202020204" pitchFamily="34" charset="0"/>
                          </a:rPr>
                        </m:ctrlPr>
                      </m:naryPr>
                      <m:sub>
                        <m:r>
                          <m:rPr>
                            <m:brk m:alnAt="23"/>
                          </m:rPr>
                          <a:rPr lang="tr-TR" altLang="en-US" sz="2000" i="1">
                            <a:latin typeface="Cambria Math" panose="02040503050406030204" pitchFamily="18" charset="0"/>
                            <a:cs typeface="Arial" panose="020B0604020202020204" pitchFamily="34" charset="0"/>
                          </a:rPr>
                          <m:t>𝑖</m:t>
                        </m:r>
                        <m:r>
                          <a:rPr lang="tr-TR" altLang="en-US" sz="2000" i="1">
                            <a:latin typeface="Cambria Math" panose="02040503050406030204" pitchFamily="18" charset="0"/>
                            <a:cs typeface="Arial" panose="020B0604020202020204" pitchFamily="34" charset="0"/>
                          </a:rPr>
                          <m:t>=1</m:t>
                        </m:r>
                      </m:sub>
                      <m:sup>
                        <m:r>
                          <a:rPr lang="tr-TR" altLang="en-US" sz="2000" i="1">
                            <a:latin typeface="Cambria Math" panose="02040503050406030204" pitchFamily="18" charset="0"/>
                            <a:cs typeface="Arial" panose="020B0604020202020204" pitchFamily="34" charset="0"/>
                          </a:rPr>
                          <m:t>𝑐</m:t>
                        </m:r>
                      </m:sup>
                      <m:e>
                        <m:r>
                          <a:rPr lang="tr-TR" altLang="en-US" sz="2000" i="1">
                            <a:latin typeface="Cambria Math" panose="02040503050406030204" pitchFamily="18" charset="0"/>
                            <a:cs typeface="Arial" panose="020B0604020202020204" pitchFamily="34" charset="0"/>
                          </a:rPr>
                          <m:t>−</m:t>
                        </m:r>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𝑙𝑜𝑔</m:t>
                            </m:r>
                          </m:e>
                          <m:sub>
                            <m:r>
                              <a:rPr lang="tr-TR" altLang="en-US" sz="2000" i="1">
                                <a:latin typeface="Cambria Math" panose="02040503050406030204" pitchFamily="18" charset="0"/>
                                <a:cs typeface="Arial" panose="020B0604020202020204" pitchFamily="34" charset="0"/>
                              </a:rPr>
                              <m:t>2</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e>
                    </m:nary>
                  </m:oMath>
                </a14:m>
                <a:r>
                  <a:rPr lang="tr-TR" altLang="en-US" sz="2000" dirty="0">
                    <a:latin typeface="Arial" panose="020B0604020202020204" pitchFamily="34" charset="0"/>
                    <a:cs typeface="Arial" panose="020B0604020202020204" pitchFamily="34" charset="0"/>
                  </a:rPr>
                  <a:t> = </a:t>
                </a:r>
                <a:r>
                  <a:rPr lang="tr-TR" sz="2000" dirty="0">
                    <a:latin typeface="Arial" panose="020B0604020202020204" pitchFamily="34" charset="0"/>
                    <a:cs typeface="Arial" panose="020B0604020202020204" pitchFamily="34" charset="0"/>
                  </a:rPr>
                  <a:t>-</a:t>
                </a:r>
                <a14:m>
                  <m:oMath xmlns:m="http://schemas.openxmlformats.org/officeDocument/2006/math">
                    <m:f>
                      <m:fPr>
                        <m:ctrlPr>
                          <a:rPr lang="tr-TR" sz="2000" i="1">
                            <a:latin typeface="Cambria Math" panose="02040503050406030204" pitchFamily="18" charset="0"/>
                          </a:rPr>
                        </m:ctrlPr>
                      </m:fPr>
                      <m:num>
                        <m:r>
                          <a:rPr lang="tr-TR" sz="2000" b="0" i="1" smtClean="0">
                            <a:latin typeface="Cambria Math" panose="02040503050406030204" pitchFamily="18" charset="0"/>
                          </a:rPr>
                          <m:t>3</m:t>
                        </m:r>
                      </m:num>
                      <m:den>
                        <m:r>
                          <a:rPr lang="tr-TR" sz="2000" b="0" i="1" smtClean="0">
                            <a:latin typeface="Cambria Math" panose="02040503050406030204" pitchFamily="18" charset="0"/>
                          </a:rPr>
                          <m:t>5</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b="0" i="1" smtClean="0">
                            <a:latin typeface="Cambria Math" panose="02040503050406030204" pitchFamily="18" charset="0"/>
                          </a:rPr>
                          <m:t>3</m:t>
                        </m:r>
                      </m:num>
                      <m:den>
                        <m:r>
                          <a:rPr lang="tr-TR" sz="2000" b="0" i="1" smtClean="0">
                            <a:latin typeface="Cambria Math" panose="02040503050406030204" pitchFamily="18" charset="0"/>
                          </a:rPr>
                          <m:t>5</m:t>
                        </m:r>
                      </m:den>
                    </m:f>
                    <m:r>
                      <a:rPr lang="tr-TR" sz="2000">
                        <a:latin typeface="Cambria Math" panose="02040503050406030204" pitchFamily="18" charset="0"/>
                      </a:rPr>
                      <m:t>−</m:t>
                    </m:r>
                    <m:f>
                      <m:fPr>
                        <m:ctrlPr>
                          <a:rPr lang="tr-TR" sz="2000" i="1">
                            <a:latin typeface="Cambria Math" panose="02040503050406030204" pitchFamily="18" charset="0"/>
                          </a:rPr>
                        </m:ctrlPr>
                      </m:fPr>
                      <m:num>
                        <m:r>
                          <a:rPr lang="tr-TR" sz="2000" b="0" i="1" smtClean="0">
                            <a:latin typeface="Cambria Math" panose="02040503050406030204" pitchFamily="18" charset="0"/>
                          </a:rPr>
                          <m:t>2</m:t>
                        </m:r>
                      </m:num>
                      <m:den>
                        <m:r>
                          <a:rPr lang="tr-TR" sz="2000" b="0" i="1" smtClean="0">
                            <a:latin typeface="Cambria Math" panose="02040503050406030204" pitchFamily="18" charset="0"/>
                          </a:rPr>
                          <m:t>5</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b="0" i="1" smtClean="0">
                            <a:latin typeface="Cambria Math" panose="02040503050406030204" pitchFamily="18" charset="0"/>
                          </a:rPr>
                          <m:t>2</m:t>
                        </m:r>
                      </m:num>
                      <m:den>
                        <m:r>
                          <a:rPr lang="tr-TR" sz="2000" b="0" i="1" smtClean="0">
                            <a:latin typeface="Cambria Math" panose="02040503050406030204" pitchFamily="18" charset="0"/>
                          </a:rPr>
                          <m:t>5</m:t>
                        </m:r>
                      </m:den>
                    </m:f>
                  </m:oMath>
                </a14:m>
                <a:r>
                  <a:rPr lang="tr-TR" sz="2000" dirty="0">
                    <a:latin typeface="Arial" panose="020B0604020202020204" pitchFamily="34" charset="0"/>
                    <a:cs typeface="Arial" panose="020B0604020202020204" pitchFamily="34" charset="0"/>
                  </a:rPr>
                  <a:t> = </a:t>
                </a:r>
                <a:r>
                  <a:rPr lang="tr-TR" sz="2000" b="1" u="sng" dirty="0">
                    <a:solidFill>
                      <a:srgbClr val="FF0000"/>
                    </a:solidFill>
                    <a:latin typeface="Arial" panose="020B0604020202020204" pitchFamily="34" charset="0"/>
                    <a:cs typeface="Arial" panose="020B0604020202020204" pitchFamily="34" charset="0"/>
                  </a:rPr>
                  <a:t>0.97</a:t>
                </a:r>
                <a:endParaRPr lang="tr-TR" altLang="en-US" sz="2000" b="1" u="sng" dirty="0">
                  <a:solidFill>
                    <a:srgbClr val="FF0000"/>
                  </a:solidFill>
                  <a:latin typeface="Arial" panose="020B0604020202020204" pitchFamily="34" charset="0"/>
                  <a:cs typeface="Arial" panose="020B0604020202020204" pitchFamily="34" charset="0"/>
                </a:endParaRPr>
              </a:p>
              <a:p>
                <a14:m>
                  <m:oMath xmlns:m="http://schemas.openxmlformats.org/officeDocument/2006/math">
                    <m:r>
                      <a:rPr lang="tr-TR" altLang="en-US" sz="2000" i="1">
                        <a:latin typeface="Cambria Math" panose="02040503050406030204" pitchFamily="18" charset="0"/>
                        <a:cs typeface="Arial" panose="020B0604020202020204" pitchFamily="34" charset="0"/>
                      </a:rPr>
                      <m:t>𝐸𝑛𝑡𝑟𝑜𝑝</m:t>
                    </m:r>
                    <m:r>
                      <a:rPr lang="tr-TR" altLang="en-US" sz="2000" b="0" i="1" smtClean="0">
                        <a:latin typeface="Cambria Math" panose="02040503050406030204" pitchFamily="18" charset="0"/>
                        <a:cs typeface="Arial" panose="020B0604020202020204" pitchFamily="34" charset="0"/>
                      </a:rPr>
                      <m:t>𝑦</m:t>
                    </m:r>
                    <m:d>
                      <m:dPr>
                        <m:ctrlPr>
                          <a:rPr lang="tr-TR" altLang="en-US" sz="2000" i="1">
                            <a:latin typeface="Cambria Math" panose="02040503050406030204" pitchFamily="18" charset="0"/>
                            <a:cs typeface="Arial" panose="020B0604020202020204" pitchFamily="34" charset="0"/>
                          </a:rPr>
                        </m:ctrlPr>
                      </m:dPr>
                      <m:e>
                        <m:r>
                          <a:rPr lang="tr-TR" altLang="en-US" sz="2000" b="0" i="1" smtClean="0">
                            <a:solidFill>
                              <a:srgbClr val="FF0000"/>
                            </a:solidFill>
                            <a:latin typeface="Cambria Math" panose="02040503050406030204" pitchFamily="18" charset="0"/>
                            <a:cs typeface="Arial" panose="020B0604020202020204" pitchFamily="34" charset="0"/>
                          </a:rPr>
                          <m:t>𝑀𝑖𝑑𝑑𝑙𝑒</m:t>
                        </m:r>
                      </m:e>
                    </m:d>
                    <m:r>
                      <a:rPr lang="tr-TR" altLang="en-US" sz="2000" i="1">
                        <a:latin typeface="Cambria Math" panose="02040503050406030204" pitchFamily="18" charset="0"/>
                        <a:cs typeface="Arial" panose="020B0604020202020204" pitchFamily="34" charset="0"/>
                      </a:rPr>
                      <m:t>=</m:t>
                    </m:r>
                    <m:nary>
                      <m:naryPr>
                        <m:chr m:val="∑"/>
                        <m:ctrlPr>
                          <a:rPr lang="tr-TR" altLang="en-US" sz="2000" i="1">
                            <a:latin typeface="Cambria Math" panose="02040503050406030204" pitchFamily="18" charset="0"/>
                            <a:cs typeface="Arial" panose="020B0604020202020204" pitchFamily="34" charset="0"/>
                          </a:rPr>
                        </m:ctrlPr>
                      </m:naryPr>
                      <m:sub>
                        <m:r>
                          <m:rPr>
                            <m:brk m:alnAt="23"/>
                          </m:rPr>
                          <a:rPr lang="tr-TR" altLang="en-US" sz="2000" i="1">
                            <a:latin typeface="Cambria Math" panose="02040503050406030204" pitchFamily="18" charset="0"/>
                            <a:cs typeface="Arial" panose="020B0604020202020204" pitchFamily="34" charset="0"/>
                          </a:rPr>
                          <m:t>𝑖</m:t>
                        </m:r>
                        <m:r>
                          <a:rPr lang="tr-TR" altLang="en-US" sz="2000" i="1">
                            <a:latin typeface="Cambria Math" panose="02040503050406030204" pitchFamily="18" charset="0"/>
                            <a:cs typeface="Arial" panose="020B0604020202020204" pitchFamily="34" charset="0"/>
                          </a:rPr>
                          <m:t>=1</m:t>
                        </m:r>
                      </m:sub>
                      <m:sup>
                        <m:r>
                          <a:rPr lang="tr-TR" altLang="en-US" sz="2000" i="1">
                            <a:latin typeface="Cambria Math" panose="02040503050406030204" pitchFamily="18" charset="0"/>
                            <a:cs typeface="Arial" panose="020B0604020202020204" pitchFamily="34" charset="0"/>
                          </a:rPr>
                          <m:t>𝑐</m:t>
                        </m:r>
                      </m:sup>
                      <m:e>
                        <m:r>
                          <a:rPr lang="tr-TR" altLang="en-US" sz="2000" i="1">
                            <a:latin typeface="Cambria Math" panose="02040503050406030204" pitchFamily="18" charset="0"/>
                            <a:cs typeface="Arial" panose="020B0604020202020204" pitchFamily="34" charset="0"/>
                          </a:rPr>
                          <m:t>−</m:t>
                        </m:r>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𝑙𝑜𝑔</m:t>
                            </m:r>
                          </m:e>
                          <m:sub>
                            <m:r>
                              <a:rPr lang="tr-TR" altLang="en-US" sz="2000" i="1">
                                <a:latin typeface="Cambria Math" panose="02040503050406030204" pitchFamily="18" charset="0"/>
                                <a:cs typeface="Arial" panose="020B0604020202020204" pitchFamily="34" charset="0"/>
                              </a:rPr>
                              <m:t>2</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e>
                    </m:nary>
                  </m:oMath>
                </a14:m>
                <a:r>
                  <a:rPr lang="tr-TR" altLang="en-US" sz="2000" dirty="0">
                    <a:latin typeface="Arial" panose="020B0604020202020204" pitchFamily="34" charset="0"/>
                    <a:cs typeface="Arial" panose="020B0604020202020204" pitchFamily="34" charset="0"/>
                  </a:rPr>
                  <a:t> = </a:t>
                </a:r>
                <a:r>
                  <a:rPr lang="tr-TR" sz="2000" dirty="0">
                    <a:latin typeface="Arial" panose="020B0604020202020204" pitchFamily="34" charset="0"/>
                    <a:cs typeface="Arial" panose="020B0604020202020204" pitchFamily="34" charset="0"/>
                  </a:rPr>
                  <a:t>-</a:t>
                </a:r>
                <a14:m>
                  <m:oMath xmlns:m="http://schemas.openxmlformats.org/officeDocument/2006/math">
                    <m:f>
                      <m:fPr>
                        <m:ctrlPr>
                          <a:rPr lang="tr-TR" sz="2000" i="1">
                            <a:latin typeface="Cambria Math" panose="02040503050406030204" pitchFamily="18" charset="0"/>
                          </a:rPr>
                        </m:ctrlPr>
                      </m:fPr>
                      <m:num>
                        <m:r>
                          <a:rPr lang="tr-TR" sz="2000" b="0" i="1" smtClean="0">
                            <a:latin typeface="Cambria Math" panose="02040503050406030204" pitchFamily="18" charset="0"/>
                          </a:rPr>
                          <m:t>0</m:t>
                        </m:r>
                      </m:num>
                      <m:den>
                        <m:r>
                          <a:rPr lang="tr-TR" sz="2000" b="0" i="1" smtClean="0">
                            <a:latin typeface="Cambria Math" panose="02040503050406030204" pitchFamily="18" charset="0"/>
                          </a:rPr>
                          <m:t>4</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b="0" i="1" smtClean="0">
                            <a:latin typeface="Cambria Math" panose="02040503050406030204" pitchFamily="18" charset="0"/>
                          </a:rPr>
                          <m:t>0</m:t>
                        </m:r>
                      </m:num>
                      <m:den>
                        <m:r>
                          <a:rPr lang="tr-TR" sz="2000" b="0" i="1" smtClean="0">
                            <a:latin typeface="Cambria Math" panose="02040503050406030204" pitchFamily="18" charset="0"/>
                          </a:rPr>
                          <m:t>4</m:t>
                        </m:r>
                      </m:den>
                    </m:f>
                    <m:r>
                      <a:rPr lang="tr-TR" sz="2000">
                        <a:latin typeface="Cambria Math" panose="02040503050406030204" pitchFamily="18" charset="0"/>
                      </a:rPr>
                      <m:t>−</m:t>
                    </m:r>
                    <m:f>
                      <m:fPr>
                        <m:ctrlPr>
                          <a:rPr lang="tr-TR" sz="2000" i="1">
                            <a:latin typeface="Cambria Math" panose="02040503050406030204" pitchFamily="18" charset="0"/>
                          </a:rPr>
                        </m:ctrlPr>
                      </m:fPr>
                      <m:num>
                        <m:r>
                          <a:rPr lang="tr-TR" sz="2000" b="0" i="1" smtClean="0">
                            <a:latin typeface="Cambria Math" panose="02040503050406030204" pitchFamily="18" charset="0"/>
                          </a:rPr>
                          <m:t>4</m:t>
                        </m:r>
                      </m:num>
                      <m:den>
                        <m:r>
                          <a:rPr lang="tr-TR" sz="2000" b="0" i="1" smtClean="0">
                            <a:latin typeface="Cambria Math" panose="02040503050406030204" pitchFamily="18" charset="0"/>
                          </a:rPr>
                          <m:t>4</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b="0" i="1" smtClean="0">
                            <a:latin typeface="Cambria Math" panose="02040503050406030204" pitchFamily="18" charset="0"/>
                          </a:rPr>
                          <m:t>4</m:t>
                        </m:r>
                      </m:num>
                      <m:den>
                        <m:r>
                          <a:rPr lang="tr-TR" sz="2000" b="0" i="1" smtClean="0">
                            <a:latin typeface="Cambria Math" panose="02040503050406030204" pitchFamily="18" charset="0"/>
                          </a:rPr>
                          <m:t>4</m:t>
                        </m:r>
                      </m:den>
                    </m:f>
                  </m:oMath>
                </a14:m>
                <a:r>
                  <a:rPr lang="tr-TR" sz="2000" dirty="0">
                    <a:latin typeface="Arial" panose="020B0604020202020204" pitchFamily="34" charset="0"/>
                    <a:cs typeface="Arial" panose="020B0604020202020204" pitchFamily="34" charset="0"/>
                  </a:rPr>
                  <a:t> = </a:t>
                </a:r>
                <a:r>
                  <a:rPr lang="tr-TR" sz="2000" b="1" u="sng" dirty="0">
                    <a:solidFill>
                      <a:srgbClr val="FF0000"/>
                    </a:solidFill>
                    <a:latin typeface="Arial" panose="020B0604020202020204" pitchFamily="34" charset="0"/>
                    <a:cs typeface="Arial" panose="020B0604020202020204" pitchFamily="34" charset="0"/>
                  </a:rPr>
                  <a:t>0</a:t>
                </a:r>
                <a:endParaRPr lang="tr-TR" altLang="en-US" sz="2000" b="1" u="sng" dirty="0">
                  <a:solidFill>
                    <a:srgbClr val="FF0000"/>
                  </a:solidFill>
                  <a:latin typeface="Arial" panose="020B0604020202020204" pitchFamily="34" charset="0"/>
                  <a:cs typeface="Arial" panose="020B0604020202020204" pitchFamily="34" charset="0"/>
                </a:endParaRPr>
              </a:p>
              <a:p>
                <a14:m>
                  <m:oMath xmlns:m="http://schemas.openxmlformats.org/officeDocument/2006/math">
                    <m:r>
                      <a:rPr lang="tr-TR" altLang="en-US" sz="2000" i="1">
                        <a:latin typeface="Cambria Math" panose="02040503050406030204" pitchFamily="18" charset="0"/>
                        <a:cs typeface="Arial" panose="020B0604020202020204" pitchFamily="34" charset="0"/>
                      </a:rPr>
                      <m:t>𝐸𝑛𝑡𝑟𝑜𝑝</m:t>
                    </m:r>
                    <m:r>
                      <a:rPr lang="tr-TR" altLang="en-US" sz="2000" b="0" i="1" smtClean="0">
                        <a:latin typeface="Cambria Math" panose="02040503050406030204" pitchFamily="18" charset="0"/>
                        <a:cs typeface="Arial" panose="020B0604020202020204" pitchFamily="34" charset="0"/>
                      </a:rPr>
                      <m:t>𝑦</m:t>
                    </m:r>
                    <m:d>
                      <m:dPr>
                        <m:ctrlPr>
                          <a:rPr lang="tr-TR" altLang="en-US" sz="2000" i="1">
                            <a:latin typeface="Cambria Math" panose="02040503050406030204" pitchFamily="18" charset="0"/>
                            <a:cs typeface="Arial" panose="020B0604020202020204" pitchFamily="34" charset="0"/>
                          </a:rPr>
                        </m:ctrlPr>
                      </m:dPr>
                      <m:e>
                        <m:r>
                          <a:rPr lang="tr-TR" altLang="en-US" sz="2000" b="0" i="1" smtClean="0">
                            <a:solidFill>
                              <a:srgbClr val="FF0000"/>
                            </a:solidFill>
                            <a:latin typeface="Cambria Math" panose="02040503050406030204" pitchFamily="18" charset="0"/>
                            <a:cs typeface="Arial" panose="020B0604020202020204" pitchFamily="34" charset="0"/>
                          </a:rPr>
                          <m:t>𝑂𝑙𝑑</m:t>
                        </m:r>
                      </m:e>
                    </m:d>
                    <m:r>
                      <a:rPr lang="tr-TR" altLang="en-US" sz="2000" i="1">
                        <a:latin typeface="Cambria Math" panose="02040503050406030204" pitchFamily="18" charset="0"/>
                        <a:cs typeface="Arial" panose="020B0604020202020204" pitchFamily="34" charset="0"/>
                      </a:rPr>
                      <m:t>=</m:t>
                    </m:r>
                    <m:nary>
                      <m:naryPr>
                        <m:chr m:val="∑"/>
                        <m:ctrlPr>
                          <a:rPr lang="tr-TR" altLang="en-US" sz="2000" i="1">
                            <a:latin typeface="Cambria Math" panose="02040503050406030204" pitchFamily="18" charset="0"/>
                            <a:cs typeface="Arial" panose="020B0604020202020204" pitchFamily="34" charset="0"/>
                          </a:rPr>
                        </m:ctrlPr>
                      </m:naryPr>
                      <m:sub>
                        <m:r>
                          <m:rPr>
                            <m:brk m:alnAt="23"/>
                          </m:rPr>
                          <a:rPr lang="tr-TR" altLang="en-US" sz="2000" i="1">
                            <a:latin typeface="Cambria Math" panose="02040503050406030204" pitchFamily="18" charset="0"/>
                            <a:cs typeface="Arial" panose="020B0604020202020204" pitchFamily="34" charset="0"/>
                          </a:rPr>
                          <m:t>𝑖</m:t>
                        </m:r>
                        <m:r>
                          <a:rPr lang="tr-TR" altLang="en-US" sz="2000" i="1">
                            <a:latin typeface="Cambria Math" panose="02040503050406030204" pitchFamily="18" charset="0"/>
                            <a:cs typeface="Arial" panose="020B0604020202020204" pitchFamily="34" charset="0"/>
                          </a:rPr>
                          <m:t>=1</m:t>
                        </m:r>
                      </m:sub>
                      <m:sup>
                        <m:r>
                          <a:rPr lang="tr-TR" altLang="en-US" sz="2000" i="1">
                            <a:latin typeface="Cambria Math" panose="02040503050406030204" pitchFamily="18" charset="0"/>
                            <a:cs typeface="Arial" panose="020B0604020202020204" pitchFamily="34" charset="0"/>
                          </a:rPr>
                          <m:t>𝑐</m:t>
                        </m:r>
                      </m:sup>
                      <m:e>
                        <m:r>
                          <a:rPr lang="tr-TR" altLang="en-US" sz="2000" i="1">
                            <a:latin typeface="Cambria Math" panose="02040503050406030204" pitchFamily="18" charset="0"/>
                            <a:cs typeface="Arial" panose="020B0604020202020204" pitchFamily="34" charset="0"/>
                          </a:rPr>
                          <m:t>−</m:t>
                        </m:r>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𝑙𝑜𝑔</m:t>
                            </m:r>
                          </m:e>
                          <m:sub>
                            <m:r>
                              <a:rPr lang="tr-TR" altLang="en-US" sz="2000" i="1">
                                <a:latin typeface="Cambria Math" panose="02040503050406030204" pitchFamily="18" charset="0"/>
                                <a:cs typeface="Arial" panose="020B0604020202020204" pitchFamily="34" charset="0"/>
                              </a:rPr>
                              <m:t>2</m:t>
                            </m:r>
                          </m:sub>
                        </m:sSub>
                        <m:sSub>
                          <m:sSubPr>
                            <m:ctrlPr>
                              <a:rPr lang="tr-TR" altLang="en-US" sz="2000" i="1">
                                <a:latin typeface="Cambria Math" panose="02040503050406030204" pitchFamily="18" charset="0"/>
                                <a:cs typeface="Arial" panose="020B0604020202020204" pitchFamily="34" charset="0"/>
                              </a:rPr>
                            </m:ctrlPr>
                          </m:sSubPr>
                          <m:e>
                            <m:r>
                              <a:rPr lang="tr-TR" altLang="en-US" sz="2000" i="1">
                                <a:latin typeface="Cambria Math" panose="02040503050406030204" pitchFamily="18" charset="0"/>
                                <a:cs typeface="Arial" panose="020B0604020202020204" pitchFamily="34" charset="0"/>
                              </a:rPr>
                              <m:t>𝑝</m:t>
                            </m:r>
                          </m:e>
                          <m:sub>
                            <m:r>
                              <a:rPr lang="tr-TR" altLang="en-US" sz="2000" i="1">
                                <a:latin typeface="Cambria Math" panose="02040503050406030204" pitchFamily="18" charset="0"/>
                                <a:cs typeface="Arial" panose="020B0604020202020204" pitchFamily="34" charset="0"/>
                              </a:rPr>
                              <m:t>𝑖</m:t>
                            </m:r>
                          </m:sub>
                        </m:sSub>
                      </m:e>
                    </m:nary>
                  </m:oMath>
                </a14:m>
                <a:r>
                  <a:rPr lang="tr-TR" altLang="en-US" sz="2000" dirty="0">
                    <a:latin typeface="Arial" panose="020B0604020202020204" pitchFamily="34" charset="0"/>
                    <a:cs typeface="Arial" panose="020B0604020202020204" pitchFamily="34" charset="0"/>
                  </a:rPr>
                  <a:t> = </a:t>
                </a:r>
                <a:r>
                  <a:rPr lang="tr-TR" sz="2000" dirty="0">
                    <a:latin typeface="Arial" panose="020B0604020202020204" pitchFamily="34" charset="0"/>
                    <a:cs typeface="Arial" panose="020B0604020202020204" pitchFamily="34" charset="0"/>
                  </a:rPr>
                  <a:t>-</a:t>
                </a:r>
                <a14:m>
                  <m:oMath xmlns:m="http://schemas.openxmlformats.org/officeDocument/2006/math">
                    <m:f>
                      <m:fPr>
                        <m:ctrlPr>
                          <a:rPr lang="tr-TR" sz="2000" i="1">
                            <a:latin typeface="Cambria Math" panose="02040503050406030204" pitchFamily="18" charset="0"/>
                          </a:rPr>
                        </m:ctrlPr>
                      </m:fPr>
                      <m:num>
                        <m:r>
                          <a:rPr lang="tr-TR" sz="2000" b="0" i="1" smtClean="0">
                            <a:latin typeface="Cambria Math" panose="02040503050406030204" pitchFamily="18" charset="0"/>
                          </a:rPr>
                          <m:t>2</m:t>
                        </m:r>
                      </m:num>
                      <m:den>
                        <m:r>
                          <a:rPr lang="tr-TR" sz="2000" i="1">
                            <a:latin typeface="Cambria Math" panose="02040503050406030204" pitchFamily="18" charset="0"/>
                          </a:rPr>
                          <m:t>5</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b="0" i="1" smtClean="0">
                            <a:latin typeface="Cambria Math" panose="02040503050406030204" pitchFamily="18" charset="0"/>
                          </a:rPr>
                          <m:t>2</m:t>
                        </m:r>
                      </m:num>
                      <m:den>
                        <m:r>
                          <a:rPr lang="tr-TR" sz="2000" i="1">
                            <a:latin typeface="Cambria Math" panose="02040503050406030204" pitchFamily="18" charset="0"/>
                          </a:rPr>
                          <m:t>5</m:t>
                        </m:r>
                      </m:den>
                    </m:f>
                    <m:r>
                      <a:rPr lang="tr-TR" sz="2000">
                        <a:latin typeface="Cambria Math" panose="02040503050406030204" pitchFamily="18" charset="0"/>
                      </a:rPr>
                      <m:t>−</m:t>
                    </m:r>
                    <m:f>
                      <m:fPr>
                        <m:ctrlPr>
                          <a:rPr lang="tr-TR" sz="2000" i="1">
                            <a:latin typeface="Cambria Math" panose="02040503050406030204" pitchFamily="18" charset="0"/>
                          </a:rPr>
                        </m:ctrlPr>
                      </m:fPr>
                      <m:num>
                        <m:r>
                          <a:rPr lang="tr-TR" sz="2000" b="0" i="1" smtClean="0">
                            <a:latin typeface="Cambria Math" panose="02040503050406030204" pitchFamily="18" charset="0"/>
                          </a:rPr>
                          <m:t>3</m:t>
                        </m:r>
                      </m:num>
                      <m:den>
                        <m:r>
                          <a:rPr lang="tr-TR" sz="2000" i="1">
                            <a:latin typeface="Cambria Math" panose="02040503050406030204" pitchFamily="18" charset="0"/>
                          </a:rPr>
                          <m:t>5</m:t>
                        </m:r>
                      </m:den>
                    </m:f>
                    <m:sSub>
                      <m:sSubPr>
                        <m:ctrlPr>
                          <a:rPr lang="tr-TR" sz="2000" i="1">
                            <a:latin typeface="Cambria Math" panose="02040503050406030204" pitchFamily="18" charset="0"/>
                          </a:rPr>
                        </m:ctrlPr>
                      </m:sSubPr>
                      <m:e>
                        <m:r>
                          <a:rPr lang="tr-TR" sz="2000" i="1">
                            <a:latin typeface="Cambria Math" panose="02040503050406030204" pitchFamily="18" charset="0"/>
                          </a:rPr>
                          <m:t>𝑙𝑜𝑔</m:t>
                        </m:r>
                      </m:e>
                      <m:sub>
                        <m:r>
                          <a:rPr lang="tr-TR" sz="2000" i="1">
                            <a:latin typeface="Cambria Math" panose="02040503050406030204" pitchFamily="18" charset="0"/>
                          </a:rPr>
                          <m:t>2</m:t>
                        </m:r>
                      </m:sub>
                    </m:sSub>
                    <m:f>
                      <m:fPr>
                        <m:ctrlPr>
                          <a:rPr lang="tr-TR" sz="2000" i="1">
                            <a:latin typeface="Cambria Math" panose="02040503050406030204" pitchFamily="18" charset="0"/>
                          </a:rPr>
                        </m:ctrlPr>
                      </m:fPr>
                      <m:num>
                        <m:r>
                          <a:rPr lang="tr-TR" sz="2000" b="0" i="1" smtClean="0">
                            <a:latin typeface="Cambria Math" panose="02040503050406030204" pitchFamily="18" charset="0"/>
                          </a:rPr>
                          <m:t>3</m:t>
                        </m:r>
                      </m:num>
                      <m:den>
                        <m:r>
                          <a:rPr lang="tr-TR" sz="2000" i="1">
                            <a:latin typeface="Cambria Math" panose="02040503050406030204" pitchFamily="18" charset="0"/>
                          </a:rPr>
                          <m:t>5</m:t>
                        </m:r>
                      </m:den>
                    </m:f>
                  </m:oMath>
                </a14:m>
                <a:r>
                  <a:rPr lang="tr-TR" sz="2000" dirty="0">
                    <a:latin typeface="Arial" panose="020B0604020202020204" pitchFamily="34" charset="0"/>
                    <a:cs typeface="Arial" panose="020B0604020202020204" pitchFamily="34" charset="0"/>
                  </a:rPr>
                  <a:t> = </a:t>
                </a:r>
                <a:r>
                  <a:rPr lang="tr-TR" sz="2000" b="1" u="sng" dirty="0">
                    <a:solidFill>
                      <a:srgbClr val="FF0000"/>
                    </a:solidFill>
                    <a:latin typeface="Arial" panose="020B0604020202020204" pitchFamily="34" charset="0"/>
                    <a:cs typeface="Arial" panose="020B0604020202020204" pitchFamily="34" charset="0"/>
                  </a:rPr>
                  <a:t>0.97</a:t>
                </a:r>
                <a:endParaRPr lang="tr-TR" altLang="en-US" sz="2000" b="1" u="sng" dirty="0">
                  <a:solidFill>
                    <a:srgbClr val="FF0000"/>
                  </a:solidFill>
                  <a:latin typeface="Arial" panose="020B0604020202020204" pitchFamily="34" charset="0"/>
                  <a:cs typeface="Arial" panose="020B0604020202020204" pitchFamily="34" charset="0"/>
                </a:endParaRPr>
              </a:p>
              <a:p>
                <a:r>
                  <a:rPr lang="tr-TR"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mc:Choice>
        <mc:Fallback xmlns="">
          <p:sp>
            <p:nvSpPr>
              <p:cNvPr id="25" name="Rectangle 24"/>
              <p:cNvSpPr>
                <a:spLocks noRot="1" noChangeAspect="1" noMove="1" noResize="1" noEditPoints="1" noAdjustHandles="1" noChangeArrowheads="1" noChangeShapeType="1" noTextEdit="1"/>
              </p:cNvSpPr>
              <p:nvPr/>
            </p:nvSpPr>
            <p:spPr>
              <a:xfrm>
                <a:off x="3504490" y="2721793"/>
                <a:ext cx="7995346" cy="1709699"/>
              </a:xfrm>
              <a:prstGeom prst="rect">
                <a:avLst/>
              </a:prstGeom>
              <a:blipFill>
                <a:blip r:embed="rId3"/>
                <a:stretch>
                  <a:fillRect l="-305"/>
                </a:stretch>
              </a:blipFill>
            </p:spPr>
            <p:txBody>
              <a:bodyPr/>
              <a:lstStyle/>
              <a:p>
                <a:r>
                  <a:rPr lang="en-US">
                    <a:noFill/>
                  </a:rPr>
                  <a:t> </a:t>
                </a:r>
              </a:p>
            </p:txBody>
          </p:sp>
        </mc:Fallback>
      </mc:AlternateContent>
      <p:grpSp>
        <p:nvGrpSpPr>
          <p:cNvPr id="26" name="Group 25"/>
          <p:cNvGrpSpPr/>
          <p:nvPr/>
        </p:nvGrpSpPr>
        <p:grpSpPr>
          <a:xfrm>
            <a:off x="9202994" y="203204"/>
            <a:ext cx="2861186" cy="1610534"/>
            <a:chOff x="2801202" y="1690688"/>
            <a:chExt cx="5638800" cy="4419600"/>
          </a:xfrm>
        </p:grpSpPr>
        <p:sp>
          <p:nvSpPr>
            <p:cNvPr id="27" name="Oval 3"/>
            <p:cNvSpPr>
              <a:spLocks noChangeArrowheads="1"/>
            </p:cNvSpPr>
            <p:nvPr/>
          </p:nvSpPr>
          <p:spPr bwMode="auto">
            <a:xfrm>
              <a:off x="4858602" y="1690688"/>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solidFill>
                    <a:schemeClr val="accent1">
                      <a:lumMod val="40000"/>
                      <a:lumOff val="60000"/>
                    </a:schemeClr>
                  </a:solidFill>
                  <a:latin typeface="Calibri" panose="020F0502020204030204" pitchFamily="34" charset="0"/>
                  <a:cs typeface="Calibri" panose="020F0502020204030204" pitchFamily="34" charset="0"/>
                </a:rPr>
                <a:t>Age</a:t>
              </a:r>
            </a:p>
          </p:txBody>
        </p:sp>
        <p:sp>
          <p:nvSpPr>
            <p:cNvPr id="28" name="Line 7"/>
            <p:cNvSpPr>
              <a:spLocks noChangeShapeType="1"/>
            </p:cNvSpPr>
            <p:nvPr/>
          </p:nvSpPr>
          <p:spPr bwMode="auto">
            <a:xfrm flipH="1">
              <a:off x="36394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latin typeface="Calibri" panose="020F0502020204030204" pitchFamily="34" charset="0"/>
                <a:cs typeface="Calibri" panose="020F0502020204030204" pitchFamily="34" charset="0"/>
              </a:endParaRPr>
            </a:p>
          </p:txBody>
        </p:sp>
        <p:sp>
          <p:nvSpPr>
            <p:cNvPr id="29" name="Text Box 8"/>
            <p:cNvSpPr txBox="1">
              <a:spLocks noChangeArrowheads="1"/>
            </p:cNvSpPr>
            <p:nvPr/>
          </p:nvSpPr>
          <p:spPr bwMode="auto">
            <a:xfrm>
              <a:off x="3980715" y="2262189"/>
              <a:ext cx="1254702" cy="844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400" b="0" dirty="0">
                  <a:solidFill>
                    <a:schemeClr val="accent4">
                      <a:lumMod val="40000"/>
                      <a:lumOff val="60000"/>
                    </a:schemeClr>
                  </a:solidFill>
                  <a:latin typeface="Calibri" panose="020F0502020204030204" pitchFamily="34" charset="0"/>
                  <a:cs typeface="Calibri" panose="020F0502020204030204" pitchFamily="34" charset="0"/>
                </a:rPr>
                <a:t>Young</a:t>
              </a:r>
            </a:p>
          </p:txBody>
        </p:sp>
        <p:sp>
          <p:nvSpPr>
            <p:cNvPr id="30" name="Line 9"/>
            <p:cNvSpPr>
              <a:spLocks noChangeShapeType="1"/>
            </p:cNvSpPr>
            <p:nvPr/>
          </p:nvSpPr>
          <p:spPr bwMode="auto">
            <a:xfrm>
              <a:off x="5696802" y="2300288"/>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latin typeface="Calibri" panose="020F0502020204030204" pitchFamily="34" charset="0"/>
                <a:cs typeface="Calibri" panose="020F0502020204030204" pitchFamily="34" charset="0"/>
              </a:endParaRPr>
            </a:p>
          </p:txBody>
        </p:sp>
        <p:sp>
          <p:nvSpPr>
            <p:cNvPr id="31" name="Line 10"/>
            <p:cNvSpPr>
              <a:spLocks noChangeShapeType="1"/>
            </p:cNvSpPr>
            <p:nvPr/>
          </p:nvSpPr>
          <p:spPr bwMode="auto">
            <a:xfrm>
              <a:off x="58492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1400">
                <a:latin typeface="Calibri" panose="020F0502020204030204" pitchFamily="34" charset="0"/>
                <a:cs typeface="Calibri" panose="020F0502020204030204" pitchFamily="34" charset="0"/>
              </a:endParaRPr>
            </a:p>
          </p:txBody>
        </p:sp>
        <p:sp>
          <p:nvSpPr>
            <p:cNvPr id="32" name="Text Box 12"/>
            <p:cNvSpPr txBox="1">
              <a:spLocks noChangeArrowheads="1"/>
            </p:cNvSpPr>
            <p:nvPr/>
          </p:nvSpPr>
          <p:spPr bwMode="auto">
            <a:xfrm>
              <a:off x="5087199" y="2452690"/>
              <a:ext cx="1406469" cy="844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400" b="0" dirty="0">
                  <a:solidFill>
                    <a:schemeClr val="accent4">
                      <a:lumMod val="40000"/>
                      <a:lumOff val="60000"/>
                    </a:schemeClr>
                  </a:solidFill>
                  <a:latin typeface="Calibri" panose="020F0502020204030204" pitchFamily="34" charset="0"/>
                  <a:cs typeface="Calibri" panose="020F0502020204030204" pitchFamily="34" charset="0"/>
                </a:rPr>
                <a:t>Middle</a:t>
              </a:r>
            </a:p>
          </p:txBody>
        </p:sp>
        <p:sp>
          <p:nvSpPr>
            <p:cNvPr id="33" name="Text Box 8"/>
            <p:cNvSpPr txBox="1">
              <a:spLocks noChangeArrowheads="1"/>
            </p:cNvSpPr>
            <p:nvPr/>
          </p:nvSpPr>
          <p:spPr bwMode="auto">
            <a:xfrm>
              <a:off x="6500848" y="2095864"/>
              <a:ext cx="882043" cy="844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1400" b="0" dirty="0">
                  <a:solidFill>
                    <a:schemeClr val="accent4">
                      <a:lumMod val="40000"/>
                      <a:lumOff val="60000"/>
                    </a:schemeClr>
                  </a:solidFill>
                  <a:latin typeface="Calibri" panose="020F0502020204030204" pitchFamily="34" charset="0"/>
                  <a:cs typeface="Calibri" panose="020F0502020204030204" pitchFamily="34" charset="0"/>
                </a:rPr>
                <a:t>Old</a:t>
              </a:r>
            </a:p>
          </p:txBody>
        </p:sp>
        <p:sp>
          <p:nvSpPr>
            <p:cNvPr id="34" name="Rectangle 6"/>
            <p:cNvSpPr>
              <a:spLocks noChangeArrowheads="1"/>
            </p:cNvSpPr>
            <p:nvPr/>
          </p:nvSpPr>
          <p:spPr bwMode="auto">
            <a:xfrm>
              <a:off x="2801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Healthy</a:t>
              </a:r>
            </a:p>
          </p:txBody>
        </p:sp>
        <p:sp>
          <p:nvSpPr>
            <p:cNvPr id="35" name="Rectangle 6"/>
            <p:cNvSpPr>
              <a:spLocks noChangeArrowheads="1"/>
            </p:cNvSpPr>
            <p:nvPr/>
          </p:nvSpPr>
          <p:spPr bwMode="auto">
            <a:xfrm>
              <a:off x="2801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Healthy</a:t>
              </a:r>
            </a:p>
          </p:txBody>
        </p:sp>
        <p:sp>
          <p:nvSpPr>
            <p:cNvPr id="36" name="Rectangle 6"/>
            <p:cNvSpPr>
              <a:spLocks noChangeArrowheads="1"/>
            </p:cNvSpPr>
            <p:nvPr/>
          </p:nvSpPr>
          <p:spPr bwMode="auto">
            <a:xfrm>
              <a:off x="2801202" y="44338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Healthy</a:t>
              </a:r>
            </a:p>
          </p:txBody>
        </p:sp>
        <p:sp>
          <p:nvSpPr>
            <p:cNvPr id="37" name="Rectangle 6"/>
            <p:cNvSpPr>
              <a:spLocks noChangeArrowheads="1"/>
            </p:cNvSpPr>
            <p:nvPr/>
          </p:nvSpPr>
          <p:spPr bwMode="auto">
            <a:xfrm>
              <a:off x="2801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38" name="Rectangle 6"/>
            <p:cNvSpPr>
              <a:spLocks noChangeArrowheads="1"/>
            </p:cNvSpPr>
            <p:nvPr/>
          </p:nvSpPr>
          <p:spPr bwMode="auto">
            <a:xfrm>
              <a:off x="2801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39" name="Rectangle 6"/>
            <p:cNvSpPr>
              <a:spLocks noChangeArrowheads="1"/>
            </p:cNvSpPr>
            <p:nvPr/>
          </p:nvSpPr>
          <p:spPr bwMode="auto">
            <a:xfrm>
              <a:off x="5011002" y="3214688"/>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40" name="Rectangle 6"/>
            <p:cNvSpPr>
              <a:spLocks noChangeArrowheads="1"/>
            </p:cNvSpPr>
            <p:nvPr/>
          </p:nvSpPr>
          <p:spPr bwMode="auto">
            <a:xfrm>
              <a:off x="5011002" y="38242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41" name="Rectangle 6"/>
            <p:cNvSpPr>
              <a:spLocks noChangeArrowheads="1"/>
            </p:cNvSpPr>
            <p:nvPr/>
          </p:nvSpPr>
          <p:spPr bwMode="auto">
            <a:xfrm>
              <a:off x="50110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42" name="Rectangle 6"/>
            <p:cNvSpPr>
              <a:spLocks noChangeArrowheads="1"/>
            </p:cNvSpPr>
            <p:nvPr/>
          </p:nvSpPr>
          <p:spPr bwMode="auto">
            <a:xfrm>
              <a:off x="50110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43" name="Rectangle 6"/>
            <p:cNvSpPr>
              <a:spLocks noChangeArrowheads="1"/>
            </p:cNvSpPr>
            <p:nvPr/>
          </p:nvSpPr>
          <p:spPr bwMode="auto">
            <a:xfrm>
              <a:off x="6992202" y="3214689"/>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Healthy</a:t>
              </a:r>
            </a:p>
          </p:txBody>
        </p:sp>
        <p:sp>
          <p:nvSpPr>
            <p:cNvPr id="44" name="Rectangle 6"/>
            <p:cNvSpPr>
              <a:spLocks noChangeArrowheads="1"/>
            </p:cNvSpPr>
            <p:nvPr/>
          </p:nvSpPr>
          <p:spPr bwMode="auto">
            <a:xfrm>
              <a:off x="6992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Healthy</a:t>
              </a:r>
            </a:p>
          </p:txBody>
        </p:sp>
        <p:sp>
          <p:nvSpPr>
            <p:cNvPr id="45" name="Rectangle 6"/>
            <p:cNvSpPr>
              <a:spLocks noChangeArrowheads="1"/>
            </p:cNvSpPr>
            <p:nvPr/>
          </p:nvSpPr>
          <p:spPr bwMode="auto">
            <a:xfrm>
              <a:off x="69922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46" name="Rectangle 6"/>
            <p:cNvSpPr>
              <a:spLocks noChangeArrowheads="1"/>
            </p:cNvSpPr>
            <p:nvPr/>
          </p:nvSpPr>
          <p:spPr bwMode="auto">
            <a:xfrm>
              <a:off x="6992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sp>
          <p:nvSpPr>
            <p:cNvPr id="47" name="Rectangle 6"/>
            <p:cNvSpPr>
              <a:spLocks noChangeArrowheads="1"/>
            </p:cNvSpPr>
            <p:nvPr/>
          </p:nvSpPr>
          <p:spPr bwMode="auto">
            <a:xfrm>
              <a:off x="6992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1400" b="0" dirty="0">
                  <a:latin typeface="Calibri" panose="020F0502020204030204" pitchFamily="34" charset="0"/>
                  <a:cs typeface="Calibri" panose="020F0502020204030204" pitchFamily="34" charset="0"/>
                </a:rPr>
                <a:t>Sick</a:t>
              </a:r>
            </a:p>
          </p:txBody>
        </p:sp>
      </p:grpSp>
    </p:spTree>
    <p:extLst>
      <p:ext uri="{BB962C8B-B14F-4D97-AF65-F5344CB8AC3E}">
        <p14:creationId xmlns:p14="http://schemas.microsoft.com/office/powerpoint/2010/main" val="4219771843"/>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An Alternative Metric - Entropy</a:t>
            </a:r>
            <a:endParaRPr lang="en-US" altLang="en-US" b="1" dirty="0"/>
          </a:p>
        </p:txBody>
      </p:sp>
      <p:sp>
        <p:nvSpPr>
          <p:cNvPr id="77827" name="Rectangle 1027"/>
          <p:cNvSpPr>
            <a:spLocks noGrp="1" noChangeArrowheads="1"/>
          </p:cNvSpPr>
          <p:nvPr>
            <p:ph type="body" idx="1"/>
          </p:nvPr>
        </p:nvSpPr>
        <p:spPr>
          <a:xfrm>
            <a:off x="2940147" y="1936787"/>
            <a:ext cx="9124033" cy="4351338"/>
          </a:xfrm>
        </p:spPr>
        <p:txBody>
          <a:bodyPr>
            <a:noAutofit/>
          </a:bodyPr>
          <a:lstStyle/>
          <a:p>
            <a:pPr>
              <a:lnSpc>
                <a:spcPct val="120000"/>
              </a:lnSpc>
              <a:spcBef>
                <a:spcPts val="600"/>
              </a:spcBef>
            </a:pPr>
            <a:r>
              <a:rPr lang="en-US" altLang="en-US" sz="2400" dirty="0">
                <a:latin typeface="Calibri" panose="020F0502020204030204" pitchFamily="34" charset="0"/>
                <a:cs typeface="Calibri" panose="020F0502020204030204" pitchFamily="34" charset="0"/>
              </a:rPr>
              <a:t>Beginning Entropy</a:t>
            </a:r>
            <a:r>
              <a:rPr lang="en-US" altLang="en-US" sz="2400" dirty="0">
                <a:solidFill>
                  <a:srgbClr val="FF0000"/>
                </a:solidFill>
                <a:latin typeface="Calibri" panose="020F0502020204030204" pitchFamily="34" charset="0"/>
                <a:cs typeface="Calibri" panose="020F0502020204030204" pitchFamily="34" charset="0"/>
              </a:rPr>
              <a:t>= 0.94</a:t>
            </a:r>
            <a:endParaRPr lang="en-US" altLang="en-US" sz="2400"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Age</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0.69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0.94-0.69 = </a:t>
            </a:r>
            <a:r>
              <a:rPr lang="en-US" altLang="en-US" sz="2400" i="1" dirty="0">
                <a:solidFill>
                  <a:srgbClr val="00B050"/>
                </a:solidFill>
                <a:latin typeface="Calibri" panose="020F0502020204030204" pitchFamily="34" charset="0"/>
                <a:cs typeface="Calibri" panose="020F0502020204030204" pitchFamily="34" charset="0"/>
              </a:rPr>
              <a:t>0.25</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i="1"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BMI</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0.92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0.94-0.92 = </a:t>
            </a:r>
            <a:r>
              <a:rPr lang="en-US" altLang="en-US" sz="2400" i="1" dirty="0">
                <a:solidFill>
                  <a:srgbClr val="00B050"/>
                </a:solidFill>
                <a:latin typeface="Calibri" panose="020F0502020204030204" pitchFamily="34" charset="0"/>
                <a:cs typeface="Calibri" panose="020F0502020204030204" pitchFamily="34" charset="0"/>
              </a:rPr>
              <a:t>0.02</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dirty="0">
              <a:solidFill>
                <a:srgbClr val="FF0000"/>
              </a:solidFill>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Gender</a:t>
            </a:r>
            <a:r>
              <a:rPr lang="en-US" altLang="en-US" sz="2400" dirty="0">
                <a:latin typeface="Calibri" panose="020F0502020204030204" pitchFamily="34" charset="0"/>
                <a:cs typeface="Calibri" panose="020F0502020204030204" pitchFamily="34" charset="0"/>
              </a:rPr>
              <a:t> information</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latin typeface="Calibri" panose="020F0502020204030204" pitchFamily="34" charset="0"/>
                <a:cs typeface="Calibri" panose="020F0502020204030204" pitchFamily="34" charset="0"/>
              </a:rPr>
              <a:t>			</a:t>
            </a:r>
            <a:r>
              <a:rPr lang="en-US" altLang="en-US" sz="2400" dirty="0">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0.79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0.94-0.79 = </a:t>
            </a:r>
            <a:r>
              <a:rPr lang="en-US" altLang="en-US" sz="2400" i="1" dirty="0">
                <a:solidFill>
                  <a:srgbClr val="00B050"/>
                </a:solidFill>
                <a:latin typeface="Calibri" panose="020F0502020204030204" pitchFamily="34" charset="0"/>
                <a:cs typeface="Calibri" panose="020F0502020204030204" pitchFamily="34" charset="0"/>
              </a:rPr>
              <a:t>0.15</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err="1">
                <a:solidFill>
                  <a:srgbClr val="0070C0"/>
                </a:solidFill>
                <a:latin typeface="Calibri" panose="020F0502020204030204" pitchFamily="34" charset="0"/>
                <a:cs typeface="Calibri" panose="020F0502020204030204" pitchFamily="34" charset="0"/>
              </a:rPr>
              <a:t>IoS</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0.89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0.94-0.89 = </a:t>
            </a:r>
            <a:r>
              <a:rPr lang="en-US" altLang="en-US" sz="2400" i="1" dirty="0">
                <a:solidFill>
                  <a:srgbClr val="00B050"/>
                </a:solidFill>
                <a:latin typeface="Calibri" panose="020F0502020204030204" pitchFamily="34" charset="0"/>
                <a:cs typeface="Calibri" panose="020F0502020204030204" pitchFamily="34" charset="0"/>
              </a:rPr>
              <a:t>0.05</a:t>
            </a:r>
            <a:r>
              <a:rPr lang="en-US" altLang="en-US" sz="2400" i="1" dirty="0">
                <a:solidFill>
                  <a:srgbClr val="FF0000"/>
                </a:solidFill>
                <a:latin typeface="Calibri" panose="020F0502020204030204" pitchFamily="34" charset="0"/>
                <a:cs typeface="Calibri" panose="020F0502020204030204" pitchFamily="34" charset="0"/>
              </a:rPr>
              <a:t>)</a:t>
            </a:r>
          </a:p>
        </p:txBody>
      </p:sp>
      <p:grpSp>
        <p:nvGrpSpPr>
          <p:cNvPr id="2" name="Group 1"/>
          <p:cNvGrpSpPr/>
          <p:nvPr/>
        </p:nvGrpSpPr>
        <p:grpSpPr>
          <a:xfrm>
            <a:off x="838200" y="1936787"/>
            <a:ext cx="1949247" cy="3955352"/>
            <a:chOff x="838198" y="1787147"/>
            <a:chExt cx="1949247" cy="3855240"/>
          </a:xfrm>
        </p:grpSpPr>
        <p:pic>
          <p:nvPicPr>
            <p:cNvPr id="4" name="Picture 6" descr="Shann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p:spTree>
    <p:extLst>
      <p:ext uri="{BB962C8B-B14F-4D97-AF65-F5344CB8AC3E}">
        <p14:creationId xmlns:p14="http://schemas.microsoft.com/office/powerpoint/2010/main" val="1370253834"/>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An Alternative Metric - Entropy</a:t>
            </a:r>
            <a:endParaRPr lang="en-US" altLang="en-US" b="1" dirty="0"/>
          </a:p>
        </p:txBody>
      </p:sp>
      <p:sp>
        <p:nvSpPr>
          <p:cNvPr id="77827" name="Rectangle 1027"/>
          <p:cNvSpPr>
            <a:spLocks noGrp="1" noChangeArrowheads="1"/>
          </p:cNvSpPr>
          <p:nvPr>
            <p:ph type="body" idx="1"/>
          </p:nvPr>
        </p:nvSpPr>
        <p:spPr>
          <a:xfrm>
            <a:off x="2940147" y="1936787"/>
            <a:ext cx="9124033" cy="4351338"/>
          </a:xfrm>
        </p:spPr>
        <p:txBody>
          <a:bodyPr>
            <a:noAutofit/>
          </a:bodyPr>
          <a:lstStyle/>
          <a:p>
            <a:pPr>
              <a:lnSpc>
                <a:spcPct val="120000"/>
              </a:lnSpc>
              <a:spcBef>
                <a:spcPts val="600"/>
              </a:spcBef>
            </a:pPr>
            <a:r>
              <a:rPr lang="en-US" altLang="en-US" sz="2400" dirty="0">
                <a:latin typeface="Calibri" panose="020F0502020204030204" pitchFamily="34" charset="0"/>
                <a:cs typeface="Calibri" panose="020F0502020204030204" pitchFamily="34" charset="0"/>
              </a:rPr>
              <a:t>Beginning Entropy</a:t>
            </a:r>
            <a:r>
              <a:rPr lang="en-US" altLang="en-US" sz="2400" dirty="0">
                <a:solidFill>
                  <a:srgbClr val="FF0000"/>
                </a:solidFill>
                <a:latin typeface="Calibri" panose="020F0502020204030204" pitchFamily="34" charset="0"/>
                <a:cs typeface="Calibri" panose="020F0502020204030204" pitchFamily="34" charset="0"/>
              </a:rPr>
              <a:t>= 0.94</a:t>
            </a:r>
            <a:endParaRPr lang="en-US" altLang="en-US" sz="2400"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a:t>
            </a:r>
            <a:r>
              <a:rPr lang="en-US" altLang="en-US" sz="2400" b="1" u="sng" dirty="0">
                <a:solidFill>
                  <a:srgbClr val="00B050"/>
                </a:solidFill>
                <a:latin typeface="Calibri" panose="020F0502020204030204" pitchFamily="34" charset="0"/>
                <a:cs typeface="Calibri" panose="020F0502020204030204" pitchFamily="34" charset="0"/>
              </a:rPr>
              <a:t> Age </a:t>
            </a:r>
            <a:r>
              <a:rPr lang="en-US" altLang="en-US" sz="2400" dirty="0">
                <a:latin typeface="Calibri" panose="020F0502020204030204" pitchFamily="34" charset="0"/>
                <a:cs typeface="Calibri" panose="020F0502020204030204" pitchFamily="34" charset="0"/>
              </a:rPr>
              <a:t>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0.69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0.94-0.69 = </a:t>
            </a:r>
            <a:r>
              <a:rPr lang="en-US" altLang="en-US" sz="2400" b="1" i="1" u="sng" dirty="0">
                <a:solidFill>
                  <a:srgbClr val="00B050"/>
                </a:solidFill>
                <a:latin typeface="Calibri" panose="020F0502020204030204" pitchFamily="34" charset="0"/>
                <a:cs typeface="Calibri" panose="020F0502020204030204" pitchFamily="34" charset="0"/>
              </a:rPr>
              <a:t>0.25</a:t>
            </a:r>
            <a:r>
              <a:rPr lang="en-US" altLang="en-US" sz="2400" i="1" u="sng" dirty="0">
                <a:solidFill>
                  <a:srgbClr val="FF0000"/>
                </a:solidFill>
                <a:latin typeface="Calibri" panose="020F0502020204030204" pitchFamily="34" charset="0"/>
                <a:cs typeface="Calibri" panose="020F0502020204030204" pitchFamily="34" charset="0"/>
              </a:rPr>
              <a:t>)</a:t>
            </a:r>
            <a:endParaRPr lang="en-US" altLang="en-US" sz="2400" i="1" u="sng"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BMI</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0.92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0.94-0.92 = </a:t>
            </a:r>
            <a:r>
              <a:rPr lang="en-US" altLang="en-US" sz="2400" i="1" dirty="0">
                <a:solidFill>
                  <a:srgbClr val="00B050"/>
                </a:solidFill>
                <a:latin typeface="Calibri" panose="020F0502020204030204" pitchFamily="34" charset="0"/>
                <a:cs typeface="Calibri" panose="020F0502020204030204" pitchFamily="34" charset="0"/>
              </a:rPr>
              <a:t>0.02</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dirty="0">
              <a:solidFill>
                <a:srgbClr val="FF0000"/>
              </a:solidFill>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Gender</a:t>
            </a:r>
            <a:r>
              <a:rPr lang="en-US" altLang="en-US" sz="2400" dirty="0">
                <a:latin typeface="Calibri" panose="020F0502020204030204" pitchFamily="34" charset="0"/>
                <a:cs typeface="Calibri" panose="020F0502020204030204" pitchFamily="34" charset="0"/>
              </a:rPr>
              <a:t> information</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latin typeface="Calibri" panose="020F0502020204030204" pitchFamily="34" charset="0"/>
                <a:cs typeface="Calibri" panose="020F0502020204030204" pitchFamily="34" charset="0"/>
              </a:rPr>
              <a:t>			</a:t>
            </a:r>
            <a:r>
              <a:rPr lang="en-US" altLang="en-US" sz="2400" dirty="0">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0.79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0.94-0.79 = </a:t>
            </a:r>
            <a:r>
              <a:rPr lang="en-US" altLang="en-US" sz="2400" i="1" dirty="0">
                <a:solidFill>
                  <a:srgbClr val="00B050"/>
                </a:solidFill>
                <a:latin typeface="Calibri" panose="020F0502020204030204" pitchFamily="34" charset="0"/>
                <a:cs typeface="Calibri" panose="020F0502020204030204" pitchFamily="34" charset="0"/>
              </a:rPr>
              <a:t>0.15</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err="1">
                <a:solidFill>
                  <a:srgbClr val="0070C0"/>
                </a:solidFill>
                <a:latin typeface="Calibri" panose="020F0502020204030204" pitchFamily="34" charset="0"/>
                <a:cs typeface="Calibri" panose="020F0502020204030204" pitchFamily="34" charset="0"/>
              </a:rPr>
              <a:t>IoS</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0.89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0.94-0.89 = </a:t>
            </a:r>
            <a:r>
              <a:rPr lang="en-US" altLang="en-US" sz="2400" i="1" dirty="0">
                <a:solidFill>
                  <a:srgbClr val="00B050"/>
                </a:solidFill>
                <a:latin typeface="Calibri" panose="020F0502020204030204" pitchFamily="34" charset="0"/>
                <a:cs typeface="Calibri" panose="020F0502020204030204" pitchFamily="34" charset="0"/>
              </a:rPr>
              <a:t>0.05</a:t>
            </a:r>
            <a:r>
              <a:rPr lang="en-US" altLang="en-US" sz="2400" i="1" dirty="0">
                <a:solidFill>
                  <a:srgbClr val="FF0000"/>
                </a:solidFill>
                <a:latin typeface="Calibri" panose="020F0502020204030204" pitchFamily="34" charset="0"/>
                <a:cs typeface="Calibri" panose="020F0502020204030204" pitchFamily="34" charset="0"/>
              </a:rPr>
              <a:t>)</a:t>
            </a:r>
          </a:p>
        </p:txBody>
      </p:sp>
      <p:grpSp>
        <p:nvGrpSpPr>
          <p:cNvPr id="2" name="Group 1"/>
          <p:cNvGrpSpPr/>
          <p:nvPr/>
        </p:nvGrpSpPr>
        <p:grpSpPr>
          <a:xfrm>
            <a:off x="838200" y="1936787"/>
            <a:ext cx="1949247" cy="3955352"/>
            <a:chOff x="838198" y="1787147"/>
            <a:chExt cx="1949247" cy="3855240"/>
          </a:xfrm>
        </p:grpSpPr>
        <p:pic>
          <p:nvPicPr>
            <p:cNvPr id="4" name="Picture 6" descr="Shann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p:sp>
        <p:nvSpPr>
          <p:cNvPr id="7" name="Oval 6"/>
          <p:cNvSpPr/>
          <p:nvPr/>
        </p:nvSpPr>
        <p:spPr>
          <a:xfrm>
            <a:off x="10545816" y="2875262"/>
            <a:ext cx="807984" cy="78233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739867" y="2297813"/>
            <a:ext cx="807984" cy="78233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4"/>
          <p:cNvSpPr txBox="1">
            <a:spLocks noChangeArrowheads="1"/>
          </p:cNvSpPr>
          <p:nvPr/>
        </p:nvSpPr>
        <p:spPr bwMode="auto">
          <a:xfrm>
            <a:off x="8632879" y="1763976"/>
            <a:ext cx="1912937" cy="82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dirty="0">
                <a:latin typeface="Times New Roman" panose="02020603050405020304" pitchFamily="18" charset="0"/>
              </a:rPr>
              <a:t>Select!</a:t>
            </a:r>
          </a:p>
          <a:p>
            <a:r>
              <a:rPr lang="en-US" altLang="en-US" dirty="0">
                <a:latin typeface="Times New Roman" panose="02020603050405020304" pitchFamily="18" charset="0"/>
              </a:rPr>
              <a:t>Higher the Gain, better!</a:t>
            </a:r>
          </a:p>
        </p:txBody>
      </p:sp>
      <p:sp>
        <p:nvSpPr>
          <p:cNvPr id="10" name="Rectangle 5"/>
          <p:cNvSpPr>
            <a:spLocks noChangeArrowheads="1"/>
          </p:cNvSpPr>
          <p:nvPr/>
        </p:nvSpPr>
        <p:spPr bwMode="auto">
          <a:xfrm>
            <a:off x="8578903" y="1795726"/>
            <a:ext cx="1814512" cy="8334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a:p>
        </p:txBody>
      </p:sp>
      <p:sp>
        <p:nvSpPr>
          <p:cNvPr id="11" name="Line 6"/>
          <p:cNvSpPr>
            <a:spLocks noChangeShapeType="1"/>
          </p:cNvSpPr>
          <p:nvPr/>
        </p:nvSpPr>
        <p:spPr bwMode="auto">
          <a:xfrm>
            <a:off x="10393415" y="2618294"/>
            <a:ext cx="299166" cy="2569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spTree>
    <p:extLst>
      <p:ext uri="{BB962C8B-B14F-4D97-AF65-F5344CB8AC3E}">
        <p14:creationId xmlns:p14="http://schemas.microsoft.com/office/powerpoint/2010/main" val="2628206569"/>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ltLang="en-US" b="1" dirty="0"/>
              <a:t>Decision Tree</a:t>
            </a:r>
            <a:r>
              <a:rPr lang="tr-TR" altLang="en-US" b="1" dirty="0"/>
              <a:t>s</a:t>
            </a:r>
            <a:endParaRPr lang="en-US" altLang="en-US" b="1" dirty="0"/>
          </a:p>
        </p:txBody>
      </p:sp>
      <p:grpSp>
        <p:nvGrpSpPr>
          <p:cNvPr id="2" name="Group 1"/>
          <p:cNvGrpSpPr/>
          <p:nvPr/>
        </p:nvGrpSpPr>
        <p:grpSpPr>
          <a:xfrm>
            <a:off x="1060535" y="2209800"/>
            <a:ext cx="7177086" cy="3200400"/>
            <a:chOff x="1060535" y="2209800"/>
            <a:chExt cx="7177086" cy="3200400"/>
          </a:xfrm>
        </p:grpSpPr>
        <p:sp>
          <p:nvSpPr>
            <p:cNvPr id="80899" name="Oval 3"/>
            <p:cNvSpPr>
              <a:spLocks noChangeArrowheads="1"/>
            </p:cNvSpPr>
            <p:nvPr/>
          </p:nvSpPr>
          <p:spPr bwMode="auto">
            <a:xfrm>
              <a:off x="4122821" y="22098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cs typeface="Arial" panose="020B0604020202020204" pitchFamily="34" charset="0"/>
                </a:rPr>
                <a:t>Age</a:t>
              </a:r>
            </a:p>
          </p:txBody>
        </p:sp>
        <p:sp>
          <p:nvSpPr>
            <p:cNvPr id="80900" name="Oval 4"/>
            <p:cNvSpPr>
              <a:spLocks noChangeArrowheads="1"/>
            </p:cNvSpPr>
            <p:nvPr/>
          </p:nvSpPr>
          <p:spPr bwMode="auto">
            <a:xfrm>
              <a:off x="1913021"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cs typeface="Arial" panose="020B0604020202020204" pitchFamily="34" charset="0"/>
                </a:rPr>
                <a:t>Gender</a:t>
              </a:r>
            </a:p>
          </p:txBody>
        </p:sp>
        <p:sp>
          <p:nvSpPr>
            <p:cNvPr id="80901" name="Oval 5"/>
            <p:cNvSpPr>
              <a:spLocks noChangeArrowheads="1"/>
            </p:cNvSpPr>
            <p:nvPr/>
          </p:nvSpPr>
          <p:spPr bwMode="auto">
            <a:xfrm>
              <a:off x="6256421"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cs typeface="Arial" panose="020B0604020202020204" pitchFamily="34" charset="0"/>
                </a:rPr>
                <a:t>IoS</a:t>
              </a:r>
            </a:p>
          </p:txBody>
        </p:sp>
        <p:sp>
          <p:nvSpPr>
            <p:cNvPr id="80902" name="Rectangle 6"/>
            <p:cNvSpPr>
              <a:spLocks noChangeArrowheads="1"/>
            </p:cNvSpPr>
            <p:nvPr/>
          </p:nvSpPr>
          <p:spPr bwMode="auto">
            <a:xfrm>
              <a:off x="1060535" y="4941888"/>
              <a:ext cx="1614487" cy="468312"/>
            </a:xfrm>
            <a:prstGeom prst="rect">
              <a:avLst/>
            </a:prstGeom>
            <a:solidFill>
              <a:srgbClr val="FFFF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cs typeface="Arial" panose="020B0604020202020204" pitchFamily="34" charset="0"/>
                </a:rPr>
                <a:t>Healthy</a:t>
              </a:r>
            </a:p>
          </p:txBody>
        </p:sp>
        <p:sp>
          <p:nvSpPr>
            <p:cNvPr id="80903" name="Line 7"/>
            <p:cNvSpPr>
              <a:spLocks noChangeShapeType="1"/>
            </p:cNvSpPr>
            <p:nvPr/>
          </p:nvSpPr>
          <p:spPr bwMode="auto">
            <a:xfrm flipH="1">
              <a:off x="2979821"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sp>
          <p:nvSpPr>
            <p:cNvPr id="80904" name="Text Box 8"/>
            <p:cNvSpPr txBox="1">
              <a:spLocks noChangeArrowheads="1"/>
            </p:cNvSpPr>
            <p:nvPr/>
          </p:nvSpPr>
          <p:spPr bwMode="auto">
            <a:xfrm>
              <a:off x="3040147" y="2781301"/>
              <a:ext cx="104374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cs typeface="Arial" panose="020B0604020202020204" pitchFamily="34" charset="0"/>
                </a:rPr>
                <a:t>Young</a:t>
              </a:r>
            </a:p>
          </p:txBody>
        </p:sp>
        <p:sp>
          <p:nvSpPr>
            <p:cNvPr id="80905" name="Line 9"/>
            <p:cNvSpPr>
              <a:spLocks noChangeShapeType="1"/>
            </p:cNvSpPr>
            <p:nvPr/>
          </p:nvSpPr>
          <p:spPr bwMode="auto">
            <a:xfrm>
              <a:off x="4961021" y="2819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sp>
          <p:nvSpPr>
            <p:cNvPr id="80906" name="Line 10"/>
            <p:cNvSpPr>
              <a:spLocks noChangeShapeType="1"/>
            </p:cNvSpPr>
            <p:nvPr/>
          </p:nvSpPr>
          <p:spPr bwMode="auto">
            <a:xfrm>
              <a:off x="5113421"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sp>
          <p:nvSpPr>
            <p:cNvPr id="80907" name="Text Box 11"/>
            <p:cNvSpPr txBox="1">
              <a:spLocks noChangeArrowheads="1"/>
            </p:cNvSpPr>
            <p:nvPr/>
          </p:nvSpPr>
          <p:spPr bwMode="auto">
            <a:xfrm>
              <a:off x="6332622" y="2667001"/>
              <a:ext cx="6559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cs typeface="Arial" panose="020B0604020202020204" pitchFamily="34" charset="0"/>
                </a:rPr>
                <a:t>Old</a:t>
              </a:r>
            </a:p>
          </p:txBody>
        </p:sp>
        <p:sp>
          <p:nvSpPr>
            <p:cNvPr id="80908" name="Text Box 12"/>
            <p:cNvSpPr txBox="1">
              <a:spLocks noChangeArrowheads="1"/>
            </p:cNvSpPr>
            <p:nvPr/>
          </p:nvSpPr>
          <p:spPr bwMode="auto">
            <a:xfrm>
              <a:off x="4122821" y="30480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cs typeface="Arial" panose="020B0604020202020204" pitchFamily="34" charset="0"/>
                </a:rPr>
                <a:t>Medium</a:t>
              </a:r>
            </a:p>
          </p:txBody>
        </p:sp>
        <p:sp>
          <p:nvSpPr>
            <p:cNvPr id="80909" name="Text Box 14"/>
            <p:cNvSpPr txBox="1">
              <a:spLocks noChangeArrowheads="1"/>
            </p:cNvSpPr>
            <p:nvPr/>
          </p:nvSpPr>
          <p:spPr bwMode="auto">
            <a:xfrm>
              <a:off x="1532022" y="41148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cs typeface="Arial" panose="020B0604020202020204" pitchFamily="34" charset="0"/>
                </a:rPr>
                <a:t>Male</a:t>
              </a:r>
            </a:p>
          </p:txBody>
        </p:sp>
        <p:sp>
          <p:nvSpPr>
            <p:cNvPr id="80910" name="Rectangle 15"/>
            <p:cNvSpPr>
              <a:spLocks noChangeArrowheads="1"/>
            </p:cNvSpPr>
            <p:nvPr/>
          </p:nvSpPr>
          <p:spPr bwMode="auto">
            <a:xfrm>
              <a:off x="3940259" y="3933826"/>
              <a:ext cx="1782762" cy="409575"/>
            </a:xfrm>
            <a:prstGeom prst="rect">
              <a:avLst/>
            </a:prstGeom>
            <a:solidFill>
              <a:srgbClr val="FFFF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cs typeface="Arial" panose="020B0604020202020204" pitchFamily="34" charset="0"/>
                </a:rPr>
                <a:t>Sick</a:t>
              </a:r>
            </a:p>
          </p:txBody>
        </p:sp>
        <p:sp>
          <p:nvSpPr>
            <p:cNvPr id="80911" name="Rectangle 17"/>
            <p:cNvSpPr>
              <a:spLocks noChangeArrowheads="1"/>
            </p:cNvSpPr>
            <p:nvPr/>
          </p:nvSpPr>
          <p:spPr bwMode="auto">
            <a:xfrm>
              <a:off x="5596021" y="4941888"/>
              <a:ext cx="1651000" cy="468312"/>
            </a:xfrm>
            <a:prstGeom prst="rect">
              <a:avLst/>
            </a:prstGeom>
            <a:solidFill>
              <a:srgbClr val="FFFF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cs typeface="Arial" panose="020B0604020202020204" pitchFamily="34" charset="0"/>
                </a:rPr>
                <a:t>Healthy</a:t>
              </a:r>
            </a:p>
          </p:txBody>
        </p:sp>
        <p:sp>
          <p:nvSpPr>
            <p:cNvPr id="80912" name="Line 18"/>
            <p:cNvSpPr>
              <a:spLocks noChangeShapeType="1"/>
            </p:cNvSpPr>
            <p:nvPr/>
          </p:nvSpPr>
          <p:spPr bwMode="auto">
            <a:xfrm flipH="1">
              <a:off x="6561221"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sp>
          <p:nvSpPr>
            <p:cNvPr id="80913" name="Text Box 19"/>
            <p:cNvSpPr txBox="1">
              <a:spLocks noChangeArrowheads="1"/>
            </p:cNvSpPr>
            <p:nvPr/>
          </p:nvSpPr>
          <p:spPr bwMode="auto">
            <a:xfrm>
              <a:off x="6104021" y="4114801"/>
              <a:ext cx="7505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cs typeface="Arial" panose="020B0604020202020204" pitchFamily="34" charset="0"/>
                </a:rPr>
                <a:t>Low</a:t>
              </a:r>
            </a:p>
          </p:txBody>
        </p:sp>
        <p:sp>
          <p:nvSpPr>
            <p:cNvPr id="80914" name="Line 20"/>
            <p:cNvSpPr>
              <a:spLocks noChangeShapeType="1"/>
            </p:cNvSpPr>
            <p:nvPr/>
          </p:nvSpPr>
          <p:spPr bwMode="auto">
            <a:xfrm>
              <a:off x="7247021"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sp>
          <p:nvSpPr>
            <p:cNvPr id="80915" name="Line 20"/>
            <p:cNvSpPr>
              <a:spLocks noChangeShapeType="1"/>
            </p:cNvSpPr>
            <p:nvPr/>
          </p:nvSpPr>
          <p:spPr bwMode="auto">
            <a:xfrm>
              <a:off x="2675021"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sp>
          <p:nvSpPr>
            <p:cNvPr id="80916" name="Line 18"/>
            <p:cNvSpPr>
              <a:spLocks noChangeShapeType="1"/>
            </p:cNvSpPr>
            <p:nvPr/>
          </p:nvSpPr>
          <p:spPr bwMode="auto">
            <a:xfrm flipH="1">
              <a:off x="1989221"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2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46972114"/>
      </p:ext>
    </p:extLst>
  </p:cSld>
  <p:clrMapOvr>
    <a:masterClrMapping/>
  </p:clrMapOvr>
  <p:transition spd="med" advClick="0"/>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Decision Trees</a:t>
            </a:r>
            <a:endParaRPr lang="en-US" b="1" dirty="0">
              <a:solidFill>
                <a:srgbClr val="002060"/>
              </a:solidFill>
            </a:endParaRPr>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200" dirty="0">
                <a:latin typeface="Arial" panose="020B0604020202020204" pitchFamily="34" charset="0"/>
                <a:cs typeface="Arial" panose="020B0604020202020204" pitchFamily="34" charset="0"/>
              </a:rPr>
              <a:t>Divide and Conquer Strategy </a:t>
            </a:r>
          </a:p>
          <a:p>
            <a:pPr>
              <a:lnSpc>
                <a:spcPct val="120000"/>
              </a:lnSpc>
              <a:spcBef>
                <a:spcPts val="600"/>
              </a:spcBef>
            </a:pPr>
            <a:r>
              <a:rPr lang="en-US" altLang="en-US" sz="2200" b="1" dirty="0">
                <a:latin typeface="Arial" panose="020B0604020202020204" pitchFamily="34" charset="0"/>
                <a:cs typeface="Arial" panose="020B0604020202020204" pitchFamily="34" charset="0"/>
              </a:rPr>
              <a:t>The algorithm</a:t>
            </a:r>
            <a:r>
              <a:rPr lang="en-US" altLang="en-US" sz="2200" dirty="0">
                <a:latin typeface="Arial" panose="020B0604020202020204" pitchFamily="34" charset="0"/>
                <a:cs typeface="Arial" panose="020B0604020202020204" pitchFamily="34" charset="0"/>
              </a:rPr>
              <a:t>:</a:t>
            </a:r>
          </a:p>
          <a:p>
            <a:pPr lvl="1">
              <a:lnSpc>
                <a:spcPct val="120000"/>
              </a:lnSpc>
              <a:spcBef>
                <a:spcPts val="600"/>
              </a:spcBef>
            </a:pPr>
            <a:r>
              <a:rPr lang="en-US" altLang="en-US" sz="2200" dirty="0">
                <a:latin typeface="Arial" panose="020B0604020202020204" pitchFamily="34" charset="0"/>
                <a:cs typeface="Arial" panose="020B0604020202020204" pitchFamily="34" charset="0"/>
              </a:rPr>
              <a:t>Decide which </a:t>
            </a:r>
            <a:r>
              <a:rPr lang="en-US" altLang="en-US" sz="2200" b="1" i="1" dirty="0">
                <a:latin typeface="Arial" panose="020B0604020202020204" pitchFamily="34" charset="0"/>
                <a:cs typeface="Arial" panose="020B0604020202020204" pitchFamily="34" charset="0"/>
              </a:rPr>
              <a:t>attribute</a:t>
            </a:r>
            <a:r>
              <a:rPr lang="en-US" altLang="en-US" sz="2200" i="1" dirty="0">
                <a:latin typeface="Arial" panose="020B0604020202020204" pitchFamily="34" charset="0"/>
                <a:cs typeface="Arial" panose="020B0604020202020204" pitchFamily="34" charset="0"/>
              </a:rPr>
              <a:t> </a:t>
            </a:r>
            <a:r>
              <a:rPr lang="en-US" altLang="en-US" sz="2200" dirty="0">
                <a:latin typeface="Arial" panose="020B0604020202020204" pitchFamily="34" charset="0"/>
                <a:cs typeface="Arial" panose="020B0604020202020204" pitchFamily="34" charset="0"/>
              </a:rPr>
              <a:t>to split</a:t>
            </a:r>
          </a:p>
          <a:p>
            <a:pPr lvl="1">
              <a:lnSpc>
                <a:spcPct val="120000"/>
              </a:lnSpc>
              <a:spcBef>
                <a:spcPts val="600"/>
              </a:spcBef>
            </a:pPr>
            <a:r>
              <a:rPr lang="en-US" altLang="en-US" sz="2200" dirty="0">
                <a:latin typeface="Arial" panose="020B0604020202020204" pitchFamily="34" charset="0"/>
                <a:cs typeface="Arial" panose="020B0604020202020204" pitchFamily="34" charset="0"/>
              </a:rPr>
              <a:t>Create a branch for each value of the attribute for the </a:t>
            </a:r>
            <a:r>
              <a:rPr lang="en-US" altLang="en-US" sz="2200" i="1" dirty="0">
                <a:latin typeface="Arial" panose="020B0604020202020204" pitchFamily="34" charset="0"/>
                <a:cs typeface="Arial" panose="020B0604020202020204" pitchFamily="34" charset="0"/>
              </a:rPr>
              <a:t>nominal</a:t>
            </a:r>
            <a:r>
              <a:rPr lang="en-US" altLang="en-US" sz="2200" dirty="0">
                <a:latin typeface="Arial" panose="020B0604020202020204" pitchFamily="34" charset="0"/>
                <a:cs typeface="Arial" panose="020B0604020202020204" pitchFamily="34" charset="0"/>
              </a:rPr>
              <a:t> input features case (and decide </a:t>
            </a:r>
            <a:r>
              <a:rPr lang="en-US" altLang="en-US" sz="2200" i="1" dirty="0">
                <a:latin typeface="Arial" panose="020B0604020202020204" pitchFamily="34" charset="0"/>
                <a:cs typeface="Arial" panose="020B0604020202020204" pitchFamily="34" charset="0"/>
              </a:rPr>
              <a:t>where to split </a:t>
            </a:r>
            <a:r>
              <a:rPr lang="en-US" altLang="en-US" sz="2200" dirty="0">
                <a:latin typeface="Arial" panose="020B0604020202020204" pitchFamily="34" charset="0"/>
                <a:cs typeface="Arial" panose="020B0604020202020204" pitchFamily="34" charset="0"/>
              </a:rPr>
              <a:t>for the </a:t>
            </a:r>
            <a:r>
              <a:rPr lang="en-US" altLang="en-US" sz="2200" i="1" dirty="0">
                <a:latin typeface="Arial" panose="020B0604020202020204" pitchFamily="34" charset="0"/>
                <a:cs typeface="Arial" panose="020B0604020202020204" pitchFamily="34" charset="0"/>
              </a:rPr>
              <a:t>numeric </a:t>
            </a:r>
            <a:r>
              <a:rPr lang="en-US" altLang="en-US" sz="2200" dirty="0">
                <a:latin typeface="Arial" panose="020B0604020202020204" pitchFamily="34" charset="0"/>
                <a:cs typeface="Arial" panose="020B0604020202020204" pitchFamily="34" charset="0"/>
              </a:rPr>
              <a:t>case)</a:t>
            </a:r>
          </a:p>
          <a:p>
            <a:pPr lvl="1">
              <a:lnSpc>
                <a:spcPct val="120000"/>
              </a:lnSpc>
              <a:spcBef>
                <a:spcPts val="600"/>
              </a:spcBef>
            </a:pPr>
            <a:r>
              <a:rPr lang="en-US" altLang="en-US" sz="2200" dirty="0">
                <a:latin typeface="Arial" panose="020B0604020202020204" pitchFamily="34" charset="0"/>
                <a:cs typeface="Arial" panose="020B0604020202020204" pitchFamily="34" charset="0"/>
              </a:rPr>
              <a:t>Repeat recursively at each branch the above routine</a:t>
            </a:r>
          </a:p>
          <a:p>
            <a:pPr lvl="1">
              <a:lnSpc>
                <a:spcPct val="120000"/>
              </a:lnSpc>
              <a:spcBef>
                <a:spcPts val="600"/>
              </a:spcBef>
            </a:pPr>
            <a:r>
              <a:rPr lang="en-US" altLang="en-US" sz="2200" dirty="0">
                <a:latin typeface="Arial" panose="020B0604020202020204" pitchFamily="34" charset="0"/>
                <a:cs typeface="Arial" panose="020B0604020202020204" pitchFamily="34" charset="0"/>
              </a:rPr>
              <a:t>Stop if all instances are same class.</a:t>
            </a:r>
          </a:p>
          <a:p>
            <a:pPr>
              <a:lnSpc>
                <a:spcPct val="120000"/>
              </a:lnSpc>
              <a:spcBef>
                <a:spcPts val="600"/>
              </a:spcBef>
            </a:pPr>
            <a:r>
              <a:rPr lang="en-US" altLang="en-US" sz="2200" b="1" dirty="0">
                <a:latin typeface="Arial" panose="020B0604020202020204" pitchFamily="34" charset="0"/>
                <a:cs typeface="Arial" panose="020B0604020202020204" pitchFamily="34" charset="0"/>
              </a:rPr>
              <a:t>Goal: </a:t>
            </a:r>
            <a:r>
              <a:rPr lang="en-US" altLang="en-US" sz="2200" dirty="0">
                <a:latin typeface="Arial" panose="020B0604020202020204" pitchFamily="34" charset="0"/>
                <a:cs typeface="Arial" panose="020B0604020202020204" pitchFamily="34" charset="0"/>
              </a:rPr>
              <a:t>Select a </a:t>
            </a:r>
            <a:r>
              <a:rPr lang="en-US" altLang="en-US" sz="2200" b="1" i="1" dirty="0">
                <a:latin typeface="Arial" panose="020B0604020202020204" pitchFamily="34" charset="0"/>
                <a:cs typeface="Arial" panose="020B0604020202020204" pitchFamily="34" charset="0"/>
              </a:rPr>
              <a:t>good</a:t>
            </a:r>
            <a:r>
              <a:rPr lang="en-US" altLang="en-US" sz="2200" dirty="0">
                <a:latin typeface="Arial" panose="020B0604020202020204" pitchFamily="34" charset="0"/>
                <a:cs typeface="Arial" panose="020B0604020202020204" pitchFamily="34" charset="0"/>
              </a:rPr>
              <a:t> attribute that </a:t>
            </a:r>
            <a:r>
              <a:rPr lang="en-US" altLang="en-US" sz="2200" b="1" u="sng" dirty="0">
                <a:latin typeface="Arial" panose="020B0604020202020204" pitchFamily="34" charset="0"/>
                <a:cs typeface="Arial" panose="020B0604020202020204" pitchFamily="34" charset="0"/>
              </a:rPr>
              <a:t>reduce impurity sooner</a:t>
            </a:r>
            <a:r>
              <a:rPr lang="en-US" altLang="en-US" sz="2200" b="1" dirty="0">
                <a:latin typeface="Arial" panose="020B0604020202020204" pitchFamily="34" charset="0"/>
                <a:cs typeface="Arial" panose="020B0604020202020204" pitchFamily="34" charset="0"/>
              </a:rPr>
              <a:t> </a:t>
            </a:r>
            <a:r>
              <a:rPr lang="en-US" altLang="en-US" sz="2200" dirty="0">
                <a:latin typeface="Arial" panose="020B0604020202020204" pitchFamily="34" charset="0"/>
                <a:cs typeface="Arial" panose="020B0604020202020204" pitchFamily="34" charset="0"/>
              </a:rPr>
              <a:t>so that you get the </a:t>
            </a:r>
            <a:r>
              <a:rPr lang="en-US" altLang="en-US" sz="2200" b="1" i="1" dirty="0">
                <a:latin typeface="Arial" panose="020B0604020202020204" pitchFamily="34" charset="0"/>
                <a:cs typeface="Arial" panose="020B0604020202020204" pitchFamily="34" charset="0"/>
              </a:rPr>
              <a:t>smallest tree</a:t>
            </a:r>
            <a:r>
              <a:rPr lang="en-US" altLang="en-US" sz="2200" dirty="0">
                <a:latin typeface="Arial" panose="020B0604020202020204" pitchFamily="34" charset="0"/>
                <a:cs typeface="Arial" panose="020B0604020202020204" pitchFamily="34" charset="0"/>
              </a:rPr>
              <a:t>. </a:t>
            </a:r>
          </a:p>
          <a:p>
            <a:pPr>
              <a:lnSpc>
                <a:spcPct val="120000"/>
              </a:lnSpc>
              <a:spcBef>
                <a:spcPts val="600"/>
              </a:spcBef>
            </a:pPr>
            <a:r>
              <a:rPr lang="en-US" sz="2200" b="1" dirty="0">
                <a:latin typeface="Arial" panose="020B0604020202020204" pitchFamily="34" charset="0"/>
                <a:cs typeface="Arial" panose="020B0604020202020204" pitchFamily="34" charset="0"/>
              </a:rPr>
              <a:t>Iterative Dichotomiser 3 (</a:t>
            </a:r>
            <a:r>
              <a:rPr lang="en-US" altLang="en-US" sz="2200" b="1" dirty="0">
                <a:latin typeface="Arial" panose="020B0604020202020204" pitchFamily="34" charset="0"/>
                <a:cs typeface="Arial" panose="020B0604020202020204" pitchFamily="34" charset="0"/>
              </a:rPr>
              <a:t>ID3)</a:t>
            </a:r>
            <a:r>
              <a:rPr lang="en-US" altLang="en-US" sz="2200" dirty="0">
                <a:latin typeface="Arial" panose="020B0604020202020204" pitchFamily="34" charset="0"/>
                <a:cs typeface="Arial" panose="020B0604020202020204" pitchFamily="34" charset="0"/>
              </a:rPr>
              <a:t> Algorithm of Ross Quinlan (19</a:t>
            </a:r>
            <a:r>
              <a:rPr lang="tr-TR" altLang="en-US" sz="2200" dirty="0">
                <a:latin typeface="Arial" panose="020B0604020202020204" pitchFamily="34" charset="0"/>
                <a:cs typeface="Arial" panose="020B0604020202020204" pitchFamily="34" charset="0"/>
              </a:rPr>
              <a:t>79</a:t>
            </a:r>
            <a:r>
              <a:rPr lang="en-US" altLang="en-US" sz="2200" dirty="0">
                <a:latin typeface="Arial" panose="020B0604020202020204" pitchFamily="34" charset="0"/>
                <a:cs typeface="Arial" panose="020B0604020202020204" pitchFamily="34" charset="0"/>
              </a:rPr>
              <a:t>) uses entropy, i.e., information gain for this purpose.</a:t>
            </a:r>
          </a:p>
          <a:p>
            <a:pPr>
              <a:lnSpc>
                <a:spcPct val="120000"/>
              </a:lnSpc>
            </a:pP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83222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The Disease Problem</a:t>
            </a:r>
            <a:endParaRPr lang="en-US" b="1" dirty="0"/>
          </a:p>
        </p:txBody>
      </p:sp>
      <p:graphicFrame>
        <p:nvGraphicFramePr>
          <p:cNvPr id="2" name="Table 1"/>
          <p:cNvGraphicFramePr>
            <a:graphicFrameLocks noGrp="1"/>
          </p:cNvGraphicFramePr>
          <p:nvPr/>
        </p:nvGraphicFramePr>
        <p:xfrm>
          <a:off x="838198" y="1690688"/>
          <a:ext cx="9264446" cy="5097358"/>
        </p:xfrm>
        <a:graphic>
          <a:graphicData uri="http://schemas.openxmlformats.org/drawingml/2006/table">
            <a:tbl>
              <a:tblPr firstRow="1" bandRow="1">
                <a:tableStyleId>{10A1B5D5-9B99-4C35-A422-299274C87663}</a:tableStyleId>
              </a:tblPr>
              <a:tblGrid>
                <a:gridCol w="695634">
                  <a:extLst>
                    <a:ext uri="{9D8B030D-6E8A-4147-A177-3AD203B41FA5}">
                      <a16:colId xmlns:a16="http://schemas.microsoft.com/office/drawing/2014/main" val="4151893868"/>
                    </a:ext>
                  </a:extLst>
                </a:gridCol>
                <a:gridCol w="1297858">
                  <a:extLst>
                    <a:ext uri="{9D8B030D-6E8A-4147-A177-3AD203B41FA5}">
                      <a16:colId xmlns:a16="http://schemas.microsoft.com/office/drawing/2014/main" val="2331074717"/>
                    </a:ext>
                  </a:extLst>
                </a:gridCol>
                <a:gridCol w="2035278">
                  <a:extLst>
                    <a:ext uri="{9D8B030D-6E8A-4147-A177-3AD203B41FA5}">
                      <a16:colId xmlns:a16="http://schemas.microsoft.com/office/drawing/2014/main" val="3641374271"/>
                    </a:ext>
                  </a:extLst>
                </a:gridCol>
                <a:gridCol w="1415845">
                  <a:extLst>
                    <a:ext uri="{9D8B030D-6E8A-4147-A177-3AD203B41FA5}">
                      <a16:colId xmlns:a16="http://schemas.microsoft.com/office/drawing/2014/main" val="3905258309"/>
                    </a:ext>
                  </a:extLst>
                </a:gridCol>
                <a:gridCol w="2566219">
                  <a:extLst>
                    <a:ext uri="{9D8B030D-6E8A-4147-A177-3AD203B41FA5}">
                      <a16:colId xmlns:a16="http://schemas.microsoft.com/office/drawing/2014/main" val="1282154045"/>
                    </a:ext>
                  </a:extLst>
                </a:gridCol>
                <a:gridCol w="1253612">
                  <a:extLst>
                    <a:ext uri="{9D8B030D-6E8A-4147-A177-3AD203B41FA5}">
                      <a16:colId xmlns:a16="http://schemas.microsoft.com/office/drawing/2014/main" val="3683188331"/>
                    </a:ext>
                  </a:extLst>
                </a:gridCol>
              </a:tblGrid>
              <a:tr h="403438">
                <a:tc>
                  <a:txBody>
                    <a:bodyPr/>
                    <a:lstStyle/>
                    <a:p>
                      <a:pPr marL="0" algn="ctr" defTabSz="914400" rtl="0" eaLnBrk="1" latinLnBrk="0" hangingPunct="1"/>
                      <a:r>
                        <a:rPr lang="tr-TR" sz="1600" b="1" u="none" strike="noStrike" kern="1200" baseline="0" dirty="0">
                          <a:solidFill>
                            <a:schemeClr val="lt1"/>
                          </a:solidFill>
                          <a:latin typeface="Arial" panose="020B0604020202020204" pitchFamily="34" charset="0"/>
                          <a:ea typeface="+mn-ea"/>
                          <a:cs typeface="Arial" panose="020B0604020202020204" pitchFamily="34" charset="0"/>
                        </a:rPr>
                        <a:t>#</a:t>
                      </a:r>
                      <a:endParaRPr lang="en-US" sz="1600" b="1" u="none" strike="noStrike" kern="1200" baseline="0" dirty="0">
                        <a:solidFill>
                          <a:schemeClr val="lt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Age</a:t>
                      </a:r>
                      <a:endParaRPr lang="en-US" sz="16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Body Mass</a:t>
                      </a:r>
                      <a:r>
                        <a:rPr lang="tr-TR" sz="1600" u="none" strike="noStrike" kern="1200" baseline="0" dirty="0">
                          <a:latin typeface="Arial" panose="020B0604020202020204" pitchFamily="34" charset="0"/>
                          <a:cs typeface="Arial" panose="020B0604020202020204" pitchFamily="34" charset="0"/>
                        </a:rPr>
                        <a:t> Index</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Gender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Intensity of Symptoms</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dirty="0">
                          <a:latin typeface="Arial" panose="020B0604020202020204" pitchFamily="34" charset="0"/>
                          <a:cs typeface="Arial" panose="020B0604020202020204" pitchFamily="34" charset="0"/>
                        </a:rPr>
                        <a:t>Disease</a:t>
                      </a:r>
                      <a:endParaRPr 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08363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86195935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415035892"/>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76097856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4</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330185553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5</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90361109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6</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679985473"/>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7</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12692914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8</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2120633460"/>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9</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Over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218712511"/>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10</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2616361574"/>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11</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Young</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4184273778"/>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12</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619152417"/>
                  </a:ext>
                </a:extLst>
              </a:tr>
              <a:tr h="309869">
                <a:tc>
                  <a:txBody>
                    <a:bodyPr/>
                    <a:lstStyle/>
                    <a:p>
                      <a:pPr algn="ctr"/>
                      <a:r>
                        <a:rPr lang="tr-TR" sz="1600" b="0" i="0" u="none" strike="noStrike" kern="1200" baseline="0" noProof="0" dirty="0">
                          <a:solidFill>
                            <a:schemeClr val="tx1"/>
                          </a:solidFill>
                          <a:latin typeface="Arial" panose="020B0604020202020204" pitchFamily="34" charset="0"/>
                          <a:ea typeface="+mn-ea"/>
                          <a:cs typeface="Arial" panose="020B0604020202020204" pitchFamily="34" charset="0"/>
                        </a:rPr>
                        <a:t>13</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Middle</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Under</a:t>
                      </a:r>
                      <a:endParaRPr lang="en-US" sz="1600" b="0" i="0" u="none" strike="noStrike" kern="1200" baseline="0" noProof="0" dirty="0">
                        <a:solidFill>
                          <a:schemeClr val="tx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Female</a:t>
                      </a:r>
                    </a:p>
                  </a:txBody>
                  <a:tcPr/>
                </a:tc>
                <a:tc>
                  <a:txBody>
                    <a:bodyPr/>
                    <a:lstStyle/>
                    <a:p>
                      <a:pPr algn="ctr"/>
                      <a:r>
                        <a:rPr lang="en-US" sz="1600" noProof="0" dirty="0">
                          <a:latin typeface="Arial" panose="020B0604020202020204" pitchFamily="34" charset="0"/>
                          <a:cs typeface="Arial" panose="020B0604020202020204" pitchFamily="34" charset="0"/>
                        </a:rPr>
                        <a:t>High</a:t>
                      </a:r>
                    </a:p>
                  </a:txBody>
                  <a:tcPr/>
                </a:tc>
                <a:tc>
                  <a:txBody>
                    <a:bodyPr/>
                    <a:lstStyle/>
                    <a:p>
                      <a:pPr algn="ctr"/>
                      <a:r>
                        <a:rPr lang="en-US" sz="1600" noProof="0" dirty="0">
                          <a:solidFill>
                            <a:srgbClr val="FF0000"/>
                          </a:solidFill>
                          <a:latin typeface="Arial" panose="020B0604020202020204" pitchFamily="34" charset="0"/>
                          <a:cs typeface="Arial" panose="020B0604020202020204" pitchFamily="34" charset="0"/>
                        </a:rPr>
                        <a:t>Sick</a:t>
                      </a:r>
                    </a:p>
                  </a:txBody>
                  <a:tcPr/>
                </a:tc>
                <a:extLst>
                  <a:ext uri="{0D108BD9-81ED-4DB2-BD59-A6C34878D82A}">
                    <a16:rowId xmlns:a16="http://schemas.microsoft.com/office/drawing/2014/main" val="1525390180"/>
                  </a:ext>
                </a:extLst>
              </a:tr>
              <a:tr h="309869">
                <a:tc>
                  <a:txBody>
                    <a:bodyPr/>
                    <a:lstStyle/>
                    <a:p>
                      <a:pPr algn="ctr"/>
                      <a:r>
                        <a:rPr lang="tr-TR" sz="1600" noProof="0" dirty="0">
                          <a:latin typeface="Arial" panose="020B0604020202020204" pitchFamily="34" charset="0"/>
                          <a:cs typeface="Arial" panose="020B0604020202020204" pitchFamily="34" charset="0"/>
                        </a:rPr>
                        <a:t>14</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Old</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u="none" strike="noStrike" kern="1200" baseline="0" noProof="0" dirty="0">
                          <a:latin typeface="Arial" panose="020B0604020202020204" pitchFamily="34" charset="0"/>
                          <a:cs typeface="Arial" panose="020B0604020202020204" pitchFamily="34" charset="0"/>
                        </a:rPr>
                        <a:t>Medium</a:t>
                      </a:r>
                      <a:endParaRPr lang="en-US" sz="1600" noProof="0" dirty="0">
                        <a:latin typeface="Arial" panose="020B0604020202020204" pitchFamily="34" charset="0"/>
                        <a:cs typeface="Arial" panose="020B0604020202020204" pitchFamily="34" charset="0"/>
                      </a:endParaRPr>
                    </a:p>
                  </a:txBody>
                  <a:tcPr/>
                </a:tc>
                <a:tc>
                  <a:txBody>
                    <a:bodyPr/>
                    <a:lstStyle/>
                    <a:p>
                      <a:pPr algn="ctr"/>
                      <a:r>
                        <a:rPr lang="en-US" sz="1600" noProof="0" dirty="0">
                          <a:latin typeface="Arial" panose="020B0604020202020204" pitchFamily="34" charset="0"/>
                          <a:cs typeface="Arial" panose="020B0604020202020204" pitchFamily="34" charset="0"/>
                        </a:rPr>
                        <a:t>Male</a:t>
                      </a:r>
                    </a:p>
                  </a:txBody>
                  <a:tcPr/>
                </a:tc>
                <a:tc>
                  <a:txBody>
                    <a:bodyPr/>
                    <a:lstStyle/>
                    <a:p>
                      <a:pPr algn="ctr"/>
                      <a:r>
                        <a:rPr lang="en-US" sz="1600" noProof="0" dirty="0">
                          <a:latin typeface="Arial" panose="020B0604020202020204" pitchFamily="34" charset="0"/>
                          <a:cs typeface="Arial" panose="020B0604020202020204" pitchFamily="34" charset="0"/>
                        </a:rPr>
                        <a:t>Low</a:t>
                      </a:r>
                    </a:p>
                  </a:txBody>
                  <a:tcPr/>
                </a:tc>
                <a:tc>
                  <a:txBody>
                    <a:bodyPr/>
                    <a:lstStyle/>
                    <a:p>
                      <a:pPr algn="ctr"/>
                      <a:r>
                        <a:rPr lang="en-US" sz="1600" noProof="0" dirty="0">
                          <a:solidFill>
                            <a:srgbClr val="00B050"/>
                          </a:solidFill>
                          <a:latin typeface="Arial" panose="020B0604020202020204" pitchFamily="34" charset="0"/>
                          <a:cs typeface="Arial" panose="020B0604020202020204" pitchFamily="34" charset="0"/>
                        </a:rPr>
                        <a:t>Healthy</a:t>
                      </a:r>
                    </a:p>
                  </a:txBody>
                  <a:tcPr/>
                </a:tc>
                <a:extLst>
                  <a:ext uri="{0D108BD9-81ED-4DB2-BD59-A6C34878D82A}">
                    <a16:rowId xmlns:a16="http://schemas.microsoft.com/office/drawing/2014/main" val="3322873320"/>
                  </a:ext>
                </a:extLst>
              </a:tr>
            </a:tbl>
          </a:graphicData>
        </a:graphic>
      </p:graphicFrame>
    </p:spTree>
    <p:extLst>
      <p:ext uri="{BB962C8B-B14F-4D97-AF65-F5344CB8AC3E}">
        <p14:creationId xmlns:p14="http://schemas.microsoft.com/office/powerpoint/2010/main" val="27266655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Recall – Select Age For First Branching</a:t>
            </a:r>
            <a:endParaRPr lang="en-US" altLang="en-US" b="1" dirty="0"/>
          </a:p>
        </p:txBody>
      </p:sp>
      <p:sp>
        <p:nvSpPr>
          <p:cNvPr id="77827" name="Rectangle 1027"/>
          <p:cNvSpPr>
            <a:spLocks noGrp="1" noChangeArrowheads="1"/>
          </p:cNvSpPr>
          <p:nvPr>
            <p:ph type="body" idx="1"/>
          </p:nvPr>
        </p:nvSpPr>
        <p:spPr>
          <a:xfrm>
            <a:off x="2940147" y="1995781"/>
            <a:ext cx="9124033" cy="4351338"/>
          </a:xfrm>
        </p:spPr>
        <p:txBody>
          <a:bodyPr>
            <a:noAutofit/>
          </a:bodyPr>
          <a:lstStyle/>
          <a:p>
            <a:pPr>
              <a:lnSpc>
                <a:spcPct val="120000"/>
              </a:lnSpc>
              <a:spcBef>
                <a:spcPts val="600"/>
              </a:spcBef>
            </a:pPr>
            <a:r>
              <a:rPr lang="en-US" altLang="en-US" sz="2400" dirty="0">
                <a:latin typeface="Calibri" panose="020F0502020204030204" pitchFamily="34" charset="0"/>
                <a:cs typeface="Calibri" panose="020F0502020204030204" pitchFamily="34" charset="0"/>
              </a:rPr>
              <a:t>Beginning Entropy</a:t>
            </a:r>
            <a:r>
              <a:rPr lang="en-US" altLang="en-US" sz="2400" dirty="0">
                <a:solidFill>
                  <a:srgbClr val="FF0000"/>
                </a:solidFill>
                <a:latin typeface="Calibri" panose="020F0502020204030204" pitchFamily="34" charset="0"/>
                <a:cs typeface="Calibri" panose="020F0502020204030204" pitchFamily="34" charset="0"/>
              </a:rPr>
              <a:t>= 0.94</a:t>
            </a:r>
            <a:endParaRPr lang="en-US" altLang="en-US" sz="2400"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a:t>
            </a:r>
            <a:r>
              <a:rPr lang="en-US" altLang="en-US" sz="2400" b="1" u="sng" dirty="0">
                <a:solidFill>
                  <a:srgbClr val="00B050"/>
                </a:solidFill>
                <a:latin typeface="Calibri" panose="020F0502020204030204" pitchFamily="34" charset="0"/>
                <a:cs typeface="Calibri" panose="020F0502020204030204" pitchFamily="34" charset="0"/>
              </a:rPr>
              <a:t> Age </a:t>
            </a:r>
            <a:r>
              <a:rPr lang="en-US" altLang="en-US" sz="2400" dirty="0">
                <a:latin typeface="Calibri" panose="020F0502020204030204" pitchFamily="34" charset="0"/>
                <a:cs typeface="Calibri" panose="020F0502020204030204" pitchFamily="34" charset="0"/>
              </a:rPr>
              <a:t>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0.69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0.94-0.69 = </a:t>
            </a:r>
            <a:r>
              <a:rPr lang="en-US" altLang="en-US" sz="2400" b="1" i="1" u="sng" dirty="0">
                <a:solidFill>
                  <a:srgbClr val="00B050"/>
                </a:solidFill>
                <a:latin typeface="Calibri" panose="020F0502020204030204" pitchFamily="34" charset="0"/>
                <a:cs typeface="Calibri" panose="020F0502020204030204" pitchFamily="34" charset="0"/>
              </a:rPr>
              <a:t>0.25</a:t>
            </a:r>
            <a:r>
              <a:rPr lang="en-US" altLang="en-US" sz="2400" i="1" u="sng" dirty="0">
                <a:solidFill>
                  <a:srgbClr val="FF0000"/>
                </a:solidFill>
                <a:latin typeface="Calibri" panose="020F0502020204030204" pitchFamily="34" charset="0"/>
                <a:cs typeface="Calibri" panose="020F0502020204030204" pitchFamily="34" charset="0"/>
              </a:rPr>
              <a:t>)</a:t>
            </a:r>
            <a:endParaRPr lang="en-US" altLang="en-US" sz="2400" i="1" u="sng"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BMI</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0.92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0.94-0.92 = </a:t>
            </a:r>
            <a:r>
              <a:rPr lang="en-US" altLang="en-US" sz="2400" i="1" dirty="0">
                <a:solidFill>
                  <a:srgbClr val="00B050"/>
                </a:solidFill>
                <a:latin typeface="Calibri" panose="020F0502020204030204" pitchFamily="34" charset="0"/>
                <a:cs typeface="Calibri" panose="020F0502020204030204" pitchFamily="34" charset="0"/>
              </a:rPr>
              <a:t>0.02</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dirty="0">
              <a:solidFill>
                <a:srgbClr val="FF0000"/>
              </a:solidFill>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a:solidFill>
                  <a:srgbClr val="0070C0"/>
                </a:solidFill>
                <a:latin typeface="Calibri" panose="020F0502020204030204" pitchFamily="34" charset="0"/>
                <a:cs typeface="Calibri" panose="020F0502020204030204" pitchFamily="34" charset="0"/>
              </a:rPr>
              <a:t>Gender</a:t>
            </a:r>
            <a:r>
              <a:rPr lang="en-US" altLang="en-US" sz="2400" dirty="0">
                <a:latin typeface="Calibri" panose="020F0502020204030204" pitchFamily="34" charset="0"/>
                <a:cs typeface="Calibri" panose="020F0502020204030204" pitchFamily="34" charset="0"/>
              </a:rPr>
              <a:t> information</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latin typeface="Calibri" panose="020F0502020204030204" pitchFamily="34" charset="0"/>
                <a:cs typeface="Calibri" panose="020F0502020204030204" pitchFamily="34" charset="0"/>
              </a:rPr>
              <a:t>			</a:t>
            </a:r>
            <a:r>
              <a:rPr lang="en-US" altLang="en-US" sz="2400" dirty="0">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0.79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0.94-0.79 = </a:t>
            </a:r>
            <a:r>
              <a:rPr lang="en-US" altLang="en-US" sz="2400" i="1" dirty="0">
                <a:solidFill>
                  <a:srgbClr val="00B050"/>
                </a:solidFill>
                <a:latin typeface="Calibri" panose="020F0502020204030204" pitchFamily="34" charset="0"/>
                <a:cs typeface="Calibri" panose="020F0502020204030204" pitchFamily="34" charset="0"/>
              </a:rPr>
              <a:t>0.15</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dirty="0">
              <a:latin typeface="Calibri" panose="020F0502020204030204" pitchFamily="34" charset="0"/>
              <a:cs typeface="Calibri" panose="020F0502020204030204" pitchFamily="34" charset="0"/>
            </a:endParaRPr>
          </a:p>
          <a:p>
            <a:pPr>
              <a:lnSpc>
                <a:spcPct val="120000"/>
              </a:lnSpc>
              <a:spcBef>
                <a:spcPts val="600"/>
              </a:spcBef>
            </a:pPr>
            <a:r>
              <a:rPr lang="en-US" altLang="en-US" sz="2400" dirty="0">
                <a:latin typeface="Calibri" panose="020F0502020204030204" pitchFamily="34" charset="0"/>
                <a:cs typeface="Calibri" panose="020F0502020204030204" pitchFamily="34" charset="0"/>
              </a:rPr>
              <a:t>Entropy with </a:t>
            </a:r>
            <a:r>
              <a:rPr lang="en-US" altLang="en-US" sz="2400" dirty="0" err="1">
                <a:solidFill>
                  <a:srgbClr val="0070C0"/>
                </a:solidFill>
                <a:latin typeface="Calibri" panose="020F0502020204030204" pitchFamily="34" charset="0"/>
                <a:cs typeface="Calibri" panose="020F0502020204030204" pitchFamily="34" charset="0"/>
              </a:rPr>
              <a:t>IoS</a:t>
            </a:r>
            <a:r>
              <a:rPr lang="en-US" altLang="en-US" sz="2400" dirty="0">
                <a:latin typeface="Calibri" panose="020F0502020204030204" pitchFamily="34" charset="0"/>
                <a:cs typeface="Calibri" panose="020F0502020204030204" pitchFamily="34" charset="0"/>
              </a:rPr>
              <a:t> information </a:t>
            </a:r>
            <a:endParaRPr lang="tr-TR" altLang="en-US" sz="2400" dirty="0">
              <a:latin typeface="Calibri" panose="020F0502020204030204" pitchFamily="34" charset="0"/>
              <a:cs typeface="Calibri" panose="020F0502020204030204" pitchFamily="34" charset="0"/>
            </a:endParaRPr>
          </a:p>
          <a:p>
            <a:pPr marL="0" indent="0">
              <a:lnSpc>
                <a:spcPct val="120000"/>
              </a:lnSpc>
              <a:spcBef>
                <a:spcPts val="600"/>
              </a:spcBef>
              <a:buNone/>
            </a:pPr>
            <a:r>
              <a:rPr lang="tr-TR" altLang="en-US" sz="2400" dirty="0">
                <a:solidFill>
                  <a:srgbClr val="FF000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 0.89 </a:t>
            </a:r>
            <a:r>
              <a:rPr lang="en-US" altLang="en-US" sz="2400" i="1" dirty="0">
                <a:solidFill>
                  <a:srgbClr val="FF0000"/>
                </a:solidFill>
                <a:latin typeface="Calibri" panose="020F0502020204030204" pitchFamily="34" charset="0"/>
                <a:cs typeface="Calibri" panose="020F0502020204030204" pitchFamily="34" charset="0"/>
              </a:rPr>
              <a:t>(</a:t>
            </a:r>
            <a:r>
              <a:rPr lang="en-US" altLang="en-US" sz="2400" i="1" dirty="0">
                <a:solidFill>
                  <a:srgbClr val="7030A0"/>
                </a:solidFill>
                <a:latin typeface="Calibri" panose="020F0502020204030204" pitchFamily="34" charset="0"/>
                <a:cs typeface="Calibri" panose="020F0502020204030204" pitchFamily="34" charset="0"/>
              </a:rPr>
              <a:t>Information Gain </a:t>
            </a:r>
            <a:r>
              <a:rPr lang="en-US" altLang="en-US" sz="2400" i="1" dirty="0">
                <a:solidFill>
                  <a:srgbClr val="FF0000"/>
                </a:solidFill>
                <a:latin typeface="Calibri" panose="020F0502020204030204" pitchFamily="34" charset="0"/>
                <a:cs typeface="Calibri" panose="020F0502020204030204" pitchFamily="34" charset="0"/>
              </a:rPr>
              <a:t>= 0.94-0.89 = </a:t>
            </a:r>
            <a:r>
              <a:rPr lang="en-US" altLang="en-US" sz="2400" i="1" dirty="0">
                <a:solidFill>
                  <a:srgbClr val="00B050"/>
                </a:solidFill>
                <a:latin typeface="Calibri" panose="020F0502020204030204" pitchFamily="34" charset="0"/>
                <a:cs typeface="Calibri" panose="020F0502020204030204" pitchFamily="34" charset="0"/>
              </a:rPr>
              <a:t>0.05</a:t>
            </a:r>
            <a:r>
              <a:rPr lang="en-US" altLang="en-US" sz="2400" i="1" dirty="0">
                <a:solidFill>
                  <a:srgbClr val="FF0000"/>
                </a:solidFill>
                <a:latin typeface="Calibri" panose="020F0502020204030204" pitchFamily="34" charset="0"/>
                <a:cs typeface="Calibri" panose="020F0502020204030204" pitchFamily="34" charset="0"/>
              </a:rPr>
              <a:t>)</a:t>
            </a:r>
          </a:p>
        </p:txBody>
      </p:sp>
      <p:grpSp>
        <p:nvGrpSpPr>
          <p:cNvPr id="2" name="Group 1"/>
          <p:cNvGrpSpPr/>
          <p:nvPr/>
        </p:nvGrpSpPr>
        <p:grpSpPr>
          <a:xfrm>
            <a:off x="838200" y="1936787"/>
            <a:ext cx="1949247" cy="3955352"/>
            <a:chOff x="838198" y="1787147"/>
            <a:chExt cx="1949247" cy="3855240"/>
          </a:xfrm>
        </p:grpSpPr>
        <p:pic>
          <p:nvPicPr>
            <p:cNvPr id="4" name="Picture 6" descr="Shann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8" y="1787147"/>
              <a:ext cx="1949247"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7"/>
            <p:cNvSpPr txBox="1">
              <a:spLocks noChangeArrowheads="1"/>
            </p:cNvSpPr>
            <p:nvPr/>
          </p:nvSpPr>
          <p:spPr bwMode="auto">
            <a:xfrm>
              <a:off x="838199" y="4112456"/>
              <a:ext cx="1949246" cy="152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b="0" dirty="0"/>
                <a:t>Claude Shannon</a:t>
              </a:r>
              <a:endParaRPr lang="tr-TR" altLang="en-US" b="0" dirty="0"/>
            </a:p>
            <a:p>
              <a:pPr algn="ctr"/>
              <a:r>
                <a:rPr lang="en-US" altLang="en-US" b="0" dirty="0"/>
                <a:t>191</a:t>
              </a:r>
              <a:r>
                <a:rPr lang="tr-TR" altLang="en-US" b="0" dirty="0"/>
                <a:t>6</a:t>
              </a:r>
              <a:r>
                <a:rPr lang="en-US" altLang="en-US" b="0" dirty="0"/>
                <a:t>-2001</a:t>
              </a:r>
            </a:p>
            <a:p>
              <a:pPr algn="ctr"/>
              <a:r>
                <a:rPr lang="en-US" altLang="en-US" b="0" dirty="0"/>
                <a:t>American Mathematician </a:t>
              </a:r>
            </a:p>
            <a:p>
              <a:pPr algn="ctr"/>
              <a:r>
                <a:rPr lang="tr-TR" altLang="en-US" b="0" dirty="0"/>
                <a:t>&amp; </a:t>
              </a:r>
              <a:r>
                <a:rPr lang="en-US" altLang="en-US" b="0" dirty="0"/>
                <a:t>Father of Information Theory </a:t>
              </a:r>
            </a:p>
          </p:txBody>
        </p:sp>
      </p:grpSp>
      <p:sp>
        <p:nvSpPr>
          <p:cNvPr id="7" name="Oval 6"/>
          <p:cNvSpPr/>
          <p:nvPr/>
        </p:nvSpPr>
        <p:spPr>
          <a:xfrm>
            <a:off x="10545816" y="2875262"/>
            <a:ext cx="807984" cy="78233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739867" y="2297813"/>
            <a:ext cx="807984" cy="78233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4"/>
          <p:cNvSpPr txBox="1">
            <a:spLocks noChangeArrowheads="1"/>
          </p:cNvSpPr>
          <p:nvPr/>
        </p:nvSpPr>
        <p:spPr bwMode="auto">
          <a:xfrm>
            <a:off x="8632879" y="1763976"/>
            <a:ext cx="1912937" cy="82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dirty="0">
                <a:latin typeface="Times New Roman" panose="02020603050405020304" pitchFamily="18" charset="0"/>
              </a:rPr>
              <a:t>Select!</a:t>
            </a:r>
          </a:p>
          <a:p>
            <a:r>
              <a:rPr lang="en-US" altLang="en-US" dirty="0">
                <a:latin typeface="Times New Roman" panose="02020603050405020304" pitchFamily="18" charset="0"/>
              </a:rPr>
              <a:t>Higher the Gain, better!</a:t>
            </a:r>
          </a:p>
        </p:txBody>
      </p:sp>
      <p:sp>
        <p:nvSpPr>
          <p:cNvPr id="10" name="Rectangle 5"/>
          <p:cNvSpPr>
            <a:spLocks noChangeArrowheads="1"/>
          </p:cNvSpPr>
          <p:nvPr/>
        </p:nvSpPr>
        <p:spPr bwMode="auto">
          <a:xfrm>
            <a:off x="8578903" y="1795726"/>
            <a:ext cx="1814512" cy="8334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a:p>
        </p:txBody>
      </p:sp>
      <p:sp>
        <p:nvSpPr>
          <p:cNvPr id="11" name="Line 6"/>
          <p:cNvSpPr>
            <a:spLocks noChangeShapeType="1"/>
          </p:cNvSpPr>
          <p:nvPr/>
        </p:nvSpPr>
        <p:spPr bwMode="auto">
          <a:xfrm>
            <a:off x="10393415" y="2618294"/>
            <a:ext cx="299166" cy="2569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spTree>
    <p:extLst>
      <p:ext uri="{BB962C8B-B14F-4D97-AF65-F5344CB8AC3E}">
        <p14:creationId xmlns:p14="http://schemas.microsoft.com/office/powerpoint/2010/main" val="1201626847"/>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normAutofit/>
          </a:bodyPr>
          <a:lstStyle/>
          <a:p>
            <a:r>
              <a:rPr lang="en-US" b="1" dirty="0"/>
              <a:t>Next? – Second Level?</a:t>
            </a:r>
            <a:endParaRPr lang="en-US" altLang="en-US" b="1" dirty="0"/>
          </a:p>
        </p:txBody>
      </p:sp>
      <p:grpSp>
        <p:nvGrpSpPr>
          <p:cNvPr id="13" name="Group 12"/>
          <p:cNvGrpSpPr/>
          <p:nvPr/>
        </p:nvGrpSpPr>
        <p:grpSpPr>
          <a:xfrm>
            <a:off x="3416970" y="1690688"/>
            <a:ext cx="5358060" cy="4112676"/>
            <a:chOff x="2801202" y="1690688"/>
            <a:chExt cx="5638800" cy="4419600"/>
          </a:xfrm>
        </p:grpSpPr>
        <p:sp>
          <p:nvSpPr>
            <p:cNvPr id="14" name="Oval 3"/>
            <p:cNvSpPr>
              <a:spLocks noChangeArrowheads="1"/>
            </p:cNvSpPr>
            <p:nvPr/>
          </p:nvSpPr>
          <p:spPr bwMode="auto">
            <a:xfrm>
              <a:off x="4858602" y="1690688"/>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solidFill>
                    <a:srgbClr val="0070C0"/>
                  </a:solidFill>
                </a:rPr>
                <a:t>Age</a:t>
              </a:r>
            </a:p>
          </p:txBody>
        </p:sp>
        <p:sp>
          <p:nvSpPr>
            <p:cNvPr id="15" name="Line 7"/>
            <p:cNvSpPr>
              <a:spLocks noChangeShapeType="1"/>
            </p:cNvSpPr>
            <p:nvPr/>
          </p:nvSpPr>
          <p:spPr bwMode="auto">
            <a:xfrm flipH="1">
              <a:off x="36394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8"/>
            <p:cNvSpPr txBox="1">
              <a:spLocks noChangeArrowheads="1"/>
            </p:cNvSpPr>
            <p:nvPr/>
          </p:nvSpPr>
          <p:spPr bwMode="auto">
            <a:xfrm>
              <a:off x="3980716" y="2262188"/>
              <a:ext cx="1098435"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Young</a:t>
              </a:r>
            </a:p>
          </p:txBody>
        </p:sp>
        <p:sp>
          <p:nvSpPr>
            <p:cNvPr id="17" name="Line 9"/>
            <p:cNvSpPr>
              <a:spLocks noChangeShapeType="1"/>
            </p:cNvSpPr>
            <p:nvPr/>
          </p:nvSpPr>
          <p:spPr bwMode="auto">
            <a:xfrm>
              <a:off x="5696802" y="2300288"/>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0"/>
            <p:cNvSpPr>
              <a:spLocks noChangeShapeType="1"/>
            </p:cNvSpPr>
            <p:nvPr/>
          </p:nvSpPr>
          <p:spPr bwMode="auto">
            <a:xfrm>
              <a:off x="5849202" y="2300288"/>
              <a:ext cx="19050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Text Box 12"/>
            <p:cNvSpPr txBox="1">
              <a:spLocks noChangeArrowheads="1"/>
            </p:cNvSpPr>
            <p:nvPr/>
          </p:nvSpPr>
          <p:spPr bwMode="auto">
            <a:xfrm>
              <a:off x="5087201" y="2452689"/>
              <a:ext cx="1137372"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Middle</a:t>
              </a:r>
            </a:p>
          </p:txBody>
        </p:sp>
        <p:sp>
          <p:nvSpPr>
            <p:cNvPr id="20" name="Text Box 8"/>
            <p:cNvSpPr txBox="1">
              <a:spLocks noChangeArrowheads="1"/>
            </p:cNvSpPr>
            <p:nvPr/>
          </p:nvSpPr>
          <p:spPr bwMode="auto">
            <a:xfrm>
              <a:off x="6763603" y="2376489"/>
              <a:ext cx="690318" cy="463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Old</a:t>
              </a:r>
            </a:p>
          </p:txBody>
        </p:sp>
        <p:sp>
          <p:nvSpPr>
            <p:cNvPr id="21" name="Rectangle 6"/>
            <p:cNvSpPr>
              <a:spLocks noChangeArrowheads="1"/>
            </p:cNvSpPr>
            <p:nvPr/>
          </p:nvSpPr>
          <p:spPr bwMode="auto">
            <a:xfrm>
              <a:off x="2801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2" name="Rectangle 6"/>
            <p:cNvSpPr>
              <a:spLocks noChangeArrowheads="1"/>
            </p:cNvSpPr>
            <p:nvPr/>
          </p:nvSpPr>
          <p:spPr bwMode="auto">
            <a:xfrm>
              <a:off x="2801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3" name="Rectangle 6"/>
            <p:cNvSpPr>
              <a:spLocks noChangeArrowheads="1"/>
            </p:cNvSpPr>
            <p:nvPr/>
          </p:nvSpPr>
          <p:spPr bwMode="auto">
            <a:xfrm>
              <a:off x="2801202" y="44338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4" name="Rectangle 6"/>
            <p:cNvSpPr>
              <a:spLocks noChangeArrowheads="1"/>
            </p:cNvSpPr>
            <p:nvPr/>
          </p:nvSpPr>
          <p:spPr bwMode="auto">
            <a:xfrm>
              <a:off x="2801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5" name="Rectangle 6"/>
            <p:cNvSpPr>
              <a:spLocks noChangeArrowheads="1"/>
            </p:cNvSpPr>
            <p:nvPr/>
          </p:nvSpPr>
          <p:spPr bwMode="auto">
            <a:xfrm>
              <a:off x="2801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6" name="Rectangle 6"/>
            <p:cNvSpPr>
              <a:spLocks noChangeArrowheads="1"/>
            </p:cNvSpPr>
            <p:nvPr/>
          </p:nvSpPr>
          <p:spPr bwMode="auto">
            <a:xfrm>
              <a:off x="5011002" y="3214688"/>
              <a:ext cx="1447800" cy="457200"/>
            </a:xfrm>
            <a:prstGeom prst="rect">
              <a:avLst/>
            </a:prstGeom>
            <a:solidFill>
              <a:srgbClr val="FF000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7" name="Rectangle 6"/>
            <p:cNvSpPr>
              <a:spLocks noChangeArrowheads="1"/>
            </p:cNvSpPr>
            <p:nvPr/>
          </p:nvSpPr>
          <p:spPr bwMode="auto">
            <a:xfrm>
              <a:off x="5011002" y="38242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8" name="Rectangle 6"/>
            <p:cNvSpPr>
              <a:spLocks noChangeArrowheads="1"/>
            </p:cNvSpPr>
            <p:nvPr/>
          </p:nvSpPr>
          <p:spPr bwMode="auto">
            <a:xfrm>
              <a:off x="50110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9" name="Rectangle 6"/>
            <p:cNvSpPr>
              <a:spLocks noChangeArrowheads="1"/>
            </p:cNvSpPr>
            <p:nvPr/>
          </p:nvSpPr>
          <p:spPr bwMode="auto">
            <a:xfrm>
              <a:off x="50110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0" name="Rectangle 6"/>
            <p:cNvSpPr>
              <a:spLocks noChangeArrowheads="1"/>
            </p:cNvSpPr>
            <p:nvPr/>
          </p:nvSpPr>
          <p:spPr bwMode="auto">
            <a:xfrm>
              <a:off x="6992202" y="3214688"/>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1" name="Rectangle 6"/>
            <p:cNvSpPr>
              <a:spLocks noChangeArrowheads="1"/>
            </p:cNvSpPr>
            <p:nvPr/>
          </p:nvSpPr>
          <p:spPr bwMode="auto">
            <a:xfrm>
              <a:off x="6992202" y="3824288"/>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32" name="Rectangle 6"/>
            <p:cNvSpPr>
              <a:spLocks noChangeArrowheads="1"/>
            </p:cNvSpPr>
            <p:nvPr/>
          </p:nvSpPr>
          <p:spPr bwMode="auto">
            <a:xfrm>
              <a:off x="6992202" y="44338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3" name="Rectangle 6"/>
            <p:cNvSpPr>
              <a:spLocks noChangeArrowheads="1"/>
            </p:cNvSpPr>
            <p:nvPr/>
          </p:nvSpPr>
          <p:spPr bwMode="auto">
            <a:xfrm>
              <a:off x="6992202" y="50434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34" name="Rectangle 6"/>
            <p:cNvSpPr>
              <a:spLocks noChangeArrowheads="1"/>
            </p:cNvSpPr>
            <p:nvPr/>
          </p:nvSpPr>
          <p:spPr bwMode="auto">
            <a:xfrm>
              <a:off x="6992202" y="5653088"/>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grpSp>
      <p:sp>
        <p:nvSpPr>
          <p:cNvPr id="35" name="TextBox 34"/>
          <p:cNvSpPr txBox="1"/>
          <p:nvPr/>
        </p:nvSpPr>
        <p:spPr>
          <a:xfrm>
            <a:off x="838200" y="3534301"/>
            <a:ext cx="2501853" cy="1107996"/>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For Young State the beginning Entropy is </a:t>
            </a:r>
            <a:r>
              <a:rPr lang="en-US" sz="2200" i="1" dirty="0">
                <a:solidFill>
                  <a:srgbClr val="FF0000"/>
                </a:solidFill>
                <a:latin typeface="Arial" panose="020B0604020202020204" pitchFamily="34" charset="0"/>
                <a:cs typeface="Arial" panose="020B0604020202020204" pitchFamily="34" charset="0"/>
              </a:rPr>
              <a:t>0.97!</a:t>
            </a:r>
            <a:endParaRPr lang="en-US" sz="2200" dirty="0">
              <a:solidFill>
                <a:srgbClr val="FF0000"/>
              </a:solidFill>
              <a:latin typeface="Arial" panose="020B0604020202020204" pitchFamily="34" charset="0"/>
              <a:cs typeface="Arial" panose="020B0604020202020204" pitchFamily="34" charset="0"/>
            </a:endParaRPr>
          </a:p>
        </p:txBody>
      </p:sp>
      <p:sp>
        <p:nvSpPr>
          <p:cNvPr id="36" name="TextBox 35"/>
          <p:cNvSpPr txBox="1"/>
          <p:nvPr/>
        </p:nvSpPr>
        <p:spPr>
          <a:xfrm>
            <a:off x="9281874" y="3534301"/>
            <a:ext cx="2501853" cy="1107996"/>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For Old State the beginning Entropy is </a:t>
            </a:r>
            <a:r>
              <a:rPr lang="en-US" sz="2200" i="1" dirty="0">
                <a:solidFill>
                  <a:srgbClr val="FF0000"/>
                </a:solidFill>
                <a:latin typeface="Arial" panose="020B0604020202020204" pitchFamily="34" charset="0"/>
                <a:cs typeface="Arial" panose="020B0604020202020204" pitchFamily="34" charset="0"/>
              </a:rPr>
              <a:t>0.97!</a:t>
            </a:r>
            <a:endParaRPr lang="en-US" sz="2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4281090"/>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r>
              <a:rPr lang="en-US" altLang="en-US" b="1" dirty="0"/>
              <a:t>Next Level: After Young, </a:t>
            </a:r>
            <a:r>
              <a:rPr lang="en-US" altLang="en-US" b="1" dirty="0">
                <a:solidFill>
                  <a:srgbClr val="0070C0"/>
                </a:solidFill>
              </a:rPr>
              <a:t>BMI</a:t>
            </a:r>
            <a:r>
              <a:rPr lang="en-US" altLang="en-US" b="1" dirty="0"/>
              <a:t> (?)</a:t>
            </a:r>
          </a:p>
        </p:txBody>
      </p:sp>
      <p:grpSp>
        <p:nvGrpSpPr>
          <p:cNvPr id="2" name="Group 1"/>
          <p:cNvGrpSpPr/>
          <p:nvPr/>
        </p:nvGrpSpPr>
        <p:grpSpPr>
          <a:xfrm>
            <a:off x="838200" y="1690688"/>
            <a:ext cx="6858000" cy="4419600"/>
            <a:chOff x="1828800" y="1524000"/>
            <a:chExt cx="6858000" cy="4419600"/>
          </a:xfrm>
        </p:grpSpPr>
        <p:sp>
          <p:nvSpPr>
            <p:cNvPr id="7" name="Oval 3"/>
            <p:cNvSpPr>
              <a:spLocks noChangeArrowheads="1"/>
            </p:cNvSpPr>
            <p:nvPr/>
          </p:nvSpPr>
          <p:spPr bwMode="auto">
            <a:xfrm>
              <a:off x="5791200" y="15240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Age</a:t>
              </a:r>
            </a:p>
          </p:txBody>
        </p:sp>
        <p:sp>
          <p:nvSpPr>
            <p:cNvPr id="8" name="Oval 4"/>
            <p:cNvSpPr>
              <a:spLocks noChangeArrowheads="1"/>
            </p:cNvSpPr>
            <p:nvPr/>
          </p:nvSpPr>
          <p:spPr bwMode="auto">
            <a:xfrm>
              <a:off x="386715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u="sng"/>
                <a:t>BMI</a:t>
              </a:r>
              <a:r>
                <a:rPr lang="en-US" altLang="en-US" sz="2200"/>
                <a:t> (</a:t>
              </a:r>
              <a:r>
                <a:rPr lang="en-US" altLang="en-US" sz="2200" u="sng"/>
                <a:t>?</a:t>
              </a:r>
              <a:r>
                <a:rPr lang="en-US" altLang="en-US" sz="2200"/>
                <a:t>)</a:t>
              </a:r>
            </a:p>
          </p:txBody>
        </p:sp>
        <p:sp>
          <p:nvSpPr>
            <p:cNvPr id="9" name="Line 7"/>
            <p:cNvSpPr>
              <a:spLocks noChangeShapeType="1"/>
            </p:cNvSpPr>
            <p:nvPr/>
          </p:nvSpPr>
          <p:spPr bwMode="auto">
            <a:xfrm flipH="1">
              <a:off x="4953000" y="2133600"/>
              <a:ext cx="14478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Text Box 8"/>
            <p:cNvSpPr txBox="1">
              <a:spLocks noChangeArrowheads="1"/>
            </p:cNvSpPr>
            <p:nvPr/>
          </p:nvSpPr>
          <p:spPr bwMode="auto">
            <a:xfrm>
              <a:off x="4708526" y="2095501"/>
              <a:ext cx="104374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Young</a:t>
              </a:r>
            </a:p>
          </p:txBody>
        </p:sp>
        <p:sp>
          <p:nvSpPr>
            <p:cNvPr id="11" name="Line 9"/>
            <p:cNvSpPr>
              <a:spLocks noChangeShapeType="1"/>
            </p:cNvSpPr>
            <p:nvPr/>
          </p:nvSpPr>
          <p:spPr bwMode="auto">
            <a:xfrm>
              <a:off x="6629400" y="21336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0"/>
            <p:cNvSpPr>
              <a:spLocks noChangeShapeType="1"/>
            </p:cNvSpPr>
            <p:nvPr/>
          </p:nvSpPr>
          <p:spPr bwMode="auto">
            <a:xfrm>
              <a:off x="6781800" y="21336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11"/>
            <p:cNvSpPr txBox="1">
              <a:spLocks noChangeArrowheads="1"/>
            </p:cNvSpPr>
            <p:nvPr/>
          </p:nvSpPr>
          <p:spPr bwMode="auto">
            <a:xfrm>
              <a:off x="8001001" y="1981201"/>
              <a:ext cx="6559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Old</a:t>
              </a:r>
            </a:p>
          </p:txBody>
        </p:sp>
        <p:sp>
          <p:nvSpPr>
            <p:cNvPr id="14" name="Text Box 12"/>
            <p:cNvSpPr txBox="1">
              <a:spLocks noChangeArrowheads="1"/>
            </p:cNvSpPr>
            <p:nvPr/>
          </p:nvSpPr>
          <p:spPr bwMode="auto">
            <a:xfrm>
              <a:off x="5791200" y="23622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Medium</a:t>
              </a:r>
            </a:p>
          </p:txBody>
        </p:sp>
        <p:sp>
          <p:nvSpPr>
            <p:cNvPr id="15" name="Text Box 14"/>
            <p:cNvSpPr txBox="1">
              <a:spLocks noChangeArrowheads="1"/>
            </p:cNvSpPr>
            <p:nvPr/>
          </p:nvSpPr>
          <p:spPr bwMode="auto">
            <a:xfrm>
              <a:off x="3028950" y="4038601"/>
              <a:ext cx="7505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Low</a:t>
              </a:r>
            </a:p>
          </p:txBody>
        </p:sp>
        <p:sp>
          <p:nvSpPr>
            <p:cNvPr id="16" name="Line 20"/>
            <p:cNvSpPr>
              <a:spLocks noChangeShapeType="1"/>
            </p:cNvSpPr>
            <p:nvPr/>
          </p:nvSpPr>
          <p:spPr bwMode="auto">
            <a:xfrm>
              <a:off x="4629150" y="3886200"/>
              <a:ext cx="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8"/>
            <p:cNvSpPr>
              <a:spLocks noChangeShapeType="1"/>
            </p:cNvSpPr>
            <p:nvPr/>
          </p:nvSpPr>
          <p:spPr bwMode="auto">
            <a:xfrm flipH="1">
              <a:off x="2590800" y="3886200"/>
              <a:ext cx="196215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6"/>
            <p:cNvSpPr>
              <a:spLocks noChangeArrowheads="1"/>
            </p:cNvSpPr>
            <p:nvPr/>
          </p:nvSpPr>
          <p:spPr bwMode="auto">
            <a:xfrm>
              <a:off x="1828800" y="4876800"/>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19" name="Rectangle 6"/>
            <p:cNvSpPr>
              <a:spLocks noChangeArrowheads="1"/>
            </p:cNvSpPr>
            <p:nvPr/>
          </p:nvSpPr>
          <p:spPr bwMode="auto">
            <a:xfrm>
              <a:off x="1828800" y="54864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0" name="Rectangle 6"/>
            <p:cNvSpPr>
              <a:spLocks noChangeArrowheads="1"/>
            </p:cNvSpPr>
            <p:nvPr/>
          </p:nvSpPr>
          <p:spPr bwMode="auto">
            <a:xfrm>
              <a:off x="3657600" y="48768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21" name="Rectangle 6"/>
            <p:cNvSpPr>
              <a:spLocks noChangeArrowheads="1"/>
            </p:cNvSpPr>
            <p:nvPr/>
          </p:nvSpPr>
          <p:spPr bwMode="auto">
            <a:xfrm>
              <a:off x="3657600" y="54864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2" name="Rectangle 6"/>
            <p:cNvSpPr>
              <a:spLocks noChangeArrowheads="1"/>
            </p:cNvSpPr>
            <p:nvPr/>
          </p:nvSpPr>
          <p:spPr bwMode="auto">
            <a:xfrm>
              <a:off x="5334000" y="48768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23" name="Text Box 14"/>
            <p:cNvSpPr txBox="1">
              <a:spLocks noChangeArrowheads="1"/>
            </p:cNvSpPr>
            <p:nvPr/>
          </p:nvSpPr>
          <p:spPr bwMode="auto">
            <a:xfrm>
              <a:off x="3943350" y="43434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Medium</a:t>
              </a:r>
            </a:p>
          </p:txBody>
        </p:sp>
        <p:sp>
          <p:nvSpPr>
            <p:cNvPr id="24" name="Text Box 14"/>
            <p:cNvSpPr txBox="1">
              <a:spLocks noChangeArrowheads="1"/>
            </p:cNvSpPr>
            <p:nvPr/>
          </p:nvSpPr>
          <p:spPr bwMode="auto">
            <a:xfrm>
              <a:off x="5486401" y="41148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High</a:t>
              </a:r>
            </a:p>
          </p:txBody>
        </p:sp>
        <p:sp>
          <p:nvSpPr>
            <p:cNvPr id="25" name="Line 18"/>
            <p:cNvSpPr>
              <a:spLocks noChangeShapeType="1"/>
            </p:cNvSpPr>
            <p:nvPr/>
          </p:nvSpPr>
          <p:spPr bwMode="auto">
            <a:xfrm>
              <a:off x="4781550" y="3886200"/>
              <a:ext cx="1390650" cy="990600"/>
            </a:xfrm>
            <a:prstGeom prst="line">
              <a:avLst/>
            </a:prstGeom>
            <a:no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94861001"/>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Next Level: After Young, </a:t>
            </a:r>
            <a:r>
              <a:rPr lang="en-US" altLang="en-US" b="1" dirty="0">
                <a:solidFill>
                  <a:srgbClr val="0070C0"/>
                </a:solidFill>
              </a:rPr>
              <a:t>BMI</a:t>
            </a:r>
            <a:r>
              <a:rPr lang="en-US" altLang="en-US" b="1" dirty="0"/>
              <a:t> (?)</a:t>
            </a:r>
            <a:endParaRPr lang="en-US" b="1" dirty="0">
              <a:solidFill>
                <a:srgbClr val="002060"/>
              </a:solidFill>
            </a:endParaRPr>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tr-TR" altLang="en-US" sz="2400" b="1" dirty="0">
                <a:latin typeface="Arial" panose="020B0604020202020204" pitchFamily="34" charset="0"/>
                <a:cs typeface="Arial" panose="020B0604020202020204" pitchFamily="34" charset="0"/>
              </a:rPr>
              <a:t>RECALL:</a:t>
            </a: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endParaRPr lang="tr-TR" altLang="en-US" sz="2400" dirty="0">
              <a:latin typeface="Arial" panose="020B0604020202020204" pitchFamily="34" charset="0"/>
              <a:cs typeface="Arial" panose="020B0604020202020204" pitchFamily="34" charset="0"/>
            </a:endParaRPr>
          </a:p>
          <a:p>
            <a:pPr>
              <a:lnSpc>
                <a:spcPct val="120000"/>
              </a:lnSpc>
              <a:spcBef>
                <a:spcPts val="600"/>
              </a:spcBef>
            </a:pPr>
            <a:r>
              <a:rPr lang="en-US" altLang="en-US" sz="2400" dirty="0">
                <a:latin typeface="Arial" panose="020B0604020202020204" pitchFamily="34" charset="0"/>
                <a:cs typeface="Arial" panose="020B0604020202020204" pitchFamily="34" charset="0"/>
              </a:rPr>
              <a:t>This is the entropy </a:t>
            </a:r>
            <a:r>
              <a:rPr lang="en-US" altLang="en-US" sz="2400" i="1" u="sng" dirty="0">
                <a:latin typeface="Arial" panose="020B0604020202020204" pitchFamily="34" charset="0"/>
                <a:cs typeface="Arial" panose="020B0604020202020204" pitchFamily="34" charset="0"/>
              </a:rPr>
              <a:t>before knowing anything</a:t>
            </a:r>
            <a:r>
              <a:rPr lang="en-US" altLang="en-US" sz="2400" i="1"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regarding to the patients.</a:t>
            </a:r>
          </a:p>
          <a:p>
            <a:pPr>
              <a:lnSpc>
                <a:spcPct val="120000"/>
              </a:lnSpc>
              <a:spcBef>
                <a:spcPts val="600"/>
              </a:spcBef>
            </a:pPr>
            <a:endParaRPr lang="en-US" altLang="en-US" sz="2400" dirty="0">
              <a:latin typeface="Arial" panose="020B0604020202020204" pitchFamily="34" charset="0"/>
              <a:cs typeface="Arial" panose="020B0604020202020204" pitchFamily="34" charset="0"/>
            </a:endParaRPr>
          </a:p>
          <a:p>
            <a:pPr>
              <a:lnSpc>
                <a:spcPct val="120000"/>
              </a:lnSpc>
              <a:spcBef>
                <a:spcPts val="600"/>
              </a:spcBef>
            </a:pPr>
            <a:r>
              <a:rPr lang="en-US" altLang="en-US" sz="2400" dirty="0">
                <a:latin typeface="Arial" panose="020B0604020202020204" pitchFamily="34" charset="0"/>
                <a:cs typeface="Arial" panose="020B0604020202020204" pitchFamily="34" charset="0"/>
              </a:rPr>
              <a:t>Suppose you know the </a:t>
            </a:r>
            <a:r>
              <a:rPr lang="tr-TR" altLang="en-US" sz="2400" i="1" dirty="0">
                <a:solidFill>
                  <a:srgbClr val="0070C0"/>
                </a:solidFill>
                <a:latin typeface="Arial" panose="020B0604020202020204" pitchFamily="34" charset="0"/>
                <a:cs typeface="Arial" panose="020B0604020202020204" pitchFamily="34" charset="0"/>
              </a:rPr>
              <a:t>BMI</a:t>
            </a:r>
            <a:r>
              <a:rPr lang="en-US" altLang="en-US" sz="2400" dirty="0">
                <a:latin typeface="Arial" panose="020B0604020202020204" pitchFamily="34" charset="0"/>
                <a:cs typeface="Arial" panose="020B0604020202020204" pitchFamily="34" charset="0"/>
              </a:rPr>
              <a:t> of the patients. What would be the entropy </a:t>
            </a:r>
            <a:r>
              <a:rPr lang="en-US" altLang="en-US" sz="2400" i="1" u="sng" dirty="0">
                <a:latin typeface="Arial" panose="020B0604020202020204" pitchFamily="34" charset="0"/>
                <a:cs typeface="Arial" panose="020B0604020202020204" pitchFamily="34" charset="0"/>
              </a:rPr>
              <a:t>after this information</a:t>
            </a:r>
            <a:r>
              <a:rPr lang="en-US" altLang="en-US" sz="2400" dirty="0">
                <a:latin typeface="Arial" panose="020B0604020202020204" pitchFamily="34" charset="0"/>
                <a:cs typeface="Arial" panose="020B0604020202020204" pitchFamily="34" charset="0"/>
              </a:rPr>
              <a:t>?</a:t>
            </a:r>
          </a:p>
          <a:p>
            <a:pPr>
              <a:lnSpc>
                <a:spcPct val="120000"/>
              </a:lnSpc>
              <a:spcBef>
                <a:spcPts val="600"/>
              </a:spcBef>
            </a:pPr>
            <a:r>
              <a:rPr lang="en-US" altLang="en-US" sz="2400" dirty="0">
                <a:latin typeface="Arial" panose="020B0604020202020204" pitchFamily="34" charset="0"/>
                <a:cs typeface="Arial" panose="020B0604020202020204" pitchFamily="34" charset="0"/>
              </a:rPr>
              <a:t>What is the </a:t>
            </a:r>
            <a:r>
              <a:rPr lang="en-US" altLang="en-US" sz="2400" i="1" dirty="0">
                <a:latin typeface="Arial" panose="020B0604020202020204" pitchFamily="34" charset="0"/>
                <a:cs typeface="Arial" panose="020B0604020202020204" pitchFamily="34" charset="0"/>
              </a:rPr>
              <a:t>Gain </a:t>
            </a:r>
            <a:r>
              <a:rPr lang="en-US" altLang="en-US" sz="2400" dirty="0">
                <a:latin typeface="Arial" panose="020B0604020202020204" pitchFamily="34" charset="0"/>
                <a:cs typeface="Arial" panose="020B0604020202020204" pitchFamily="34" charset="0"/>
              </a:rPr>
              <a:t>of this extra information? How much </a:t>
            </a:r>
            <a:r>
              <a:rPr lang="en-US" altLang="en-US" sz="2400" i="1" dirty="0">
                <a:latin typeface="Arial" panose="020B0604020202020204" pitchFamily="34" charset="0"/>
                <a:cs typeface="Arial" panose="020B0604020202020204" pitchFamily="34" charset="0"/>
              </a:rPr>
              <a:t>uncertainty / impurity would be reduced </a:t>
            </a:r>
            <a:r>
              <a:rPr lang="en-US" altLang="en-US" sz="2400" dirty="0">
                <a:latin typeface="Arial" panose="020B0604020202020204" pitchFamily="34" charset="0"/>
                <a:cs typeface="Arial" panose="020B0604020202020204" pitchFamily="34" charset="0"/>
              </a:rPr>
              <a:t>with this information?</a:t>
            </a:r>
          </a:p>
          <a:p>
            <a:pPr>
              <a:lnSpc>
                <a:spcPct val="120000"/>
              </a:lnSpc>
            </a:pPr>
            <a:endParaRPr lang="en-US" sz="2200" dirty="0">
              <a:latin typeface="Arial" panose="020B0604020202020204" pitchFamily="34" charset="0"/>
              <a:cs typeface="Arial" panose="020B0604020202020204" pitchFamily="34" charset="0"/>
            </a:endParaRPr>
          </a:p>
        </p:txBody>
      </p:sp>
      <p:graphicFrame>
        <p:nvGraphicFramePr>
          <p:cNvPr id="4" name="Object 2"/>
          <p:cNvGraphicFramePr>
            <a:graphicFrameLocks noChangeAspect="1"/>
          </p:cNvGraphicFramePr>
          <p:nvPr/>
        </p:nvGraphicFramePr>
        <p:xfrm>
          <a:off x="2480187" y="2175389"/>
          <a:ext cx="6819900" cy="1446213"/>
        </p:xfrm>
        <a:graphic>
          <a:graphicData uri="http://schemas.openxmlformats.org/presentationml/2006/ole">
            <mc:AlternateContent xmlns:mc="http://schemas.openxmlformats.org/markup-compatibility/2006">
              <mc:Choice xmlns:v="urn:schemas-microsoft-com:vml" Requires="v">
                <p:oleObj name="Denklem" r:id="rId2" imgW="2908080" imgH="634680" progId="Equation.3">
                  <p:embed/>
                </p:oleObj>
              </mc:Choice>
              <mc:Fallback>
                <p:oleObj name="Denklem" r:id="rId2" imgW="2908080" imgH="634680" progId="Equation.3">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0187" y="2175389"/>
                        <a:ext cx="6819900" cy="144621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524820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Entropy After Split From </a:t>
            </a:r>
            <a:r>
              <a:rPr lang="en-US" altLang="en-US" b="1" dirty="0">
                <a:solidFill>
                  <a:srgbClr val="0070C0"/>
                </a:solidFill>
              </a:rPr>
              <a:t>BMI</a:t>
            </a:r>
            <a:endParaRPr lang="en-US" b="1" dirty="0">
              <a:solidFill>
                <a:srgbClr val="0070C0"/>
              </a:solidFill>
            </a:endParaRPr>
          </a:p>
        </p:txBody>
      </p:sp>
      <p:graphicFrame>
        <p:nvGraphicFramePr>
          <p:cNvPr id="6" name="Object 2"/>
          <p:cNvGraphicFramePr>
            <a:graphicFrameLocks noChangeAspect="1"/>
          </p:cNvGraphicFramePr>
          <p:nvPr/>
        </p:nvGraphicFramePr>
        <p:xfrm>
          <a:off x="838200" y="1690688"/>
          <a:ext cx="5929775" cy="2601093"/>
        </p:xfrm>
        <a:graphic>
          <a:graphicData uri="http://schemas.openxmlformats.org/presentationml/2006/ole">
            <mc:AlternateContent xmlns:mc="http://schemas.openxmlformats.org/markup-compatibility/2006">
              <mc:Choice xmlns:v="urn:schemas-microsoft-com:vml" Requires="v">
                <p:oleObj name="Denklem" r:id="rId2" imgW="2781000" imgH="1422360" progId="Equation.3">
                  <p:embed/>
                </p:oleObj>
              </mc:Choice>
              <mc:Fallback>
                <p:oleObj name="Denklem" r:id="rId2" imgW="2781000" imgH="1422360" progId="Equation.3">
                  <p:embed/>
                  <p:pic>
                    <p:nvPicPr>
                      <p:cNvPr id="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5929775" cy="2601093"/>
                      </a:xfrm>
                      <a:prstGeom prst="rect">
                        <a:avLst/>
                      </a:prstGeom>
                      <a:noFill/>
                      <a:ln>
                        <a:noFill/>
                      </a:ln>
                      <a:effectLst/>
                    </p:spPr>
                  </p:pic>
                </p:oleObj>
              </mc:Fallback>
            </mc:AlternateContent>
          </a:graphicData>
        </a:graphic>
      </p:graphicFrame>
      <p:graphicFrame>
        <p:nvGraphicFramePr>
          <p:cNvPr id="7" name="Object 2"/>
          <p:cNvGraphicFramePr>
            <a:graphicFrameLocks noChangeAspect="1"/>
          </p:cNvGraphicFramePr>
          <p:nvPr/>
        </p:nvGraphicFramePr>
        <p:xfrm>
          <a:off x="838200" y="4291781"/>
          <a:ext cx="6653981" cy="2351859"/>
        </p:xfrm>
        <a:graphic>
          <a:graphicData uri="http://schemas.openxmlformats.org/presentationml/2006/ole">
            <mc:AlternateContent xmlns:mc="http://schemas.openxmlformats.org/markup-compatibility/2006">
              <mc:Choice xmlns:v="urn:schemas-microsoft-com:vml" Requires="v">
                <p:oleObj name="Denklem" r:id="rId4" imgW="3403440" imgH="1320480" progId="Equation.3">
                  <p:embed/>
                </p:oleObj>
              </mc:Choice>
              <mc:Fallback>
                <p:oleObj name="Denklem" r:id="rId4" imgW="3403440" imgH="1320480" progId="Equation.3">
                  <p:embed/>
                  <p:pic>
                    <p:nvPicPr>
                      <p:cNvPr id="7"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291781"/>
                        <a:ext cx="6653981" cy="2351859"/>
                      </a:xfrm>
                      <a:prstGeom prst="rect">
                        <a:avLst/>
                      </a:prstGeom>
                      <a:noFill/>
                    </p:spPr>
                  </p:pic>
                </p:oleObj>
              </mc:Fallback>
            </mc:AlternateContent>
          </a:graphicData>
        </a:graphic>
      </p:graphicFrame>
    </p:spTree>
    <p:extLst>
      <p:ext uri="{BB962C8B-B14F-4D97-AF65-F5344CB8AC3E}">
        <p14:creationId xmlns:p14="http://schemas.microsoft.com/office/powerpoint/2010/main" val="131771771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b="1" dirty="0"/>
              <a:t>Next Level: After Young, </a:t>
            </a:r>
            <a:r>
              <a:rPr lang="en-US" altLang="en-US" b="1" dirty="0">
                <a:solidFill>
                  <a:srgbClr val="0070C0"/>
                </a:solidFill>
              </a:rPr>
              <a:t>Gender </a:t>
            </a:r>
            <a:r>
              <a:rPr lang="en-US" altLang="en-US" b="1" dirty="0"/>
              <a:t>(?)</a:t>
            </a:r>
          </a:p>
        </p:txBody>
      </p:sp>
      <p:sp>
        <p:nvSpPr>
          <p:cNvPr id="87043" name="Oval 3"/>
          <p:cNvSpPr>
            <a:spLocks noChangeArrowheads="1"/>
          </p:cNvSpPr>
          <p:nvPr/>
        </p:nvSpPr>
        <p:spPr bwMode="auto">
          <a:xfrm>
            <a:off x="5791200" y="15240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Age</a:t>
            </a:r>
          </a:p>
        </p:txBody>
      </p:sp>
      <p:sp>
        <p:nvSpPr>
          <p:cNvPr id="87044" name="Oval 4"/>
          <p:cNvSpPr>
            <a:spLocks noChangeArrowheads="1"/>
          </p:cNvSpPr>
          <p:nvPr/>
        </p:nvSpPr>
        <p:spPr bwMode="auto">
          <a:xfrm>
            <a:off x="3943350" y="28194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u="sng"/>
              <a:t>Gender</a:t>
            </a:r>
            <a:endParaRPr lang="en-US" altLang="en-US" sz="2200"/>
          </a:p>
        </p:txBody>
      </p:sp>
      <p:sp>
        <p:nvSpPr>
          <p:cNvPr id="87045" name="Line 7"/>
          <p:cNvSpPr>
            <a:spLocks noChangeShapeType="1"/>
          </p:cNvSpPr>
          <p:nvPr/>
        </p:nvSpPr>
        <p:spPr bwMode="auto">
          <a:xfrm flipH="1">
            <a:off x="5029200" y="2133600"/>
            <a:ext cx="13716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046" name="Text Box 8"/>
          <p:cNvSpPr txBox="1">
            <a:spLocks noChangeArrowheads="1"/>
          </p:cNvSpPr>
          <p:nvPr/>
        </p:nvSpPr>
        <p:spPr bwMode="auto">
          <a:xfrm>
            <a:off x="4708526" y="2095501"/>
            <a:ext cx="104374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Young</a:t>
            </a:r>
          </a:p>
        </p:txBody>
      </p:sp>
      <p:sp>
        <p:nvSpPr>
          <p:cNvPr id="87047" name="Line 9"/>
          <p:cNvSpPr>
            <a:spLocks noChangeShapeType="1"/>
          </p:cNvSpPr>
          <p:nvPr/>
        </p:nvSpPr>
        <p:spPr bwMode="auto">
          <a:xfrm>
            <a:off x="6629400" y="21336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048" name="Line 10"/>
          <p:cNvSpPr>
            <a:spLocks noChangeShapeType="1"/>
          </p:cNvSpPr>
          <p:nvPr/>
        </p:nvSpPr>
        <p:spPr bwMode="auto">
          <a:xfrm>
            <a:off x="6781800" y="21336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049" name="Text Box 11"/>
          <p:cNvSpPr txBox="1">
            <a:spLocks noChangeArrowheads="1"/>
          </p:cNvSpPr>
          <p:nvPr/>
        </p:nvSpPr>
        <p:spPr bwMode="auto">
          <a:xfrm>
            <a:off x="8001001" y="1981201"/>
            <a:ext cx="6559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Old</a:t>
            </a:r>
          </a:p>
        </p:txBody>
      </p:sp>
      <p:sp>
        <p:nvSpPr>
          <p:cNvPr id="87050" name="Text Box 12"/>
          <p:cNvSpPr txBox="1">
            <a:spLocks noChangeArrowheads="1"/>
          </p:cNvSpPr>
          <p:nvPr/>
        </p:nvSpPr>
        <p:spPr bwMode="auto">
          <a:xfrm>
            <a:off x="5791200" y="23622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Medium</a:t>
            </a:r>
          </a:p>
        </p:txBody>
      </p:sp>
      <p:sp>
        <p:nvSpPr>
          <p:cNvPr id="87051" name="Text Box 14"/>
          <p:cNvSpPr txBox="1">
            <a:spLocks noChangeArrowheads="1"/>
          </p:cNvSpPr>
          <p:nvPr/>
        </p:nvSpPr>
        <p:spPr bwMode="auto">
          <a:xfrm>
            <a:off x="3523886" y="3607713"/>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Male</a:t>
            </a:r>
          </a:p>
        </p:txBody>
      </p:sp>
      <p:sp>
        <p:nvSpPr>
          <p:cNvPr id="87052" name="Line 18"/>
          <p:cNvSpPr>
            <a:spLocks noChangeShapeType="1"/>
          </p:cNvSpPr>
          <p:nvPr/>
        </p:nvSpPr>
        <p:spPr bwMode="auto">
          <a:xfrm flipH="1">
            <a:off x="3886200" y="3429000"/>
            <a:ext cx="74295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053" name="Rectangle 6"/>
          <p:cNvSpPr>
            <a:spLocks noChangeArrowheads="1"/>
          </p:cNvSpPr>
          <p:nvPr/>
        </p:nvSpPr>
        <p:spPr bwMode="auto">
          <a:xfrm>
            <a:off x="3048000" y="4419600"/>
            <a:ext cx="1447800" cy="457200"/>
          </a:xfrm>
          <a:prstGeom prst="rect">
            <a:avLst/>
          </a:prstGeom>
          <a:solidFill>
            <a:srgbClr val="00B050"/>
          </a:solidFill>
          <a:ln w="9525">
            <a:solidFill>
              <a:schemeClr val="accent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87054" name="Rectangle 6"/>
          <p:cNvSpPr>
            <a:spLocks noChangeArrowheads="1"/>
          </p:cNvSpPr>
          <p:nvPr/>
        </p:nvSpPr>
        <p:spPr bwMode="auto">
          <a:xfrm>
            <a:off x="30480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87055" name="Rectangle 6"/>
          <p:cNvSpPr>
            <a:spLocks noChangeArrowheads="1"/>
          </p:cNvSpPr>
          <p:nvPr/>
        </p:nvSpPr>
        <p:spPr bwMode="auto">
          <a:xfrm>
            <a:off x="3048000" y="54864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Healthy</a:t>
            </a:r>
          </a:p>
        </p:txBody>
      </p:sp>
      <p:sp>
        <p:nvSpPr>
          <p:cNvPr id="87056" name="Rectangle 6"/>
          <p:cNvSpPr>
            <a:spLocks noChangeArrowheads="1"/>
          </p:cNvSpPr>
          <p:nvPr/>
        </p:nvSpPr>
        <p:spPr bwMode="auto">
          <a:xfrm>
            <a:off x="53340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87057" name="Rectangle 6"/>
          <p:cNvSpPr>
            <a:spLocks noChangeArrowheads="1"/>
          </p:cNvSpPr>
          <p:nvPr/>
        </p:nvSpPr>
        <p:spPr bwMode="auto">
          <a:xfrm>
            <a:off x="5334000" y="44196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b="0" dirty="0"/>
              <a:t>Sick</a:t>
            </a:r>
          </a:p>
        </p:txBody>
      </p:sp>
      <p:sp>
        <p:nvSpPr>
          <p:cNvPr id="87058" name="Text Box 14"/>
          <p:cNvSpPr txBox="1">
            <a:spLocks noChangeArrowheads="1"/>
          </p:cNvSpPr>
          <p:nvPr/>
        </p:nvSpPr>
        <p:spPr bwMode="auto">
          <a:xfrm>
            <a:off x="5485230" y="3706356"/>
            <a:ext cx="115768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Female</a:t>
            </a:r>
          </a:p>
        </p:txBody>
      </p:sp>
      <p:sp>
        <p:nvSpPr>
          <p:cNvPr id="87059" name="Line 18"/>
          <p:cNvSpPr>
            <a:spLocks noChangeShapeType="1"/>
          </p:cNvSpPr>
          <p:nvPr/>
        </p:nvSpPr>
        <p:spPr bwMode="auto">
          <a:xfrm>
            <a:off x="4857750" y="3429000"/>
            <a:ext cx="108585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780571896"/>
      </p:ext>
    </p:extLst>
  </p:cSld>
  <p:clrMapOvr>
    <a:masterClrMapping/>
  </p:clrMapOvr>
  <p:transition spd="med" advClick="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altLang="en-US" b="1" dirty="0"/>
              <a:t>Calculating the Gain</a:t>
            </a:r>
          </a:p>
        </p:txBody>
      </p:sp>
      <p:graphicFrame>
        <p:nvGraphicFramePr>
          <p:cNvPr id="15362" name="Object 2"/>
          <p:cNvGraphicFramePr>
            <a:graphicFrameLocks noChangeAspect="1"/>
          </p:cNvGraphicFramePr>
          <p:nvPr/>
        </p:nvGraphicFramePr>
        <p:xfrm>
          <a:off x="1592826" y="2435227"/>
          <a:ext cx="9409471" cy="3110182"/>
        </p:xfrm>
        <a:graphic>
          <a:graphicData uri="http://schemas.openxmlformats.org/presentationml/2006/ole">
            <mc:AlternateContent xmlns:mc="http://schemas.openxmlformats.org/markup-compatibility/2006">
              <mc:Choice xmlns:v="urn:schemas-microsoft-com:vml" Requires="v">
                <p:oleObj name="Denklem" r:id="rId2" imgW="3568680" imgH="1346040" progId="Equation.3">
                  <p:embed/>
                </p:oleObj>
              </mc:Choice>
              <mc:Fallback>
                <p:oleObj name="Denklem" r:id="rId2" imgW="3568680" imgH="1346040" progId="Equation.3">
                  <p:embed/>
                  <p:pic>
                    <p:nvPicPr>
                      <p:cNvPr id="1536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2826" y="2435227"/>
                        <a:ext cx="9409471" cy="3110182"/>
                      </a:xfrm>
                      <a:prstGeom prst="rect">
                        <a:avLst/>
                      </a:prstGeom>
                      <a:noFill/>
                    </p:spPr>
                  </p:pic>
                </p:oleObj>
              </mc:Fallback>
            </mc:AlternateContent>
          </a:graphicData>
        </a:graphic>
      </p:graphicFrame>
      <p:sp>
        <p:nvSpPr>
          <p:cNvPr id="15364" name="Text Box 4"/>
          <p:cNvSpPr txBox="1">
            <a:spLocks noChangeArrowheads="1"/>
          </p:cNvSpPr>
          <p:nvPr/>
        </p:nvSpPr>
        <p:spPr bwMode="auto">
          <a:xfrm>
            <a:off x="8853489" y="5620467"/>
            <a:ext cx="946150" cy="329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58" tIns="41029" rIns="82058" bIns="41029">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dirty="0">
                <a:latin typeface="Times New Roman" panose="02020603050405020304" pitchFamily="18" charset="0"/>
              </a:rPr>
              <a:t>Select</a:t>
            </a:r>
            <a:r>
              <a:rPr lang="tr-TR" altLang="en-US" dirty="0">
                <a:latin typeface="Times New Roman" panose="02020603050405020304" pitchFamily="18" charset="0"/>
              </a:rPr>
              <a:t>!</a:t>
            </a:r>
            <a:endParaRPr lang="en-US" altLang="en-US" dirty="0">
              <a:latin typeface="Times New Roman" panose="02020603050405020304" pitchFamily="18" charset="0"/>
            </a:endParaRPr>
          </a:p>
        </p:txBody>
      </p:sp>
      <p:sp>
        <p:nvSpPr>
          <p:cNvPr id="15365" name="Rectangle 5"/>
          <p:cNvSpPr>
            <a:spLocks noChangeArrowheads="1"/>
          </p:cNvSpPr>
          <p:nvPr/>
        </p:nvSpPr>
        <p:spPr bwMode="auto">
          <a:xfrm>
            <a:off x="8853489" y="5525541"/>
            <a:ext cx="900112" cy="403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82058" tIns="41029" rIns="82058" bIns="41029"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endParaRPr lang="en-US" altLang="en-US"/>
          </a:p>
        </p:txBody>
      </p:sp>
      <p:sp>
        <p:nvSpPr>
          <p:cNvPr id="15366" name="Line 6"/>
          <p:cNvSpPr>
            <a:spLocks noChangeShapeType="1"/>
          </p:cNvSpPr>
          <p:nvPr/>
        </p:nvSpPr>
        <p:spPr bwMode="auto">
          <a:xfrm flipH="1" flipV="1">
            <a:off x="7108722" y="4970206"/>
            <a:ext cx="1744765" cy="7964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82058" tIns="41029" rIns="82058" bIns="41029" anchor="ctr"/>
          <a:lstStyle/>
          <a:p>
            <a:endParaRPr lang="en-US"/>
          </a:p>
        </p:txBody>
      </p:sp>
    </p:spTree>
    <p:extLst>
      <p:ext uri="{BB962C8B-B14F-4D97-AF65-F5344CB8AC3E}">
        <p14:creationId xmlns:p14="http://schemas.microsoft.com/office/powerpoint/2010/main" val="1659643708"/>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b="1" dirty="0"/>
              <a:t>Final Tree</a:t>
            </a:r>
          </a:p>
        </p:txBody>
      </p:sp>
      <p:grpSp>
        <p:nvGrpSpPr>
          <p:cNvPr id="2" name="Group 1"/>
          <p:cNvGrpSpPr/>
          <p:nvPr/>
        </p:nvGrpSpPr>
        <p:grpSpPr>
          <a:xfrm>
            <a:off x="2324100" y="1690688"/>
            <a:ext cx="7543800" cy="3200400"/>
            <a:chOff x="2667000" y="2209800"/>
            <a:chExt cx="7543800" cy="3200400"/>
          </a:xfrm>
        </p:grpSpPr>
        <p:sp>
          <p:nvSpPr>
            <p:cNvPr id="88067" name="Oval 3"/>
            <p:cNvSpPr>
              <a:spLocks noChangeArrowheads="1"/>
            </p:cNvSpPr>
            <p:nvPr/>
          </p:nvSpPr>
          <p:spPr bwMode="auto">
            <a:xfrm>
              <a:off x="5486400" y="22098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Age</a:t>
              </a:r>
            </a:p>
          </p:txBody>
        </p:sp>
        <p:sp>
          <p:nvSpPr>
            <p:cNvPr id="88068" name="Oval 4"/>
            <p:cNvSpPr>
              <a:spLocks noChangeArrowheads="1"/>
            </p:cNvSpPr>
            <p:nvPr/>
          </p:nvSpPr>
          <p:spPr bwMode="auto">
            <a:xfrm>
              <a:off x="327660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Gender</a:t>
              </a:r>
            </a:p>
          </p:txBody>
        </p:sp>
        <p:sp>
          <p:nvSpPr>
            <p:cNvPr id="88069" name="Oval 5"/>
            <p:cNvSpPr>
              <a:spLocks noChangeArrowheads="1"/>
            </p:cNvSpPr>
            <p:nvPr/>
          </p:nvSpPr>
          <p:spPr bwMode="auto">
            <a:xfrm>
              <a:off x="762000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IoS</a:t>
              </a:r>
            </a:p>
          </p:txBody>
        </p:sp>
        <p:sp>
          <p:nvSpPr>
            <p:cNvPr id="88070" name="Line 7"/>
            <p:cNvSpPr>
              <a:spLocks noChangeShapeType="1"/>
            </p:cNvSpPr>
            <p:nvPr/>
          </p:nvSpPr>
          <p:spPr bwMode="auto">
            <a:xfrm flipH="1">
              <a:off x="4343400"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1" name="Text Box 8"/>
            <p:cNvSpPr txBox="1">
              <a:spLocks noChangeArrowheads="1"/>
            </p:cNvSpPr>
            <p:nvPr/>
          </p:nvSpPr>
          <p:spPr bwMode="auto">
            <a:xfrm>
              <a:off x="4403726" y="2781301"/>
              <a:ext cx="104374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Young</a:t>
              </a:r>
            </a:p>
          </p:txBody>
        </p:sp>
        <p:sp>
          <p:nvSpPr>
            <p:cNvPr id="88072" name="Line 9"/>
            <p:cNvSpPr>
              <a:spLocks noChangeShapeType="1"/>
            </p:cNvSpPr>
            <p:nvPr/>
          </p:nvSpPr>
          <p:spPr bwMode="auto">
            <a:xfrm>
              <a:off x="6324600" y="2819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3" name="Line 10"/>
            <p:cNvSpPr>
              <a:spLocks noChangeShapeType="1"/>
            </p:cNvSpPr>
            <p:nvPr/>
          </p:nvSpPr>
          <p:spPr bwMode="auto">
            <a:xfrm>
              <a:off x="6477000"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4" name="Text Box 11"/>
            <p:cNvSpPr txBox="1">
              <a:spLocks noChangeArrowheads="1"/>
            </p:cNvSpPr>
            <p:nvPr/>
          </p:nvSpPr>
          <p:spPr bwMode="auto">
            <a:xfrm>
              <a:off x="7696201" y="2667001"/>
              <a:ext cx="6559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Old</a:t>
              </a:r>
            </a:p>
          </p:txBody>
        </p:sp>
        <p:sp>
          <p:nvSpPr>
            <p:cNvPr id="88075" name="Text Box 12"/>
            <p:cNvSpPr txBox="1">
              <a:spLocks noChangeArrowheads="1"/>
            </p:cNvSpPr>
            <p:nvPr/>
          </p:nvSpPr>
          <p:spPr bwMode="auto">
            <a:xfrm>
              <a:off x="5486400" y="30480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Medium</a:t>
              </a:r>
            </a:p>
          </p:txBody>
        </p:sp>
        <p:sp>
          <p:nvSpPr>
            <p:cNvPr id="88076" name="Text Box 14"/>
            <p:cNvSpPr txBox="1">
              <a:spLocks noChangeArrowheads="1"/>
            </p:cNvSpPr>
            <p:nvPr/>
          </p:nvSpPr>
          <p:spPr bwMode="auto">
            <a:xfrm>
              <a:off x="2895601" y="41148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Male</a:t>
              </a:r>
            </a:p>
          </p:txBody>
        </p:sp>
        <p:sp>
          <p:nvSpPr>
            <p:cNvPr id="88077" name="Line 18"/>
            <p:cNvSpPr>
              <a:spLocks noChangeShapeType="1"/>
            </p:cNvSpPr>
            <p:nvPr/>
          </p:nvSpPr>
          <p:spPr bwMode="auto">
            <a:xfrm flipH="1">
              <a:off x="7924800"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8" name="Text Box 19"/>
            <p:cNvSpPr txBox="1">
              <a:spLocks noChangeArrowheads="1"/>
            </p:cNvSpPr>
            <p:nvPr/>
          </p:nvSpPr>
          <p:spPr bwMode="auto">
            <a:xfrm>
              <a:off x="7467600" y="4114801"/>
              <a:ext cx="7505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Low</a:t>
              </a:r>
            </a:p>
          </p:txBody>
        </p:sp>
        <p:sp>
          <p:nvSpPr>
            <p:cNvPr id="88079" name="Line 20"/>
            <p:cNvSpPr>
              <a:spLocks noChangeShapeType="1"/>
            </p:cNvSpPr>
            <p:nvPr/>
          </p:nvSpPr>
          <p:spPr bwMode="auto">
            <a:xfrm>
              <a:off x="8610600"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0" name="Line 20"/>
            <p:cNvSpPr>
              <a:spLocks noChangeShapeType="1"/>
            </p:cNvSpPr>
            <p:nvPr/>
          </p:nvSpPr>
          <p:spPr bwMode="auto">
            <a:xfrm>
              <a:off x="4038600"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1" name="Line 18"/>
            <p:cNvSpPr>
              <a:spLocks noChangeShapeType="1"/>
            </p:cNvSpPr>
            <p:nvPr/>
          </p:nvSpPr>
          <p:spPr bwMode="auto">
            <a:xfrm flipH="1">
              <a:off x="3352800"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2" name="Rectangle 6"/>
            <p:cNvSpPr>
              <a:spLocks noChangeArrowheads="1"/>
            </p:cNvSpPr>
            <p:nvPr/>
          </p:nvSpPr>
          <p:spPr bwMode="auto">
            <a:xfrm>
              <a:off x="26670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Healthy</a:t>
              </a:r>
            </a:p>
          </p:txBody>
        </p:sp>
        <p:sp>
          <p:nvSpPr>
            <p:cNvPr id="88083" name="Rectangle 6"/>
            <p:cNvSpPr>
              <a:spLocks noChangeArrowheads="1"/>
            </p:cNvSpPr>
            <p:nvPr/>
          </p:nvSpPr>
          <p:spPr bwMode="auto">
            <a:xfrm>
              <a:off x="44196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4" name="Rectangle 6"/>
            <p:cNvSpPr>
              <a:spLocks noChangeArrowheads="1"/>
            </p:cNvSpPr>
            <p:nvPr/>
          </p:nvSpPr>
          <p:spPr bwMode="auto">
            <a:xfrm>
              <a:off x="70104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Healthy</a:t>
              </a:r>
            </a:p>
          </p:txBody>
        </p:sp>
        <p:sp>
          <p:nvSpPr>
            <p:cNvPr id="88085" name="Rectangle 6"/>
            <p:cNvSpPr>
              <a:spLocks noChangeArrowheads="1"/>
            </p:cNvSpPr>
            <p:nvPr/>
          </p:nvSpPr>
          <p:spPr bwMode="auto">
            <a:xfrm>
              <a:off x="87630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6" name="Rectangle 6"/>
            <p:cNvSpPr>
              <a:spLocks noChangeArrowheads="1"/>
            </p:cNvSpPr>
            <p:nvPr/>
          </p:nvSpPr>
          <p:spPr bwMode="auto">
            <a:xfrm>
              <a:off x="5638800" y="38862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7" name="Text Box 14"/>
            <p:cNvSpPr txBox="1">
              <a:spLocks noChangeArrowheads="1"/>
            </p:cNvSpPr>
            <p:nvPr/>
          </p:nvSpPr>
          <p:spPr bwMode="auto">
            <a:xfrm>
              <a:off x="4340226" y="4038601"/>
              <a:ext cx="115768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Female</a:t>
              </a:r>
            </a:p>
          </p:txBody>
        </p:sp>
        <p:sp>
          <p:nvSpPr>
            <p:cNvPr id="88088" name="Text Box 19"/>
            <p:cNvSpPr txBox="1">
              <a:spLocks noChangeArrowheads="1"/>
            </p:cNvSpPr>
            <p:nvPr/>
          </p:nvSpPr>
          <p:spPr bwMode="auto">
            <a:xfrm>
              <a:off x="9024939" y="40386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High</a:t>
              </a:r>
            </a:p>
          </p:txBody>
        </p:sp>
      </p:grpSp>
    </p:spTree>
    <p:extLst>
      <p:ext uri="{BB962C8B-B14F-4D97-AF65-F5344CB8AC3E}">
        <p14:creationId xmlns:p14="http://schemas.microsoft.com/office/powerpoint/2010/main" val="2620784673"/>
      </p:ext>
    </p:extLst>
  </p:cSld>
  <p:clrMapOvr>
    <a:masterClrMapping/>
  </p:clrMapOvr>
  <p:transition spd="med" advClick="0"/>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b="1" dirty="0"/>
              <a:t>Final Tree</a:t>
            </a:r>
            <a:r>
              <a:rPr lang="tr-TR" altLang="en-US" b="1" dirty="0"/>
              <a:t> –</a:t>
            </a:r>
            <a:r>
              <a:rPr lang="en-US" altLang="en-US" b="1" dirty="0"/>
              <a:t> How to Classify?</a:t>
            </a:r>
          </a:p>
        </p:txBody>
      </p:sp>
      <p:sp>
        <p:nvSpPr>
          <p:cNvPr id="88067" name="Oval 3"/>
          <p:cNvSpPr>
            <a:spLocks noChangeArrowheads="1"/>
          </p:cNvSpPr>
          <p:nvPr/>
        </p:nvSpPr>
        <p:spPr bwMode="auto">
          <a:xfrm>
            <a:off x="5486400" y="22098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Age</a:t>
            </a:r>
          </a:p>
        </p:txBody>
      </p:sp>
      <p:sp>
        <p:nvSpPr>
          <p:cNvPr id="88068" name="Oval 4"/>
          <p:cNvSpPr>
            <a:spLocks noChangeArrowheads="1"/>
          </p:cNvSpPr>
          <p:nvPr/>
        </p:nvSpPr>
        <p:spPr bwMode="auto">
          <a:xfrm>
            <a:off x="327660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Gender</a:t>
            </a:r>
          </a:p>
        </p:txBody>
      </p:sp>
      <p:sp>
        <p:nvSpPr>
          <p:cNvPr id="88069" name="Oval 5"/>
          <p:cNvSpPr>
            <a:spLocks noChangeArrowheads="1"/>
          </p:cNvSpPr>
          <p:nvPr/>
        </p:nvSpPr>
        <p:spPr bwMode="auto">
          <a:xfrm>
            <a:off x="762000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IoS</a:t>
            </a:r>
          </a:p>
        </p:txBody>
      </p:sp>
      <p:sp>
        <p:nvSpPr>
          <p:cNvPr id="88070" name="Line 7"/>
          <p:cNvSpPr>
            <a:spLocks noChangeShapeType="1"/>
          </p:cNvSpPr>
          <p:nvPr/>
        </p:nvSpPr>
        <p:spPr bwMode="auto">
          <a:xfrm flipH="1">
            <a:off x="4343400"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1" name="Text Box 8"/>
          <p:cNvSpPr txBox="1">
            <a:spLocks noChangeArrowheads="1"/>
          </p:cNvSpPr>
          <p:nvPr/>
        </p:nvSpPr>
        <p:spPr bwMode="auto">
          <a:xfrm>
            <a:off x="4403726" y="2781301"/>
            <a:ext cx="104374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Young</a:t>
            </a:r>
          </a:p>
        </p:txBody>
      </p:sp>
      <p:sp>
        <p:nvSpPr>
          <p:cNvPr id="88072" name="Line 9"/>
          <p:cNvSpPr>
            <a:spLocks noChangeShapeType="1"/>
          </p:cNvSpPr>
          <p:nvPr/>
        </p:nvSpPr>
        <p:spPr bwMode="auto">
          <a:xfrm>
            <a:off x="6324600" y="2819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3" name="Line 10"/>
          <p:cNvSpPr>
            <a:spLocks noChangeShapeType="1"/>
          </p:cNvSpPr>
          <p:nvPr/>
        </p:nvSpPr>
        <p:spPr bwMode="auto">
          <a:xfrm>
            <a:off x="6477000"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4" name="Text Box 11"/>
          <p:cNvSpPr txBox="1">
            <a:spLocks noChangeArrowheads="1"/>
          </p:cNvSpPr>
          <p:nvPr/>
        </p:nvSpPr>
        <p:spPr bwMode="auto">
          <a:xfrm>
            <a:off x="7696201" y="2667001"/>
            <a:ext cx="6559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Old</a:t>
            </a:r>
          </a:p>
        </p:txBody>
      </p:sp>
      <p:sp>
        <p:nvSpPr>
          <p:cNvPr id="88075" name="Text Box 12"/>
          <p:cNvSpPr txBox="1">
            <a:spLocks noChangeArrowheads="1"/>
          </p:cNvSpPr>
          <p:nvPr/>
        </p:nvSpPr>
        <p:spPr bwMode="auto">
          <a:xfrm>
            <a:off x="5486400" y="30480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Medium</a:t>
            </a:r>
          </a:p>
        </p:txBody>
      </p:sp>
      <p:sp>
        <p:nvSpPr>
          <p:cNvPr id="88076" name="Text Box 14"/>
          <p:cNvSpPr txBox="1">
            <a:spLocks noChangeArrowheads="1"/>
          </p:cNvSpPr>
          <p:nvPr/>
        </p:nvSpPr>
        <p:spPr bwMode="auto">
          <a:xfrm>
            <a:off x="2895601" y="41148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Male</a:t>
            </a:r>
          </a:p>
        </p:txBody>
      </p:sp>
      <p:sp>
        <p:nvSpPr>
          <p:cNvPr id="88077" name="Line 18"/>
          <p:cNvSpPr>
            <a:spLocks noChangeShapeType="1"/>
          </p:cNvSpPr>
          <p:nvPr/>
        </p:nvSpPr>
        <p:spPr bwMode="auto">
          <a:xfrm flipH="1">
            <a:off x="7924800"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8" name="Text Box 19"/>
          <p:cNvSpPr txBox="1">
            <a:spLocks noChangeArrowheads="1"/>
          </p:cNvSpPr>
          <p:nvPr/>
        </p:nvSpPr>
        <p:spPr bwMode="auto">
          <a:xfrm>
            <a:off x="7467600" y="4114801"/>
            <a:ext cx="7505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Low</a:t>
            </a:r>
          </a:p>
        </p:txBody>
      </p:sp>
      <p:sp>
        <p:nvSpPr>
          <p:cNvPr id="88079" name="Line 20"/>
          <p:cNvSpPr>
            <a:spLocks noChangeShapeType="1"/>
          </p:cNvSpPr>
          <p:nvPr/>
        </p:nvSpPr>
        <p:spPr bwMode="auto">
          <a:xfrm>
            <a:off x="8610600"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0" name="Line 20"/>
          <p:cNvSpPr>
            <a:spLocks noChangeShapeType="1"/>
          </p:cNvSpPr>
          <p:nvPr/>
        </p:nvSpPr>
        <p:spPr bwMode="auto">
          <a:xfrm>
            <a:off x="4038600"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1" name="Line 18"/>
          <p:cNvSpPr>
            <a:spLocks noChangeShapeType="1"/>
          </p:cNvSpPr>
          <p:nvPr/>
        </p:nvSpPr>
        <p:spPr bwMode="auto">
          <a:xfrm flipH="1">
            <a:off x="3352800"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2" name="Rectangle 6"/>
          <p:cNvSpPr>
            <a:spLocks noChangeArrowheads="1"/>
          </p:cNvSpPr>
          <p:nvPr/>
        </p:nvSpPr>
        <p:spPr bwMode="auto">
          <a:xfrm>
            <a:off x="26670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Healthy</a:t>
            </a:r>
          </a:p>
        </p:txBody>
      </p:sp>
      <p:sp>
        <p:nvSpPr>
          <p:cNvPr id="88083" name="Rectangle 6"/>
          <p:cNvSpPr>
            <a:spLocks noChangeArrowheads="1"/>
          </p:cNvSpPr>
          <p:nvPr/>
        </p:nvSpPr>
        <p:spPr bwMode="auto">
          <a:xfrm>
            <a:off x="44196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4" name="Rectangle 6"/>
          <p:cNvSpPr>
            <a:spLocks noChangeArrowheads="1"/>
          </p:cNvSpPr>
          <p:nvPr/>
        </p:nvSpPr>
        <p:spPr bwMode="auto">
          <a:xfrm>
            <a:off x="70104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Healthy</a:t>
            </a:r>
          </a:p>
        </p:txBody>
      </p:sp>
      <p:sp>
        <p:nvSpPr>
          <p:cNvPr id="88085" name="Rectangle 6"/>
          <p:cNvSpPr>
            <a:spLocks noChangeArrowheads="1"/>
          </p:cNvSpPr>
          <p:nvPr/>
        </p:nvSpPr>
        <p:spPr bwMode="auto">
          <a:xfrm>
            <a:off x="87630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6" name="Rectangle 6"/>
          <p:cNvSpPr>
            <a:spLocks noChangeArrowheads="1"/>
          </p:cNvSpPr>
          <p:nvPr/>
        </p:nvSpPr>
        <p:spPr bwMode="auto">
          <a:xfrm>
            <a:off x="5638800" y="38862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7" name="Text Box 14"/>
          <p:cNvSpPr txBox="1">
            <a:spLocks noChangeArrowheads="1"/>
          </p:cNvSpPr>
          <p:nvPr/>
        </p:nvSpPr>
        <p:spPr bwMode="auto">
          <a:xfrm>
            <a:off x="4340226" y="4038601"/>
            <a:ext cx="115768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Female</a:t>
            </a:r>
          </a:p>
        </p:txBody>
      </p:sp>
      <p:sp>
        <p:nvSpPr>
          <p:cNvPr id="88088" name="Text Box 19"/>
          <p:cNvSpPr txBox="1">
            <a:spLocks noChangeArrowheads="1"/>
          </p:cNvSpPr>
          <p:nvPr/>
        </p:nvSpPr>
        <p:spPr bwMode="auto">
          <a:xfrm>
            <a:off x="9024939" y="40386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High</a:t>
            </a:r>
          </a:p>
        </p:txBody>
      </p:sp>
      <p:sp>
        <p:nvSpPr>
          <p:cNvPr id="25" name="TextBox 24"/>
          <p:cNvSpPr txBox="1"/>
          <p:nvPr/>
        </p:nvSpPr>
        <p:spPr>
          <a:xfrm>
            <a:off x="0" y="5611202"/>
            <a:ext cx="12192000" cy="954749"/>
          </a:xfrm>
          <a:prstGeom prst="rect">
            <a:avLst/>
          </a:prstGeom>
          <a:noFill/>
        </p:spPr>
        <p:txBody>
          <a:bodyPr wrap="square" rtlCol="0">
            <a:spAutoFit/>
          </a:bodyPr>
          <a:lstStyle/>
          <a:p>
            <a:pPr>
              <a:lnSpc>
                <a:spcPct val="120000"/>
              </a:lnSpc>
              <a:spcBef>
                <a:spcPts val="600"/>
              </a:spcBef>
            </a:pPr>
            <a:r>
              <a:rPr lang="en-US" sz="2200" i="1" dirty="0">
                <a:latin typeface="Calibri" panose="020F0502020204030204" pitchFamily="34" charset="0"/>
                <a:cs typeface="Calibri" panose="020F0502020204030204" pitchFamily="34" charset="0"/>
              </a:rPr>
              <a:t>Consider an old male, who has low BMI and the intensity of symptoms is also low. Healthy or Sick? </a:t>
            </a:r>
          </a:p>
          <a:p>
            <a:pPr>
              <a:lnSpc>
                <a:spcPct val="120000"/>
              </a:lnSpc>
              <a:spcBef>
                <a:spcPts val="600"/>
              </a:spcBef>
            </a:pPr>
            <a:r>
              <a:rPr lang="en-US" sz="2200" i="1" dirty="0">
                <a:latin typeface="Calibri" panose="020F0502020204030204" pitchFamily="34" charset="0"/>
                <a:cs typeface="Calibri" panose="020F0502020204030204" pitchFamily="34" charset="0"/>
              </a:rPr>
              <a:t>How about a middle aged woman, who has low BMI and high intensity of symptoms?</a:t>
            </a:r>
          </a:p>
        </p:txBody>
      </p:sp>
    </p:spTree>
    <p:extLst>
      <p:ext uri="{BB962C8B-B14F-4D97-AF65-F5344CB8AC3E}">
        <p14:creationId xmlns:p14="http://schemas.microsoft.com/office/powerpoint/2010/main" val="3681036981"/>
      </p:ext>
    </p:extLst>
  </p:cSld>
  <p:clrMapOvr>
    <a:masterClrMapping/>
  </p:clrMapOvr>
  <p:transition spd="med" advClick="0"/>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b="1" dirty="0"/>
              <a:t>Final Tree</a:t>
            </a:r>
            <a:r>
              <a:rPr lang="tr-TR" altLang="en-US" b="1" dirty="0"/>
              <a:t> –</a:t>
            </a:r>
            <a:r>
              <a:rPr lang="en-US" altLang="en-US" b="1" dirty="0"/>
              <a:t> How to Classify?</a:t>
            </a:r>
          </a:p>
        </p:txBody>
      </p:sp>
      <p:sp>
        <p:nvSpPr>
          <p:cNvPr id="88067" name="Oval 3"/>
          <p:cNvSpPr>
            <a:spLocks noChangeArrowheads="1"/>
          </p:cNvSpPr>
          <p:nvPr/>
        </p:nvSpPr>
        <p:spPr bwMode="auto">
          <a:xfrm>
            <a:off x="5486400" y="22098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Age</a:t>
            </a:r>
          </a:p>
        </p:txBody>
      </p:sp>
      <p:sp>
        <p:nvSpPr>
          <p:cNvPr id="88068" name="Oval 4"/>
          <p:cNvSpPr>
            <a:spLocks noChangeArrowheads="1"/>
          </p:cNvSpPr>
          <p:nvPr/>
        </p:nvSpPr>
        <p:spPr bwMode="auto">
          <a:xfrm>
            <a:off x="327660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Gender</a:t>
            </a:r>
          </a:p>
        </p:txBody>
      </p:sp>
      <p:sp>
        <p:nvSpPr>
          <p:cNvPr id="88069" name="Oval 5"/>
          <p:cNvSpPr>
            <a:spLocks noChangeArrowheads="1"/>
          </p:cNvSpPr>
          <p:nvPr/>
        </p:nvSpPr>
        <p:spPr bwMode="auto">
          <a:xfrm>
            <a:off x="7620000" y="3276600"/>
            <a:ext cx="1752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a:t>IoS</a:t>
            </a:r>
          </a:p>
        </p:txBody>
      </p:sp>
      <p:sp>
        <p:nvSpPr>
          <p:cNvPr id="88070" name="Line 7"/>
          <p:cNvSpPr>
            <a:spLocks noChangeShapeType="1"/>
          </p:cNvSpPr>
          <p:nvPr/>
        </p:nvSpPr>
        <p:spPr bwMode="auto">
          <a:xfrm flipH="1">
            <a:off x="4343400"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1" name="Text Box 8"/>
          <p:cNvSpPr txBox="1">
            <a:spLocks noChangeArrowheads="1"/>
          </p:cNvSpPr>
          <p:nvPr/>
        </p:nvSpPr>
        <p:spPr bwMode="auto">
          <a:xfrm>
            <a:off x="4403726" y="2781301"/>
            <a:ext cx="104374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dirty="0"/>
              <a:t>Young</a:t>
            </a:r>
          </a:p>
        </p:txBody>
      </p:sp>
      <p:sp>
        <p:nvSpPr>
          <p:cNvPr id="88072" name="Line 9"/>
          <p:cNvSpPr>
            <a:spLocks noChangeShapeType="1"/>
          </p:cNvSpPr>
          <p:nvPr/>
        </p:nvSpPr>
        <p:spPr bwMode="auto">
          <a:xfrm>
            <a:off x="6324600" y="2819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3" name="Line 10"/>
          <p:cNvSpPr>
            <a:spLocks noChangeShapeType="1"/>
          </p:cNvSpPr>
          <p:nvPr/>
        </p:nvSpPr>
        <p:spPr bwMode="auto">
          <a:xfrm>
            <a:off x="6477000" y="2819400"/>
            <a:ext cx="1905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4" name="Text Box 11"/>
          <p:cNvSpPr txBox="1">
            <a:spLocks noChangeArrowheads="1"/>
          </p:cNvSpPr>
          <p:nvPr/>
        </p:nvSpPr>
        <p:spPr bwMode="auto">
          <a:xfrm>
            <a:off x="7696201" y="2667001"/>
            <a:ext cx="65594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Old</a:t>
            </a:r>
          </a:p>
        </p:txBody>
      </p:sp>
      <p:sp>
        <p:nvSpPr>
          <p:cNvPr id="88075" name="Text Box 12"/>
          <p:cNvSpPr txBox="1">
            <a:spLocks noChangeArrowheads="1"/>
          </p:cNvSpPr>
          <p:nvPr/>
        </p:nvSpPr>
        <p:spPr bwMode="auto">
          <a:xfrm>
            <a:off x="5486400" y="3048001"/>
            <a:ext cx="12522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Medium</a:t>
            </a:r>
          </a:p>
        </p:txBody>
      </p:sp>
      <p:sp>
        <p:nvSpPr>
          <p:cNvPr id="88076" name="Text Box 14"/>
          <p:cNvSpPr txBox="1">
            <a:spLocks noChangeArrowheads="1"/>
          </p:cNvSpPr>
          <p:nvPr/>
        </p:nvSpPr>
        <p:spPr bwMode="auto">
          <a:xfrm>
            <a:off x="2895601" y="41148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Male</a:t>
            </a:r>
          </a:p>
        </p:txBody>
      </p:sp>
      <p:sp>
        <p:nvSpPr>
          <p:cNvPr id="88077" name="Line 18"/>
          <p:cNvSpPr>
            <a:spLocks noChangeShapeType="1"/>
          </p:cNvSpPr>
          <p:nvPr/>
        </p:nvSpPr>
        <p:spPr bwMode="auto">
          <a:xfrm flipH="1">
            <a:off x="7924800"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78" name="Text Box 19"/>
          <p:cNvSpPr txBox="1">
            <a:spLocks noChangeArrowheads="1"/>
          </p:cNvSpPr>
          <p:nvPr/>
        </p:nvSpPr>
        <p:spPr bwMode="auto">
          <a:xfrm>
            <a:off x="7467600" y="4114801"/>
            <a:ext cx="75052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Low</a:t>
            </a:r>
          </a:p>
        </p:txBody>
      </p:sp>
      <p:sp>
        <p:nvSpPr>
          <p:cNvPr id="88079" name="Line 20"/>
          <p:cNvSpPr>
            <a:spLocks noChangeShapeType="1"/>
          </p:cNvSpPr>
          <p:nvPr/>
        </p:nvSpPr>
        <p:spPr bwMode="auto">
          <a:xfrm>
            <a:off x="8610600"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0" name="Line 20"/>
          <p:cNvSpPr>
            <a:spLocks noChangeShapeType="1"/>
          </p:cNvSpPr>
          <p:nvPr/>
        </p:nvSpPr>
        <p:spPr bwMode="auto">
          <a:xfrm>
            <a:off x="4038600" y="3886200"/>
            <a:ext cx="990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1" name="Line 18"/>
          <p:cNvSpPr>
            <a:spLocks noChangeShapeType="1"/>
          </p:cNvSpPr>
          <p:nvPr/>
        </p:nvSpPr>
        <p:spPr bwMode="auto">
          <a:xfrm flipH="1">
            <a:off x="3352800" y="38862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8082" name="Rectangle 6"/>
          <p:cNvSpPr>
            <a:spLocks noChangeArrowheads="1"/>
          </p:cNvSpPr>
          <p:nvPr/>
        </p:nvSpPr>
        <p:spPr bwMode="auto">
          <a:xfrm>
            <a:off x="26670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Healthy</a:t>
            </a:r>
          </a:p>
        </p:txBody>
      </p:sp>
      <p:sp>
        <p:nvSpPr>
          <p:cNvPr id="88083" name="Rectangle 6"/>
          <p:cNvSpPr>
            <a:spLocks noChangeArrowheads="1"/>
          </p:cNvSpPr>
          <p:nvPr/>
        </p:nvSpPr>
        <p:spPr bwMode="auto">
          <a:xfrm>
            <a:off x="44196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4" name="Rectangle 6"/>
          <p:cNvSpPr>
            <a:spLocks noChangeArrowheads="1"/>
          </p:cNvSpPr>
          <p:nvPr/>
        </p:nvSpPr>
        <p:spPr bwMode="auto">
          <a:xfrm>
            <a:off x="7010400" y="4953000"/>
            <a:ext cx="1447800" cy="457200"/>
          </a:xfrm>
          <a:prstGeom prst="rect">
            <a:avLst/>
          </a:prstGeom>
          <a:solidFill>
            <a:srgbClr val="00B05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Healthy</a:t>
            </a:r>
          </a:p>
        </p:txBody>
      </p:sp>
      <p:sp>
        <p:nvSpPr>
          <p:cNvPr id="88085" name="Rectangle 6"/>
          <p:cNvSpPr>
            <a:spLocks noChangeArrowheads="1"/>
          </p:cNvSpPr>
          <p:nvPr/>
        </p:nvSpPr>
        <p:spPr bwMode="auto">
          <a:xfrm>
            <a:off x="8763000" y="49530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6" name="Rectangle 6"/>
          <p:cNvSpPr>
            <a:spLocks noChangeArrowheads="1"/>
          </p:cNvSpPr>
          <p:nvPr/>
        </p:nvSpPr>
        <p:spPr bwMode="auto">
          <a:xfrm>
            <a:off x="5638800" y="3886200"/>
            <a:ext cx="1447800" cy="457200"/>
          </a:xfrm>
          <a:prstGeom prst="rect">
            <a:avLst/>
          </a:prstGeom>
          <a:solidFill>
            <a:srgbClr val="FF0000"/>
          </a:solidFill>
          <a:ln w="9525">
            <a:solidFill>
              <a:schemeClr val="tx1"/>
            </a:solidFill>
            <a:miter lim="800000"/>
            <a:headEnd/>
            <a:tailEnd/>
          </a:ln>
        </p:spPr>
        <p:txBody>
          <a:bodyPr wrap="none" anchor="ct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gn="ctr"/>
            <a:r>
              <a:rPr lang="en-US" altLang="en-US" sz="2200" dirty="0"/>
              <a:t>Sick</a:t>
            </a:r>
          </a:p>
        </p:txBody>
      </p:sp>
      <p:sp>
        <p:nvSpPr>
          <p:cNvPr id="88087" name="Text Box 14"/>
          <p:cNvSpPr txBox="1">
            <a:spLocks noChangeArrowheads="1"/>
          </p:cNvSpPr>
          <p:nvPr/>
        </p:nvSpPr>
        <p:spPr bwMode="auto">
          <a:xfrm>
            <a:off x="4340226" y="4038601"/>
            <a:ext cx="115768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Female</a:t>
            </a:r>
          </a:p>
        </p:txBody>
      </p:sp>
      <p:sp>
        <p:nvSpPr>
          <p:cNvPr id="88088" name="Text Box 19"/>
          <p:cNvSpPr txBox="1">
            <a:spLocks noChangeArrowheads="1"/>
          </p:cNvSpPr>
          <p:nvPr/>
        </p:nvSpPr>
        <p:spPr bwMode="auto">
          <a:xfrm>
            <a:off x="9024939" y="4038601"/>
            <a:ext cx="8130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r>
              <a:rPr lang="en-US" altLang="en-US" sz="2200"/>
              <a:t>High</a:t>
            </a:r>
          </a:p>
        </p:txBody>
      </p:sp>
      <p:sp>
        <p:nvSpPr>
          <p:cNvPr id="25" name="TextBox 24"/>
          <p:cNvSpPr txBox="1"/>
          <p:nvPr/>
        </p:nvSpPr>
        <p:spPr>
          <a:xfrm>
            <a:off x="0" y="5611202"/>
            <a:ext cx="12192000" cy="981807"/>
          </a:xfrm>
          <a:prstGeom prst="rect">
            <a:avLst/>
          </a:prstGeom>
          <a:noFill/>
        </p:spPr>
        <p:txBody>
          <a:bodyPr wrap="square" rtlCol="0">
            <a:spAutoFit/>
          </a:bodyPr>
          <a:lstStyle/>
          <a:p>
            <a:pPr>
              <a:lnSpc>
                <a:spcPct val="120000"/>
              </a:lnSpc>
              <a:spcBef>
                <a:spcPts val="600"/>
              </a:spcBef>
            </a:pPr>
            <a:r>
              <a:rPr lang="en-US" sz="2200" i="1" dirty="0">
                <a:latin typeface="Calibri" panose="020F0502020204030204" pitchFamily="34" charset="0"/>
                <a:cs typeface="Calibri" panose="020F0502020204030204" pitchFamily="34" charset="0"/>
              </a:rPr>
              <a:t>Consider an old male, who has low BMI and the intensity of symptoms is also low. Healthy or Sick?</a:t>
            </a:r>
            <a:r>
              <a:rPr lang="en-US" sz="2200" b="1" i="1" dirty="0">
                <a:solidFill>
                  <a:srgbClr val="00B050"/>
                </a:solidFill>
                <a:latin typeface="Calibri" panose="020F0502020204030204" pitchFamily="34" charset="0"/>
                <a:cs typeface="Calibri" panose="020F0502020204030204" pitchFamily="34" charset="0"/>
              </a:rPr>
              <a:t> Healthy</a:t>
            </a:r>
            <a:r>
              <a:rPr lang="en-US" sz="2200" i="1" dirty="0">
                <a:latin typeface="Calibri" panose="020F0502020204030204" pitchFamily="34" charset="0"/>
                <a:cs typeface="Calibri" panose="020F0502020204030204" pitchFamily="34" charset="0"/>
              </a:rPr>
              <a:t> </a:t>
            </a:r>
          </a:p>
          <a:p>
            <a:pPr>
              <a:lnSpc>
                <a:spcPct val="120000"/>
              </a:lnSpc>
              <a:spcBef>
                <a:spcPts val="600"/>
              </a:spcBef>
            </a:pPr>
            <a:r>
              <a:rPr lang="en-US" sz="2200" i="1" dirty="0">
                <a:latin typeface="Calibri" panose="020F0502020204030204" pitchFamily="34" charset="0"/>
                <a:cs typeface="Calibri" panose="020F0502020204030204" pitchFamily="34" charset="0"/>
              </a:rPr>
              <a:t>How about a middle aged woman, who has low BMI and high intensity of symptoms?</a:t>
            </a:r>
            <a:r>
              <a:rPr lang="tr-TR" sz="2200" i="1" dirty="0">
                <a:latin typeface="Calibri" panose="020F0502020204030204" pitchFamily="34" charset="0"/>
                <a:cs typeface="Calibri" panose="020F0502020204030204" pitchFamily="34" charset="0"/>
              </a:rPr>
              <a:t> </a:t>
            </a:r>
            <a:r>
              <a:rPr lang="en-US" sz="2200" b="1" i="1" dirty="0">
                <a:solidFill>
                  <a:srgbClr val="FF0000"/>
                </a:solidFill>
                <a:latin typeface="Calibri" panose="020F0502020204030204" pitchFamily="34" charset="0"/>
                <a:cs typeface="Calibri" panose="020F0502020204030204" pitchFamily="34" charset="0"/>
              </a:rPr>
              <a:t>Sick</a:t>
            </a:r>
          </a:p>
        </p:txBody>
      </p:sp>
    </p:spTree>
    <p:extLst>
      <p:ext uri="{BB962C8B-B14F-4D97-AF65-F5344CB8AC3E}">
        <p14:creationId xmlns:p14="http://schemas.microsoft.com/office/powerpoint/2010/main" val="2961372688"/>
      </p:ext>
    </p:extLst>
  </p:cSld>
  <p:clrMapOvr>
    <a:masterClrMapping/>
  </p:clrMapOvr>
  <p:transition spd="med" advClick="0"/>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History of C4.5 (i.e. J48)</a:t>
            </a:r>
            <a:endParaRPr lang="en-US" b="1" dirty="0">
              <a:solidFill>
                <a:srgbClr val="002060"/>
              </a:solidFill>
            </a:endParaRPr>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ID3 (1979) - (</a:t>
            </a:r>
            <a:r>
              <a:rPr lang="en-US" altLang="en-US" sz="2400" i="1" dirty="0">
                <a:latin typeface="Arial" panose="020B0604020202020204" pitchFamily="34" charset="0"/>
                <a:cs typeface="Arial" panose="020B0604020202020204" pitchFamily="34" charset="0"/>
              </a:rPr>
              <a:t>Iterative Dichotomiser 3</a:t>
            </a:r>
            <a:r>
              <a:rPr lang="en-US" altLang="en-US" sz="2400" dirty="0">
                <a:latin typeface="Arial" panose="020B0604020202020204" pitchFamily="34" charset="0"/>
                <a:cs typeface="Arial" panose="020B0604020202020204" pitchFamily="34" charset="0"/>
              </a:rPr>
              <a:t>)  - </a:t>
            </a:r>
            <a:r>
              <a:rPr lang="en-US" altLang="en-US" sz="2400" b="1" i="1" dirty="0">
                <a:latin typeface="Arial" panose="020B0604020202020204" pitchFamily="34" charset="0"/>
                <a:cs typeface="Arial" panose="020B0604020202020204" pitchFamily="34" charset="0"/>
              </a:rPr>
              <a:t>Ross Quinlan</a:t>
            </a:r>
          </a:p>
          <a:p>
            <a:pPr>
              <a:lnSpc>
                <a:spcPct val="120000"/>
              </a:lnSpc>
              <a:spcBef>
                <a:spcPts val="600"/>
              </a:spcBef>
            </a:pPr>
            <a:r>
              <a:rPr lang="en-US" altLang="en-US" sz="2400" dirty="0">
                <a:latin typeface="Arial" panose="020B0604020202020204" pitchFamily="34" charset="0"/>
                <a:cs typeface="Arial" panose="020B0604020202020204" pitchFamily="34" charset="0"/>
              </a:rPr>
              <a:t>C4.5 (1993) – Improved version of ID3. Again by Quinlan</a:t>
            </a:r>
          </a:p>
          <a:p>
            <a:pPr lvl="1">
              <a:lnSpc>
                <a:spcPct val="120000"/>
              </a:lnSpc>
              <a:spcBef>
                <a:spcPts val="600"/>
              </a:spcBef>
            </a:pPr>
            <a:r>
              <a:rPr lang="en-US" altLang="en-US" dirty="0">
                <a:latin typeface="Arial" panose="020B0604020202020204" pitchFamily="34" charset="0"/>
                <a:cs typeface="Arial" panose="020B0604020202020204" pitchFamily="34" charset="0"/>
              </a:rPr>
              <a:t>Improvements: Discrete and continuous attributes, missing attribute values, attributes with differing costs, pruning trees (replacing irrelevant branches with leaf nodes)</a:t>
            </a:r>
          </a:p>
          <a:p>
            <a:pPr lvl="1">
              <a:lnSpc>
                <a:spcPct val="120000"/>
              </a:lnSpc>
              <a:spcBef>
                <a:spcPts val="600"/>
              </a:spcBef>
            </a:pPr>
            <a:r>
              <a:rPr lang="en-US" altLang="en-US" dirty="0">
                <a:latin typeface="Arial" panose="020B0604020202020204" pitchFamily="34" charset="0"/>
                <a:cs typeface="Arial" panose="020B0604020202020204" pitchFamily="34" charset="0"/>
              </a:rPr>
              <a:t>Coded in C</a:t>
            </a:r>
          </a:p>
          <a:p>
            <a:pPr>
              <a:lnSpc>
                <a:spcPct val="120000"/>
              </a:lnSpc>
              <a:spcBef>
                <a:spcPts val="600"/>
              </a:spcBef>
            </a:pPr>
            <a:r>
              <a:rPr lang="en-US" altLang="en-US" sz="2400" dirty="0">
                <a:latin typeface="Arial" panose="020B0604020202020204" pitchFamily="34" charset="0"/>
                <a:cs typeface="Arial" panose="020B0604020202020204" pitchFamily="34" charset="0"/>
              </a:rPr>
              <a:t>C4.8 (1996) -&gt; J48 (</a:t>
            </a:r>
            <a:r>
              <a:rPr lang="en-US" altLang="en-US" sz="2400" i="1" dirty="0">
                <a:latin typeface="Arial" panose="020B0604020202020204" pitchFamily="34" charset="0"/>
                <a:cs typeface="Arial" panose="020B0604020202020204" pitchFamily="34" charset="0"/>
              </a:rPr>
              <a:t>WEKA is coded with </a:t>
            </a:r>
            <a:r>
              <a:rPr lang="en-US" altLang="en-US" sz="2400" b="1" i="1" u="sng" dirty="0">
                <a:latin typeface="Arial" panose="020B0604020202020204" pitchFamily="34" charset="0"/>
                <a:cs typeface="Arial" panose="020B0604020202020204" pitchFamily="34" charset="0"/>
              </a:rPr>
              <a:t>Java</a:t>
            </a:r>
            <a:r>
              <a:rPr lang="en-US" altLang="en-US" sz="2400" dirty="0">
                <a:latin typeface="Arial" panose="020B0604020202020204" pitchFamily="34" charset="0"/>
                <a:cs typeface="Arial" panose="020B0604020202020204" pitchFamily="34" charset="0"/>
              </a:rPr>
              <a:t>) </a:t>
            </a:r>
          </a:p>
          <a:p>
            <a:pPr lvl="1">
              <a:lnSpc>
                <a:spcPct val="120000"/>
              </a:lnSpc>
              <a:spcBef>
                <a:spcPts val="600"/>
              </a:spcBef>
            </a:pPr>
            <a:r>
              <a:rPr lang="en-US" altLang="en-US" sz="2000" dirty="0">
                <a:latin typeface="Arial" panose="020B0604020202020204" pitchFamily="34" charset="0"/>
                <a:cs typeface="Arial" panose="020B0604020202020204" pitchFamily="34" charset="0"/>
              </a:rPr>
              <a:t>J48/C4.5 remains the one most commonly taught in universities – open source</a:t>
            </a:r>
          </a:p>
          <a:p>
            <a:pPr>
              <a:lnSpc>
                <a:spcPct val="120000"/>
              </a:lnSpc>
              <a:spcBef>
                <a:spcPts val="600"/>
              </a:spcBef>
            </a:pPr>
            <a:r>
              <a:rPr lang="en-US" altLang="en-US" sz="2400" dirty="0">
                <a:latin typeface="Arial" panose="020B0604020202020204" pitchFamily="34" charset="0"/>
                <a:cs typeface="Arial" panose="020B0604020202020204" pitchFamily="34" charset="0"/>
              </a:rPr>
              <a:t>C5.0</a:t>
            </a:r>
            <a:r>
              <a:rPr lang="tr-TR" altLang="en-US" sz="2400" dirty="0">
                <a:latin typeface="Arial" panose="020B0604020202020204" pitchFamily="34" charset="0"/>
                <a:cs typeface="Arial" panose="020B0604020202020204" pitchFamily="34" charset="0"/>
              </a:rPr>
              <a:t> (1998)</a:t>
            </a:r>
            <a:r>
              <a:rPr lang="en-US" altLang="en-US" sz="2400" dirty="0">
                <a:latin typeface="Arial" panose="020B0604020202020204" pitchFamily="34" charset="0"/>
                <a:cs typeface="Arial" panose="020B0604020202020204" pitchFamily="34" charset="0"/>
              </a:rPr>
              <a:t> </a:t>
            </a:r>
            <a:r>
              <a:rPr lang="tr-TR" altLang="en-US" sz="2400" dirty="0">
                <a:latin typeface="Arial" panose="020B0604020202020204" pitchFamily="34" charset="0"/>
                <a:cs typeface="Arial" panose="020B0604020202020204" pitchFamily="34" charset="0"/>
              </a:rPr>
              <a:t>-&gt; </a:t>
            </a:r>
            <a:r>
              <a:rPr lang="en-US" altLang="en-US" sz="2400" dirty="0">
                <a:latin typeface="Arial" panose="020B0604020202020204" pitchFamily="34" charset="0"/>
                <a:cs typeface="Arial" panose="020B0604020202020204" pitchFamily="34" charset="0"/>
              </a:rPr>
              <a:t>Commercial</a:t>
            </a:r>
          </a:p>
          <a:p>
            <a:pPr marL="0" indent="0">
              <a:lnSpc>
                <a:spcPct val="110000"/>
              </a:lnSpc>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40156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normAutofit/>
          </a:bodyPr>
          <a:lstStyle/>
          <a:p>
            <a:r>
              <a:rPr lang="en-US" altLang="en-US" b="1" dirty="0"/>
              <a:t>Randomization: Random Forest</a:t>
            </a:r>
            <a:endParaRPr lang="en-US" b="1" dirty="0">
              <a:solidFill>
                <a:srgbClr val="002060"/>
              </a:solidFill>
            </a:endParaRPr>
          </a:p>
        </p:txBody>
      </p:sp>
      <p:sp>
        <p:nvSpPr>
          <p:cNvPr id="197635" name="Rectangle 3"/>
          <p:cNvSpPr>
            <a:spLocks noGrp="1" noChangeArrowheads="1"/>
          </p:cNvSpPr>
          <p:nvPr>
            <p:ph idx="1"/>
          </p:nvPr>
        </p:nvSpPr>
        <p:spPr>
          <a:xfrm>
            <a:off x="838200" y="1690687"/>
            <a:ext cx="11215255" cy="4969419"/>
          </a:xfrm>
        </p:spPr>
        <p:txBody>
          <a:bodyPr>
            <a:noAutofit/>
          </a:bodyPr>
          <a:lstStyle/>
          <a:p>
            <a:pPr>
              <a:lnSpc>
                <a:spcPct val="120000"/>
              </a:lnSpc>
              <a:spcBef>
                <a:spcPts val="600"/>
              </a:spcBef>
            </a:pPr>
            <a:r>
              <a:rPr lang="en-US" altLang="en-US" sz="2400" dirty="0">
                <a:latin typeface="Arial" panose="020B0604020202020204" pitchFamily="34" charset="0"/>
                <a:cs typeface="Arial" panose="020B0604020202020204" pitchFamily="34" charset="0"/>
              </a:rPr>
              <a:t>You can randomize the training data or you can randomize the algorithm (</a:t>
            </a:r>
            <a:r>
              <a:rPr lang="en-US" altLang="en-US" sz="2400" i="1" dirty="0">
                <a:latin typeface="Arial" panose="020B0604020202020204" pitchFamily="34" charset="0"/>
                <a:cs typeface="Arial" panose="020B0604020202020204" pitchFamily="34" charset="0"/>
              </a:rPr>
              <a:t>or both!</a:t>
            </a:r>
            <a:r>
              <a:rPr lang="en-US" altLang="en-US" sz="2400" dirty="0">
                <a:latin typeface="Arial" panose="020B0604020202020204" pitchFamily="34" charset="0"/>
                <a:cs typeface="Arial" panose="020B0604020202020204" pitchFamily="34" charset="0"/>
              </a:rPr>
              <a:t>).  </a:t>
            </a:r>
          </a:p>
          <a:p>
            <a:pPr lvl="1">
              <a:lnSpc>
                <a:spcPct val="120000"/>
              </a:lnSpc>
              <a:spcBef>
                <a:spcPts val="600"/>
              </a:spcBef>
            </a:pPr>
            <a:r>
              <a:rPr lang="en-US" altLang="en-US" dirty="0">
                <a:latin typeface="Arial" panose="020B0604020202020204" pitchFamily="34" charset="0"/>
                <a:cs typeface="Arial" panose="020B0604020202020204" pitchFamily="34" charset="0"/>
              </a:rPr>
              <a:t>Say don’t pick the best in terms of the Information Gain, for </a:t>
            </a:r>
            <a:r>
              <a:rPr lang="tr-TR" altLang="en-US" dirty="0">
                <a:latin typeface="Arial" panose="020B0604020202020204" pitchFamily="34" charset="0"/>
                <a:cs typeface="Arial" panose="020B0604020202020204" pitchFamily="34" charset="0"/>
              </a:rPr>
              <a:t>C4.5 (</a:t>
            </a:r>
            <a:r>
              <a:rPr lang="tr-TR" altLang="en-US" i="1" dirty="0">
                <a:latin typeface="Arial" panose="020B0604020202020204" pitchFamily="34" charset="0"/>
                <a:cs typeface="Arial" panose="020B0604020202020204" pitchFamily="34" charset="0"/>
              </a:rPr>
              <a:t>aka</a:t>
            </a:r>
            <a:r>
              <a:rPr lang="tr-TR" altLang="en-US" dirty="0">
                <a:latin typeface="Arial" panose="020B0604020202020204" pitchFamily="34" charset="0"/>
                <a:cs typeface="Arial" panose="020B0604020202020204" pitchFamily="34" charset="0"/>
              </a:rPr>
              <a:t> J48 in </a:t>
            </a:r>
            <a:r>
              <a:rPr lang="tr-TR" altLang="en-US" dirty="0" err="1">
                <a:latin typeface="Arial" panose="020B0604020202020204" pitchFamily="34" charset="0"/>
                <a:cs typeface="Arial" panose="020B0604020202020204" pitchFamily="34" charset="0"/>
              </a:rPr>
              <a:t>Weka</a:t>
            </a:r>
            <a:r>
              <a:rPr lang="tr-TR" altLang="en-US" dirty="0">
                <a:latin typeface="Arial" panose="020B0604020202020204" pitchFamily="34" charset="0"/>
                <a:cs typeface="Arial" panose="020B0604020202020204" pitchFamily="34" charset="0"/>
              </a:rPr>
              <a:t>)</a:t>
            </a:r>
            <a:r>
              <a:rPr lang="en-US" altLang="en-US" dirty="0">
                <a:latin typeface="Arial" panose="020B0604020202020204" pitchFamily="34" charset="0"/>
                <a:cs typeface="Arial" panose="020B0604020202020204" pitchFamily="34" charset="0"/>
              </a:rPr>
              <a:t> classifier but pick one of the best </a:t>
            </a:r>
            <a:r>
              <a:rPr lang="en-US" altLang="en-US" i="1" dirty="0">
                <a:latin typeface="Arial" panose="020B0604020202020204" pitchFamily="34" charset="0"/>
                <a:cs typeface="Arial" panose="020B0604020202020204" pitchFamily="34" charset="0"/>
              </a:rPr>
              <a:t>k’s</a:t>
            </a:r>
            <a:r>
              <a:rPr lang="en-US" altLang="en-US" dirty="0">
                <a:latin typeface="Arial" panose="020B0604020202020204" pitchFamily="34" charset="0"/>
                <a:cs typeface="Arial" panose="020B0604020202020204" pitchFamily="34" charset="0"/>
              </a:rPr>
              <a:t> (among </a:t>
            </a:r>
            <a:r>
              <a:rPr lang="en-US" altLang="en-US" i="1" dirty="0">
                <a:latin typeface="Arial" panose="020B0604020202020204" pitchFamily="34" charset="0"/>
                <a:cs typeface="Arial" panose="020B0604020202020204" pitchFamily="34" charset="0"/>
              </a:rPr>
              <a:t>a set of promising candidates) </a:t>
            </a:r>
            <a:r>
              <a:rPr lang="en-US" altLang="en-US" dirty="0">
                <a:latin typeface="Arial" panose="020B0604020202020204" pitchFamily="34" charset="0"/>
                <a:cs typeface="Arial" panose="020B0604020202020204" pitchFamily="34" charset="0"/>
              </a:rPr>
              <a:t>randomly and obtain a </a:t>
            </a:r>
            <a:r>
              <a:rPr lang="en-US" altLang="en-US" i="1" dirty="0">
                <a:latin typeface="Arial" panose="020B0604020202020204" pitchFamily="34" charset="0"/>
                <a:cs typeface="Arial" panose="020B0604020202020204" pitchFamily="34" charset="0"/>
              </a:rPr>
              <a:t>Random Tree</a:t>
            </a:r>
            <a:r>
              <a:rPr lang="en-US" altLang="en-US" dirty="0">
                <a:latin typeface="Arial" panose="020B0604020202020204" pitchFamily="34" charset="0"/>
                <a:cs typeface="Arial" panose="020B0604020202020204" pitchFamily="34" charset="0"/>
              </a:rPr>
              <a:t>.</a:t>
            </a:r>
          </a:p>
          <a:p>
            <a:pPr lvl="1">
              <a:lnSpc>
                <a:spcPct val="120000"/>
              </a:lnSpc>
              <a:spcBef>
                <a:spcPts val="600"/>
              </a:spcBef>
            </a:pPr>
            <a:r>
              <a:rPr lang="en-US" altLang="en-US" dirty="0">
                <a:latin typeface="Arial" panose="020B0604020202020204" pitchFamily="34" charset="0"/>
                <a:cs typeface="Arial" panose="020B0604020202020204" pitchFamily="34" charset="0"/>
              </a:rPr>
              <a:t>Note that the cardinality of the promising candidates set refers to as the </a:t>
            </a:r>
            <a:r>
              <a:rPr lang="en-US" altLang="en-US" i="1" dirty="0" err="1">
                <a:latin typeface="Arial" panose="020B0604020202020204" pitchFamily="34" charset="0"/>
                <a:cs typeface="Arial" panose="020B0604020202020204" pitchFamily="34" charset="0"/>
              </a:rPr>
              <a:t>numberoffeatures</a:t>
            </a:r>
            <a:r>
              <a:rPr lang="en-US" altLang="en-US" i="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parameter in WEKA.</a:t>
            </a:r>
          </a:p>
          <a:p>
            <a:pPr>
              <a:lnSpc>
                <a:spcPct val="120000"/>
              </a:lnSpc>
              <a:spcBef>
                <a:spcPts val="600"/>
              </a:spcBef>
            </a:pPr>
            <a:r>
              <a:rPr lang="en-US" altLang="en-US" sz="2400" dirty="0">
                <a:latin typeface="Arial" panose="020B0604020202020204" pitchFamily="34" charset="0"/>
                <a:cs typeface="Arial" panose="020B0604020202020204" pitchFamily="34" charset="0"/>
              </a:rPr>
              <a:t>The idea is very similar to the logic of GRASP metaheuristic.</a:t>
            </a:r>
          </a:p>
          <a:p>
            <a:pPr>
              <a:lnSpc>
                <a:spcPct val="120000"/>
              </a:lnSpc>
              <a:spcBef>
                <a:spcPts val="600"/>
              </a:spcBef>
            </a:pPr>
            <a:r>
              <a:rPr lang="en-US" altLang="en-US" sz="2400" dirty="0">
                <a:latin typeface="Arial" panose="020B0604020202020204" pitchFamily="34" charset="0"/>
                <a:cs typeface="Arial" panose="020B0604020202020204" pitchFamily="34" charset="0"/>
              </a:rPr>
              <a:t>You can repeat the process randomly and obtain different models and you can use voting and obtain a Forest of Random Trees, i.e.,</a:t>
            </a:r>
            <a:r>
              <a:rPr lang="en-US" altLang="en-US" sz="2400" i="1" dirty="0">
                <a:latin typeface="Arial" panose="020B0604020202020204" pitchFamily="34" charset="0"/>
                <a:cs typeface="Arial" panose="020B0604020202020204" pitchFamily="34" charset="0"/>
              </a:rPr>
              <a:t> Random Forest</a:t>
            </a:r>
          </a:p>
          <a:p>
            <a:pPr marL="0" indent="0">
              <a:lnSpc>
                <a:spcPct val="110000"/>
              </a:lnSpc>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59558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altLang="en-US" b="1" dirty="0"/>
              <a:t>Randomization: Random Forest</a:t>
            </a:r>
          </a:p>
        </p:txBody>
      </p:sp>
      <p:sp>
        <p:nvSpPr>
          <p:cNvPr id="5" name="Rectangle 3"/>
          <p:cNvSpPr txBox="1">
            <a:spLocks noChangeArrowheads="1"/>
          </p:cNvSpPr>
          <p:nvPr/>
        </p:nvSpPr>
        <p:spPr>
          <a:xfrm>
            <a:off x="838200" y="1690688"/>
            <a:ext cx="10148248" cy="4648200"/>
          </a:xfrm>
          <a:prstGeom prst="rect">
            <a:avLst/>
          </a:prstGeom>
        </p:spPr>
        <p:txBody>
          <a:bodyPr/>
          <a:lstStyle/>
          <a:p>
            <a:pPr marL="282575" indent="-282575">
              <a:lnSpc>
                <a:spcPct val="120000"/>
              </a:lnSpc>
              <a:spcBef>
                <a:spcPts val="600"/>
              </a:spcBef>
              <a:defRPr/>
            </a:pPr>
            <a:r>
              <a:rPr lang="en-US" sz="2400" i="1" dirty="0">
                <a:latin typeface="Arial" panose="020B0604020202020204" pitchFamily="34" charset="0"/>
                <a:cs typeface="Arial" panose="020B0604020202020204" pitchFamily="34" charset="0"/>
              </a:rPr>
              <a:t>Algorithm: Random Forest</a:t>
            </a:r>
          </a:p>
          <a:p>
            <a:pPr marL="457200" indent="-457200">
              <a:lnSpc>
                <a:spcPct val="120000"/>
              </a:lnSpc>
              <a:spcBef>
                <a:spcPts val="600"/>
              </a:spcBef>
              <a:defRPr/>
            </a:pPr>
            <a:r>
              <a:rPr lang="en-US" sz="2400" i="1" dirty="0">
                <a:latin typeface="Arial" panose="020B0604020202020204" pitchFamily="34" charset="0"/>
                <a:cs typeface="Arial" panose="020B0604020202020204" pitchFamily="34" charset="0"/>
              </a:rPr>
              <a:t>Given a training set S</a:t>
            </a:r>
          </a:p>
          <a:p>
            <a:pPr marL="457200" indent="-457200">
              <a:lnSpc>
                <a:spcPct val="120000"/>
              </a:lnSpc>
              <a:spcBef>
                <a:spcPts val="600"/>
              </a:spcBef>
              <a:buFont typeface="+mj-lt"/>
              <a:buAutoNum type="arabicPeriod"/>
              <a:defRPr/>
            </a:pPr>
            <a:r>
              <a:rPr lang="en-US" sz="2400" dirty="0">
                <a:latin typeface="Arial" panose="020B0604020202020204" pitchFamily="34" charset="0"/>
                <a:cs typeface="Arial" panose="020B0604020202020204" pitchFamily="34" charset="0"/>
              </a:rPr>
              <a:t>For  </a:t>
            </a:r>
            <a:r>
              <a:rPr lang="en-US" sz="2400" i="1" dirty="0" err="1">
                <a:latin typeface="Arial" panose="020B0604020202020204" pitchFamily="34" charset="0"/>
                <a:cs typeface="Arial" panose="020B0604020202020204" pitchFamily="34" charset="0"/>
              </a:rPr>
              <a:t>i</a:t>
            </a:r>
            <a:r>
              <a:rPr lang="en-US" sz="2400" i="1" dirty="0">
                <a:latin typeface="Arial" panose="020B0604020202020204" pitchFamily="34" charset="0"/>
                <a:cs typeface="Arial" panose="020B0604020202020204" pitchFamily="34" charset="0"/>
              </a:rPr>
              <a:t> = 1</a:t>
            </a:r>
            <a:r>
              <a:rPr lang="en-US" sz="2400" dirty="0">
                <a:latin typeface="Arial" panose="020B0604020202020204" pitchFamily="34" charset="0"/>
                <a:cs typeface="Arial" panose="020B0604020202020204" pitchFamily="34" charset="0"/>
              </a:rPr>
              <a:t> to </a:t>
            </a:r>
            <a:r>
              <a:rPr lang="en-US" sz="2400" i="1" dirty="0">
                <a:latin typeface="Arial" panose="020B0604020202020204" pitchFamily="34" charset="0"/>
                <a:cs typeface="Arial" panose="020B0604020202020204" pitchFamily="34" charset="0"/>
              </a:rPr>
              <a:t>k</a:t>
            </a:r>
            <a:r>
              <a:rPr lang="en-US" sz="2400" dirty="0">
                <a:latin typeface="Arial" panose="020B0604020202020204" pitchFamily="34" charset="0"/>
                <a:cs typeface="Arial" panose="020B0604020202020204" pitchFamily="34" charset="0"/>
              </a:rPr>
              <a:t> do:</a:t>
            </a:r>
          </a:p>
          <a:p>
            <a:pPr marL="914400" lvl="1" indent="-457200">
              <a:lnSpc>
                <a:spcPct val="120000"/>
              </a:lnSpc>
              <a:spcBef>
                <a:spcPts val="600"/>
              </a:spcBef>
              <a:buFont typeface="+mj-lt"/>
              <a:buAutoNum type="arabicPeriod"/>
              <a:defRPr/>
            </a:pPr>
            <a:r>
              <a:rPr lang="en-US" sz="2400" dirty="0">
                <a:latin typeface="Arial" panose="020B0604020202020204" pitchFamily="34" charset="0"/>
                <a:cs typeface="Arial" panose="020B0604020202020204" pitchFamily="34" charset="0"/>
              </a:rPr>
              <a:t>Build subset </a:t>
            </a:r>
            <a:r>
              <a:rPr lang="en-US" sz="2400" i="1" dirty="0">
                <a:latin typeface="Arial" panose="020B0604020202020204" pitchFamily="34" charset="0"/>
                <a:cs typeface="Arial" panose="020B0604020202020204" pitchFamily="34" charset="0"/>
              </a:rPr>
              <a:t>S</a:t>
            </a:r>
            <a:r>
              <a:rPr lang="en-US" sz="2400" i="1" baseline="-25000" dirty="0">
                <a:latin typeface="Arial" panose="020B0604020202020204" pitchFamily="34" charset="0"/>
                <a:cs typeface="Arial" panose="020B0604020202020204" pitchFamily="34" charset="0"/>
              </a:rPr>
              <a:t>i</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by sampling with replacement from</a:t>
            </a:r>
            <a:r>
              <a:rPr lang="en-US" sz="2400" i="1" dirty="0">
                <a:latin typeface="Arial" panose="020B0604020202020204" pitchFamily="34" charset="0"/>
                <a:cs typeface="Arial" panose="020B0604020202020204" pitchFamily="34" charset="0"/>
              </a:rPr>
              <a:t> S</a:t>
            </a:r>
          </a:p>
          <a:p>
            <a:pPr marL="914400" lvl="1" indent="-457200">
              <a:lnSpc>
                <a:spcPct val="120000"/>
              </a:lnSpc>
              <a:spcBef>
                <a:spcPts val="600"/>
              </a:spcBef>
              <a:buFont typeface="+mj-lt"/>
              <a:buAutoNum type="arabicPeriod"/>
              <a:defRPr/>
            </a:pPr>
            <a:r>
              <a:rPr lang="en-US" sz="2400" dirty="0">
                <a:latin typeface="Arial" panose="020B0604020202020204" pitchFamily="34" charset="0"/>
                <a:cs typeface="Arial" panose="020B0604020202020204" pitchFamily="34" charset="0"/>
              </a:rPr>
              <a:t>Learn tree T</a:t>
            </a:r>
            <a:r>
              <a:rPr lang="en-US" sz="2400" baseline="-25000" dirty="0">
                <a:latin typeface="Arial" panose="020B0604020202020204" pitchFamily="34" charset="0"/>
                <a:cs typeface="Arial" panose="020B0604020202020204" pitchFamily="34" charset="0"/>
              </a:rPr>
              <a:t>i </a:t>
            </a:r>
            <a:r>
              <a:rPr lang="en-US" sz="2400" dirty="0">
                <a:latin typeface="Arial" panose="020B0604020202020204" pitchFamily="34" charset="0"/>
                <a:cs typeface="Arial" panose="020B0604020202020204" pitchFamily="34" charset="0"/>
              </a:rPr>
              <a:t>from S</a:t>
            </a:r>
            <a:r>
              <a:rPr lang="en-US" sz="2400" baseline="-25000" dirty="0">
                <a:latin typeface="Arial" panose="020B0604020202020204" pitchFamily="34" charset="0"/>
                <a:cs typeface="Arial" panose="020B0604020202020204" pitchFamily="34" charset="0"/>
              </a:rPr>
              <a:t>i</a:t>
            </a:r>
            <a:endParaRPr lang="en-US" sz="2400" dirty="0">
              <a:latin typeface="Arial" panose="020B0604020202020204" pitchFamily="34" charset="0"/>
              <a:cs typeface="Arial" panose="020B0604020202020204" pitchFamily="34" charset="0"/>
            </a:endParaRPr>
          </a:p>
          <a:p>
            <a:pPr marL="1371600" lvl="2" indent="-457200">
              <a:lnSpc>
                <a:spcPct val="120000"/>
              </a:lnSpc>
              <a:spcBef>
                <a:spcPts val="600"/>
              </a:spcBef>
              <a:buFont typeface="+mj-lt"/>
              <a:buAutoNum type="arabicPeriod"/>
              <a:defRPr/>
            </a:pPr>
            <a:r>
              <a:rPr lang="en-US" sz="2400" dirty="0">
                <a:latin typeface="Arial" panose="020B0604020202020204" pitchFamily="34" charset="0"/>
                <a:cs typeface="Arial" panose="020B0604020202020204" pitchFamily="34" charset="0"/>
              </a:rPr>
              <a:t>At each node:</a:t>
            </a:r>
          </a:p>
          <a:p>
            <a:pPr marL="1828800" lvl="3" indent="-457200">
              <a:lnSpc>
                <a:spcPct val="120000"/>
              </a:lnSpc>
              <a:spcBef>
                <a:spcPts val="600"/>
              </a:spcBef>
              <a:buFont typeface="Arial" pitchFamily="34" charset="0"/>
              <a:buChar char="•"/>
              <a:defRPr/>
            </a:pPr>
            <a:r>
              <a:rPr lang="en-US" sz="2400" dirty="0">
                <a:latin typeface="Arial" panose="020B0604020202020204" pitchFamily="34" charset="0"/>
                <a:cs typeface="Arial" panose="020B0604020202020204" pitchFamily="34" charset="0"/>
              </a:rPr>
              <a:t>Choose best split from random subset of </a:t>
            </a:r>
            <a:r>
              <a:rPr lang="en-US" sz="2400" i="1" dirty="0">
                <a:latin typeface="Arial" panose="020B0604020202020204" pitchFamily="34" charset="0"/>
                <a:cs typeface="Arial" panose="020B0604020202020204" pitchFamily="34" charset="0"/>
              </a:rPr>
              <a:t>F</a:t>
            </a:r>
            <a:r>
              <a:rPr lang="en-US" sz="2400" dirty="0">
                <a:latin typeface="Arial" panose="020B0604020202020204" pitchFamily="34" charset="0"/>
                <a:cs typeface="Arial" panose="020B0604020202020204" pitchFamily="34" charset="0"/>
              </a:rPr>
              <a:t> feature</a:t>
            </a:r>
          </a:p>
          <a:p>
            <a:pPr marL="1371600" lvl="2" indent="-457200">
              <a:lnSpc>
                <a:spcPct val="120000"/>
              </a:lnSpc>
              <a:spcBef>
                <a:spcPts val="600"/>
              </a:spcBef>
              <a:buFont typeface="+mj-lt"/>
              <a:buAutoNum type="arabicPeriod"/>
              <a:defRPr/>
            </a:pPr>
            <a:r>
              <a:rPr lang="en-US" sz="2400" dirty="0">
                <a:latin typeface="Arial" panose="020B0604020202020204" pitchFamily="34" charset="0"/>
                <a:cs typeface="Arial" panose="020B0604020202020204" pitchFamily="34" charset="0"/>
              </a:rPr>
              <a:t>Each tree grows to the largest extend, and no pruning</a:t>
            </a:r>
          </a:p>
          <a:p>
            <a:pPr marL="457200" indent="-457200">
              <a:lnSpc>
                <a:spcPct val="120000"/>
              </a:lnSpc>
              <a:spcBef>
                <a:spcPts val="600"/>
              </a:spcBef>
              <a:buFont typeface="+mj-lt"/>
              <a:buAutoNum type="arabicPeriod"/>
              <a:defRPr/>
            </a:pPr>
            <a:r>
              <a:rPr lang="en-US" sz="2400" dirty="0">
                <a:latin typeface="Arial" panose="020B0604020202020204" pitchFamily="34" charset="0"/>
                <a:cs typeface="Arial" panose="020B0604020202020204" pitchFamily="34" charset="0"/>
              </a:rPr>
              <a:t>Make predictions according to majority vote of the set of </a:t>
            </a:r>
            <a:r>
              <a:rPr lang="en-US" sz="2400" i="1" dirty="0">
                <a:latin typeface="Arial" panose="020B0604020202020204" pitchFamily="34" charset="0"/>
                <a:cs typeface="Arial" panose="020B0604020202020204" pitchFamily="34" charset="0"/>
              </a:rPr>
              <a:t>k </a:t>
            </a:r>
            <a:r>
              <a:rPr lang="en-US" sz="2400" dirty="0">
                <a:latin typeface="Arial" panose="020B0604020202020204" pitchFamily="34" charset="0"/>
                <a:cs typeface="Arial" panose="020B0604020202020204" pitchFamily="34" charset="0"/>
              </a:rPr>
              <a:t>trees.</a:t>
            </a:r>
          </a:p>
        </p:txBody>
      </p:sp>
    </p:spTree>
    <p:extLst>
      <p:ext uri="{BB962C8B-B14F-4D97-AF65-F5344CB8AC3E}">
        <p14:creationId xmlns:p14="http://schemas.microsoft.com/office/powerpoint/2010/main" val="3188456052"/>
      </p:ext>
    </p:ext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altLang="en-US" b="1" dirty="0"/>
              <a:t>Features of Random Forests</a:t>
            </a:r>
          </a:p>
        </p:txBody>
      </p:sp>
      <p:sp>
        <p:nvSpPr>
          <p:cNvPr id="92163" name="Rectangle 3"/>
          <p:cNvSpPr txBox="1">
            <a:spLocks noChangeArrowheads="1"/>
          </p:cNvSpPr>
          <p:nvPr/>
        </p:nvSpPr>
        <p:spPr bwMode="auto">
          <a:xfrm>
            <a:off x="838200" y="1690688"/>
            <a:ext cx="10515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2575" indent="-282575">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nSpc>
                <a:spcPct val="120000"/>
              </a:lnSpc>
              <a:spcBef>
                <a:spcPts val="600"/>
              </a:spcBef>
              <a:buFont typeface="Arial" panose="020B0604020202020204" pitchFamily="34" charset="0"/>
              <a:buChar char="•"/>
            </a:pPr>
            <a:r>
              <a:rPr lang="en-US" altLang="en-US" sz="2400" b="0" dirty="0"/>
              <a:t>It is unexcelled in accuracy among current algorithms. </a:t>
            </a:r>
          </a:p>
          <a:p>
            <a:pPr>
              <a:lnSpc>
                <a:spcPct val="120000"/>
              </a:lnSpc>
              <a:spcBef>
                <a:spcPts val="600"/>
              </a:spcBef>
              <a:buFont typeface="Arial" panose="020B0604020202020204" pitchFamily="34" charset="0"/>
              <a:buChar char="•"/>
            </a:pPr>
            <a:r>
              <a:rPr lang="en-US" altLang="en-US" sz="2400" b="0" dirty="0"/>
              <a:t>It runs efficiently on large data sets. </a:t>
            </a:r>
          </a:p>
          <a:p>
            <a:pPr>
              <a:lnSpc>
                <a:spcPct val="120000"/>
              </a:lnSpc>
              <a:spcBef>
                <a:spcPts val="600"/>
              </a:spcBef>
              <a:buFont typeface="Arial" panose="020B0604020202020204" pitchFamily="34" charset="0"/>
              <a:buChar char="•"/>
            </a:pPr>
            <a:r>
              <a:rPr lang="en-US" altLang="en-US" sz="2400" b="0" dirty="0"/>
              <a:t>It can handle thousands features.</a:t>
            </a:r>
          </a:p>
          <a:p>
            <a:pPr>
              <a:lnSpc>
                <a:spcPct val="120000"/>
              </a:lnSpc>
              <a:spcBef>
                <a:spcPts val="600"/>
              </a:spcBef>
              <a:buFont typeface="Arial" panose="020B0604020202020204" pitchFamily="34" charset="0"/>
              <a:buChar char="•"/>
            </a:pPr>
            <a:r>
              <a:rPr lang="en-US" altLang="en-US" sz="2400" b="0" dirty="0"/>
              <a:t>It gives estimates of feature importance in the classification. </a:t>
            </a:r>
          </a:p>
          <a:p>
            <a:pPr>
              <a:lnSpc>
                <a:spcPct val="120000"/>
              </a:lnSpc>
              <a:spcBef>
                <a:spcPts val="600"/>
              </a:spcBef>
              <a:buFont typeface="Arial" panose="020B0604020202020204" pitchFamily="34" charset="0"/>
              <a:buChar char="•"/>
            </a:pPr>
            <a:r>
              <a:rPr lang="en-US" altLang="en-US" sz="2400" b="0" dirty="0"/>
              <a:t>It generates an internal unbiased estimate of the generalization error as the forest building progresses. </a:t>
            </a:r>
          </a:p>
          <a:p>
            <a:pPr>
              <a:lnSpc>
                <a:spcPct val="120000"/>
              </a:lnSpc>
              <a:spcBef>
                <a:spcPts val="600"/>
              </a:spcBef>
              <a:buFont typeface="Arial" panose="020B0604020202020204" pitchFamily="34" charset="0"/>
              <a:buChar char="•"/>
            </a:pPr>
            <a:r>
              <a:rPr lang="en-US" altLang="en-US" sz="2400" b="0" dirty="0"/>
              <a:t>It has an effective method for estimating missing data and maintains accuracy when a large proportion of the data are missing. </a:t>
            </a:r>
          </a:p>
          <a:p>
            <a:pPr>
              <a:lnSpc>
                <a:spcPct val="120000"/>
              </a:lnSpc>
              <a:spcBef>
                <a:spcPts val="600"/>
              </a:spcBef>
              <a:buFont typeface="Arial" panose="020B0604020202020204" pitchFamily="34" charset="0"/>
              <a:buChar char="•"/>
            </a:pPr>
            <a:r>
              <a:rPr lang="en-US" altLang="en-US" sz="2400" b="0" dirty="0"/>
              <a:t>It has methods for balancing error in class population unbalanced data sets</a:t>
            </a:r>
          </a:p>
        </p:txBody>
      </p:sp>
    </p:spTree>
    <p:extLst>
      <p:ext uri="{BB962C8B-B14F-4D97-AF65-F5344CB8AC3E}">
        <p14:creationId xmlns:p14="http://schemas.microsoft.com/office/powerpoint/2010/main" val="2208816141"/>
      </p:ext>
    </p:ext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altLang="en-US" b="1" dirty="0"/>
              <a:t>Features of Random Forests</a:t>
            </a:r>
          </a:p>
        </p:txBody>
      </p:sp>
      <p:sp>
        <p:nvSpPr>
          <p:cNvPr id="93187" name="Rectangle 3"/>
          <p:cNvSpPr txBox="1">
            <a:spLocks noChangeArrowheads="1"/>
          </p:cNvSpPr>
          <p:nvPr/>
        </p:nvSpPr>
        <p:spPr bwMode="auto">
          <a:xfrm>
            <a:off x="838200" y="1690688"/>
            <a:ext cx="10515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2575" indent="-282575">
              <a:defRPr sz="1600" b="1">
                <a:solidFill>
                  <a:srgbClr val="000000"/>
                </a:solidFill>
                <a:latin typeface="Arial" panose="020B0604020202020204" pitchFamily="34" charset="0"/>
              </a:defRPr>
            </a:lvl1pPr>
            <a:lvl2pPr marL="742950" indent="-285750">
              <a:defRPr sz="1600" b="1">
                <a:solidFill>
                  <a:srgbClr val="000000"/>
                </a:solidFill>
                <a:latin typeface="Arial" panose="020B0604020202020204" pitchFamily="34" charset="0"/>
              </a:defRPr>
            </a:lvl2pPr>
            <a:lvl3pPr marL="1143000" indent="-228600">
              <a:defRPr sz="1600" b="1">
                <a:solidFill>
                  <a:srgbClr val="000000"/>
                </a:solidFill>
                <a:latin typeface="Arial" panose="020B0604020202020204" pitchFamily="34" charset="0"/>
              </a:defRPr>
            </a:lvl3pPr>
            <a:lvl4pPr marL="1600200" indent="-228600">
              <a:defRPr sz="1600" b="1">
                <a:solidFill>
                  <a:srgbClr val="000000"/>
                </a:solidFill>
                <a:latin typeface="Arial" panose="020B0604020202020204" pitchFamily="34" charset="0"/>
              </a:defRPr>
            </a:lvl4pPr>
            <a:lvl5pPr marL="2057400" indent="-228600">
              <a:defRPr sz="1600" b="1">
                <a:solidFill>
                  <a:srgbClr val="000000"/>
                </a:solidFill>
                <a:latin typeface="Arial" panose="020B0604020202020204" pitchFamily="34" charset="0"/>
              </a:defRPr>
            </a:lvl5pPr>
            <a:lvl6pPr marL="2514600" indent="-228600" eaLnBrk="0" fontAlgn="base" hangingPunct="0">
              <a:spcBef>
                <a:spcPct val="0"/>
              </a:spcBef>
              <a:spcAft>
                <a:spcPct val="0"/>
              </a:spcAft>
              <a:defRPr sz="1600" b="1">
                <a:solidFill>
                  <a:srgbClr val="000000"/>
                </a:solidFill>
                <a:latin typeface="Arial" panose="020B0604020202020204" pitchFamily="34" charset="0"/>
              </a:defRPr>
            </a:lvl6pPr>
            <a:lvl7pPr marL="2971800" indent="-228600" eaLnBrk="0" fontAlgn="base" hangingPunct="0">
              <a:spcBef>
                <a:spcPct val="0"/>
              </a:spcBef>
              <a:spcAft>
                <a:spcPct val="0"/>
              </a:spcAft>
              <a:defRPr sz="1600" b="1">
                <a:solidFill>
                  <a:srgbClr val="000000"/>
                </a:solidFill>
                <a:latin typeface="Arial" panose="020B0604020202020204" pitchFamily="34" charset="0"/>
              </a:defRPr>
            </a:lvl7pPr>
            <a:lvl8pPr marL="3429000" indent="-228600" eaLnBrk="0" fontAlgn="base" hangingPunct="0">
              <a:spcBef>
                <a:spcPct val="0"/>
              </a:spcBef>
              <a:spcAft>
                <a:spcPct val="0"/>
              </a:spcAft>
              <a:defRPr sz="1600" b="1">
                <a:solidFill>
                  <a:srgbClr val="000000"/>
                </a:solidFill>
                <a:latin typeface="Arial" panose="020B0604020202020204" pitchFamily="34" charset="0"/>
              </a:defRPr>
            </a:lvl8pPr>
            <a:lvl9pPr marL="3886200" indent="-228600" eaLnBrk="0" fontAlgn="base" hangingPunct="0">
              <a:spcBef>
                <a:spcPct val="0"/>
              </a:spcBef>
              <a:spcAft>
                <a:spcPct val="0"/>
              </a:spcAft>
              <a:defRPr sz="1600" b="1">
                <a:solidFill>
                  <a:srgbClr val="000000"/>
                </a:solidFill>
                <a:latin typeface="Arial" panose="020B0604020202020204" pitchFamily="34" charset="0"/>
              </a:defRPr>
            </a:lvl9pPr>
          </a:lstStyle>
          <a:p>
            <a:pPr>
              <a:lnSpc>
                <a:spcPct val="120000"/>
              </a:lnSpc>
              <a:spcBef>
                <a:spcPts val="600"/>
              </a:spcBef>
              <a:buFont typeface="Arial" panose="020B0604020202020204" pitchFamily="34" charset="0"/>
              <a:buChar char="•"/>
            </a:pPr>
            <a:r>
              <a:rPr lang="en-US" altLang="en-US" sz="2300" b="0" dirty="0"/>
              <a:t>Generated forests can be saved for future use on other data. </a:t>
            </a:r>
          </a:p>
          <a:p>
            <a:pPr>
              <a:lnSpc>
                <a:spcPct val="120000"/>
              </a:lnSpc>
              <a:spcBef>
                <a:spcPts val="600"/>
              </a:spcBef>
              <a:buFont typeface="Arial" panose="020B0604020202020204" pitchFamily="34" charset="0"/>
              <a:buChar char="•"/>
            </a:pPr>
            <a:r>
              <a:rPr lang="en-US" altLang="en-US" sz="2300" b="0" dirty="0"/>
              <a:t>Prototypes are computed that give information about the relation between the features and the classification. </a:t>
            </a:r>
          </a:p>
          <a:p>
            <a:pPr>
              <a:lnSpc>
                <a:spcPct val="120000"/>
              </a:lnSpc>
              <a:spcBef>
                <a:spcPts val="600"/>
              </a:spcBef>
              <a:buFont typeface="Arial" panose="020B0604020202020204" pitchFamily="34" charset="0"/>
              <a:buChar char="•"/>
            </a:pPr>
            <a:r>
              <a:rPr lang="en-US" altLang="en-US" sz="2300" b="0" dirty="0"/>
              <a:t>It computes proximities between pairs of cases that can be used in clustering, locating outliers, or (by scaling) give interesting views of the data. </a:t>
            </a:r>
          </a:p>
          <a:p>
            <a:pPr>
              <a:lnSpc>
                <a:spcPct val="120000"/>
              </a:lnSpc>
              <a:spcBef>
                <a:spcPts val="600"/>
              </a:spcBef>
              <a:buFont typeface="Arial" panose="020B0604020202020204" pitchFamily="34" charset="0"/>
              <a:buChar char="•"/>
            </a:pPr>
            <a:r>
              <a:rPr lang="en-US" altLang="en-US" sz="2300" b="0" dirty="0"/>
              <a:t>The capabilities of the above can be extended to unlabeled data, leading to unsupervised clustering, data views and outlier detection. </a:t>
            </a:r>
          </a:p>
          <a:p>
            <a:pPr>
              <a:lnSpc>
                <a:spcPct val="120000"/>
              </a:lnSpc>
              <a:spcBef>
                <a:spcPts val="600"/>
              </a:spcBef>
              <a:buFont typeface="Arial" panose="020B0604020202020204" pitchFamily="34" charset="0"/>
              <a:buChar char="•"/>
            </a:pPr>
            <a:r>
              <a:rPr lang="en-US" altLang="en-US" sz="2300" b="0" dirty="0"/>
              <a:t>It offers an experimental method for detecting feature interactions.</a:t>
            </a:r>
          </a:p>
          <a:p>
            <a:pPr>
              <a:buFont typeface="Arial" panose="020B0604020202020204" pitchFamily="34" charset="0"/>
              <a:buChar char="•"/>
            </a:pPr>
            <a:endParaRPr lang="en-US" altLang="en-US" sz="2300" b="0" dirty="0"/>
          </a:p>
        </p:txBody>
      </p:sp>
    </p:spTree>
    <p:extLst>
      <p:ext uri="{BB962C8B-B14F-4D97-AF65-F5344CB8AC3E}">
        <p14:creationId xmlns:p14="http://schemas.microsoft.com/office/powerpoint/2010/main" val="2983467908"/>
      </p:ext>
    </p:extLst>
  </p:cSld>
  <p:clrMapOvr>
    <a:masterClrMapping/>
  </p:clrMapOvr>
  <p:transition spd="med"/>
</p:sld>
</file>

<file path=ppt/theme/theme1.xml><?xml version="1.0" encoding="utf-8"?>
<a:theme xmlns:a="http://schemas.openxmlformats.org/drawingml/2006/main" name="Office Theme">
  <a:themeElements>
    <a:clrScheme name="Custom 1">
      <a:dk1>
        <a:srgbClr val="473210"/>
      </a:dk1>
      <a:lt1>
        <a:srgbClr val="EAEBA3"/>
      </a:lt1>
      <a:dk2>
        <a:srgbClr val="4D4311"/>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884</TotalTime>
  <Words>8244</Words>
  <Application>Microsoft Macintosh PowerPoint</Application>
  <PresentationFormat>Widescreen</PresentationFormat>
  <Paragraphs>1578</Paragraphs>
  <Slides>102</Slides>
  <Notes>35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102</vt:i4>
      </vt:variant>
    </vt:vector>
  </HeadingPairs>
  <TitlesOfParts>
    <vt:vector size="112" baseType="lpstr">
      <vt:lpstr>PMingLiU</vt:lpstr>
      <vt:lpstr>Aptos</vt:lpstr>
      <vt:lpstr>Arial</vt:lpstr>
      <vt:lpstr>Calibri</vt:lpstr>
      <vt:lpstr>Cambria Math</vt:lpstr>
      <vt:lpstr>Times New Roman</vt:lpstr>
      <vt:lpstr>Wingdings</vt:lpstr>
      <vt:lpstr>Office Theme</vt:lpstr>
      <vt:lpstr>Equation</vt:lpstr>
      <vt:lpstr>Denklem</vt:lpstr>
      <vt:lpstr>IE451  Data Analytics and Optimization</vt:lpstr>
      <vt:lpstr>This week…</vt:lpstr>
      <vt:lpstr>Types of Scales</vt:lpstr>
      <vt:lpstr>Types of Scales</vt:lpstr>
      <vt:lpstr>Simplified KDD Process</vt:lpstr>
      <vt:lpstr>Supervised Learning</vt:lpstr>
      <vt:lpstr>Data: Supervised Learning</vt:lpstr>
      <vt:lpstr>Validation of the Models: Motivation</vt:lpstr>
      <vt:lpstr>Knowledge Discovery in Databases  (KDD)</vt:lpstr>
      <vt:lpstr>Performance of the Methods</vt:lpstr>
      <vt:lpstr>SMART Metrics</vt:lpstr>
      <vt:lpstr>SMART Metrics</vt:lpstr>
      <vt:lpstr>Background Information on Classifiers</vt:lpstr>
      <vt:lpstr>Background Information on Classifiers</vt:lpstr>
      <vt:lpstr>Background Information on Classifiers</vt:lpstr>
      <vt:lpstr>Background Information on Classifiers</vt:lpstr>
      <vt:lpstr>Background Information on Classifiers</vt:lpstr>
      <vt:lpstr>Confusion Matrix – Binary Classifier</vt:lpstr>
      <vt:lpstr>Accuracy Might Not Be Enough…</vt:lpstr>
      <vt:lpstr>Accuracy Might Not Be Enough…</vt:lpstr>
      <vt:lpstr>Accuracy Might Not Be Enough…</vt:lpstr>
      <vt:lpstr>Accuracy Might Not Be Enough…</vt:lpstr>
      <vt:lpstr>Accuracy Might Not Be Enough…</vt:lpstr>
      <vt:lpstr>Accuracy Might Not Be Enough…</vt:lpstr>
      <vt:lpstr>Accuracy Might Not Be Enough…</vt:lpstr>
      <vt:lpstr>Shortcomings of Accuracy</vt:lpstr>
      <vt:lpstr>Misclassification Costs</vt:lpstr>
      <vt:lpstr>Misclassification Costs (2)</vt:lpstr>
      <vt:lpstr>Metrics for Binary Classifier’s Evaluation</vt:lpstr>
      <vt:lpstr>Metrics for Binary Classifier’s Evaluation</vt:lpstr>
      <vt:lpstr>Metrics for Binary Classifier’s Evaluation</vt:lpstr>
      <vt:lpstr>Metrics for Binary Classifier’s Evaluation</vt:lpstr>
      <vt:lpstr>Area Under “Curve”</vt:lpstr>
      <vt:lpstr>A Sample Area Under “Curve”</vt:lpstr>
      <vt:lpstr>Area Under “Curve”</vt:lpstr>
      <vt:lpstr>Macro vs. Micro Averaging for Multiclass </vt:lpstr>
      <vt:lpstr>Metrics for Multi-Class Classifier’s Evaluation</vt:lpstr>
      <vt:lpstr>Metrics for Multi-Label Classifier’s Evaluation</vt:lpstr>
      <vt:lpstr>Metrics for Hierarchical Classifier’s Evaluation</vt:lpstr>
      <vt:lpstr>How to Estimate the Metrics?</vt:lpstr>
      <vt:lpstr>Estimation with Training Data </vt:lpstr>
      <vt:lpstr>Overfitting</vt:lpstr>
      <vt:lpstr>Overfitting</vt:lpstr>
      <vt:lpstr>Estimation with Independent Test Data </vt:lpstr>
      <vt:lpstr>Hold-out Method </vt:lpstr>
      <vt:lpstr>Train, Validation, Test Split </vt:lpstr>
      <vt:lpstr>Making the Most of the Data</vt:lpstr>
      <vt:lpstr>Stratification</vt:lpstr>
      <vt:lpstr>Stratification</vt:lpstr>
      <vt:lpstr>Repeated Holdout Method</vt:lpstr>
      <vt:lpstr>Repeated Holdout Method (2)</vt:lpstr>
      <vt:lpstr>k-Fold Cross-Validation</vt:lpstr>
      <vt:lpstr>More on Cross-Validation</vt:lpstr>
      <vt:lpstr>Leave-One-Out Cross-Validation</vt:lpstr>
      <vt:lpstr>Leave-One-Out Cross-Validation and Stratification</vt:lpstr>
      <vt:lpstr>Bootstrap Method</vt:lpstr>
      <vt:lpstr>Bootstrap Method</vt:lpstr>
      <vt:lpstr>Metric Evaluation Summary:</vt:lpstr>
      <vt:lpstr>Classification</vt:lpstr>
      <vt:lpstr>The Disease Problem</vt:lpstr>
      <vt:lpstr>The Disease Problem</vt:lpstr>
      <vt:lpstr>The Disease Problem</vt:lpstr>
      <vt:lpstr>Creating Value From Data</vt:lpstr>
      <vt:lpstr>The Disease Problem</vt:lpstr>
      <vt:lpstr>Rudimentary Rules – 0R</vt:lpstr>
      <vt:lpstr>0-Rule (0R)</vt:lpstr>
      <vt:lpstr>1R: Algorithm</vt:lpstr>
      <vt:lpstr>The Disease Problem</vt:lpstr>
      <vt:lpstr>1R: Which Feature to Use?</vt:lpstr>
      <vt:lpstr>1R: Which Feature to Use?</vt:lpstr>
      <vt:lpstr>1R: Which Feature to Use?</vt:lpstr>
      <vt:lpstr>1R: Which Feature to Use?</vt:lpstr>
      <vt:lpstr>1R: Summary of the Analysis </vt:lpstr>
      <vt:lpstr>0R vs. 1R : Value of Information</vt:lpstr>
      <vt:lpstr>An Alternative Metric - Entropy</vt:lpstr>
      <vt:lpstr>An Alternative Metric - Entropy</vt:lpstr>
      <vt:lpstr>Impurity/Diversity</vt:lpstr>
      <vt:lpstr>Impurity/Diversity</vt:lpstr>
      <vt:lpstr>Measuring Impurity/Diversity</vt:lpstr>
      <vt:lpstr>Expected Information Gain</vt:lpstr>
      <vt:lpstr>An Alternative Metric - Entropy</vt:lpstr>
      <vt:lpstr>An Alternative Metric - Entropy</vt:lpstr>
      <vt:lpstr>An Alternative Metric - Entropy</vt:lpstr>
      <vt:lpstr>An Alternative Metric - Entropy</vt:lpstr>
      <vt:lpstr>Decision Trees</vt:lpstr>
      <vt:lpstr>Decision Trees</vt:lpstr>
      <vt:lpstr>The Disease Problem</vt:lpstr>
      <vt:lpstr>Recall – Select Age For First Branching</vt:lpstr>
      <vt:lpstr>Next? – Second Level?</vt:lpstr>
      <vt:lpstr>Next Level: After Young, BMI (?)</vt:lpstr>
      <vt:lpstr>Next Level: After Young, BMI (?)</vt:lpstr>
      <vt:lpstr>Entropy After Split From BMI</vt:lpstr>
      <vt:lpstr>Next Level: After Young, Gender (?)</vt:lpstr>
      <vt:lpstr>Calculating the Gain</vt:lpstr>
      <vt:lpstr>Final Tree</vt:lpstr>
      <vt:lpstr>Final Tree – How to Classify?</vt:lpstr>
      <vt:lpstr>Final Tree – How to Classify?</vt:lpstr>
      <vt:lpstr>History of C4.5 (i.e. J48)</vt:lpstr>
      <vt:lpstr>Randomization: Random Forest</vt:lpstr>
      <vt:lpstr>Randomization: Random Forest</vt:lpstr>
      <vt:lpstr>Features of Random Forests</vt:lpstr>
      <vt:lpstr>Features of Random Forests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Erhun Kundakcıoğlu</dc:creator>
  <cp:lastModifiedBy>Erhun Kundakcıoğlu</cp:lastModifiedBy>
  <cp:revision>27</cp:revision>
  <dcterms:created xsi:type="dcterms:W3CDTF">2026-02-15T13:11:34Z</dcterms:created>
  <dcterms:modified xsi:type="dcterms:W3CDTF">2026-02-22T20:55:39Z</dcterms:modified>
</cp:coreProperties>
</file>